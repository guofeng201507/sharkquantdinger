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4"/>
    <p:sldId id="259" r:id="rId5"/>
    <p:sldId id="260" r:id="rId6"/>
    <p:sldId id="262" r:id="rId8"/>
    <p:sldId id="263" r:id="rId9"/>
    <p:sldId id="264" r:id="rId10"/>
    <p:sldId id="265" r:id="rId11"/>
    <p:sldId id="266" r:id="rId12"/>
    <p:sldId id="267" r:id="rId13"/>
    <p:sldId id="269" r:id="rId15"/>
    <p:sldId id="271" r:id="rId17"/>
    <p:sldId id="272" r:id="rId18"/>
    <p:sldId id="274" r:id="rId20"/>
    <p:sldId id="275" r:id="rId21"/>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5"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rged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1C699793-3FA1-4845-BD60-5DA873961D24}"/>
              </a:ext>
            </a:extLst>
          </p:cNvPr>
          <p:cNvSpPr/>
          <p:nvPr/>
        </p:nvSpPr>
        <p:spPr>
          <a:xfrm>
            <a:off x="914400" y="2171700"/>
            <a:ext cx="838200" cy="38100"/>
          </a:xfrm>
          <a:prstGeom prst="rect">
            <a:avLst/>
          </a:prstGeom>
          <a:solidFill>
            <a:srgbClr val="63E2B7"/>
          </a:solidFill>
        </p:spPr>
        <p:txBody>
          <a:bodyPr wrap="square" rtlCol="0"/>
          <a:lstStyle/>
          <a:p>
            <a:r>
              <a:rPr/>
              <a:t/>
            </a:r>
          </a:p>
        </p:txBody>
      </p:sp>
      <p:sp>
        <p:nvSpPr>
          <p:cNvPr id="4" name="TextBox 4">
            <a:extLst>
              <a:ext uri="{FF2B5EF4-FFF2-40B4-BE49-F238E27FC236}">
                <a16:creationId xmlns:a16="http://schemas.microsoft.com/office/drawing/2014/main" id="{565AFE7E-9FCC-4209-99E0-358FC28E5A91}"/>
              </a:ext>
            </a:extLst>
          </p:cNvPr>
          <p:cNvSpPr txBox="1"/>
          <p:nvPr/>
        </p:nvSpPr>
        <p:spPr>
          <a:xfrm>
            <a:off x="914400" y="2400300"/>
            <a:ext cx="5905500" cy="972312"/>
          </a:xfrm>
        </p:spPr>
        <p:txBody>
          <a:bodyPr wrap="square" rtlCol="0" lIns="0" tIns="0" rIns="0" bIns="0" anchor="t"/>
          <a:lstStyle/>
          <a:p>
            <a:pPr algn="l">
              <a:lnSpc>
                <a:spcPct val="110000"/>
              </a:lnSpc>
            </a:pPr>
            <a:r>
              <a:rPr sz="5800" b="1">
                <a:solidFill>
                  <a:srgbClr val="FFFFFF"/>
                </a:solidFill>
                <a:latin typeface="Arial"/>
                <a:ea typeface="Arial"/>
              </a:rPr>
              <a:t>SharkQuant</a:t>
            </a:r>
          </a:p>
        </p:txBody>
      </p:sp>
      <p:sp>
        <p:nvSpPr>
          <p:cNvPr id="5" name="TextBox 5">
            <a:extLst>
              <a:ext uri="{FF2B5EF4-FFF2-40B4-BE49-F238E27FC236}">
                <a16:creationId xmlns:a16="http://schemas.microsoft.com/office/drawing/2014/main" id="{9DBB46A5-D1EA-4677-90EC-B0676F48510B}"/>
              </a:ext>
            </a:extLst>
          </p:cNvPr>
          <p:cNvSpPr txBox="1"/>
          <p:nvPr/>
        </p:nvSpPr>
        <p:spPr>
          <a:xfrm>
            <a:off x="914400" y="3505200"/>
            <a:ext cx="6096000" cy="419100"/>
          </a:xfrm>
        </p:spPr>
        <p:txBody>
          <a:bodyPr wrap="square" rtlCol="0" lIns="0" tIns="0" rIns="0" bIns="0" anchor="t"/>
          <a:lstStyle/>
          <a:p>
            <a:pPr algn="l">
              <a:lnSpc>
                <a:spcPct val="110000"/>
              </a:lnSpc>
            </a:pPr>
            <a:r>
              <a:rPr sz="2200" b="1">
                <a:solidFill>
                  <a:srgbClr val="63E2B7"/>
                </a:solidFill>
                <a:latin typeface="Arial"/>
                <a:ea typeface="Arial"/>
              </a:rPr>
              <a:t>AI-Native Quantitative Trading Platform</a:t>
            </a:r>
          </a:p>
        </p:txBody>
      </p:sp>
      <p:sp>
        <p:nvSpPr>
          <p:cNvPr id="6" name="TextBox 6">
            <a:extLst>
              <a:ext uri="{FF2B5EF4-FFF2-40B4-BE49-F238E27FC236}">
                <a16:creationId xmlns:a16="http://schemas.microsoft.com/office/drawing/2014/main" id="{ECA6AE0F-416F-480D-860F-BDF4A87B3DBD}"/>
              </a:ext>
            </a:extLst>
          </p:cNvPr>
          <p:cNvSpPr txBox="1"/>
          <p:nvPr/>
        </p:nvSpPr>
        <p:spPr>
          <a:xfrm>
            <a:off x="914400" y="4133850"/>
            <a:ext cx="6096000" cy="723900"/>
          </a:xfrm>
        </p:spPr>
        <p:txBody>
          <a:bodyPr wrap="square" rtlCol="0" lIns="0" tIns="0" rIns="0" bIns="0" anchor="t"/>
          <a:lstStyle/>
          <a:p>
            <a:pPr algn="l">
              <a:lnSpc>
                <a:spcPct val="130000"/>
              </a:lnSpc>
            </a:pPr>
            <a:r>
              <a:rPr sz="1500">
                <a:solidFill>
                  <a:srgbClr val="9AA1AB"/>
                </a:solidFill>
                <a:latin typeface="Arial"/>
                <a:ea typeface="Arial"/>
              </a:rPr>
              <a:t>One person = a quant team</a:t>
            </a:r>
            <a:br/>
            <a:r>
              <a:rPr sz="1500">
                <a:solidFill>
                  <a:srgbClr val="9AA1AB"/>
                </a:solidFill>
                <a:latin typeface="Arial"/>
                <a:ea typeface="Arial"/>
              </a:rPr>
              <a:t>Markets · AI research · Strategy · Backtest · Automation</a:t>
            </a:r>
          </a:p>
        </p:txBody>
      </p:sp>
      <p:sp>
        <p:nvSpPr>
          <p:cNvPr id="7" name="TextBox 7">
            <a:extLst>
              <a:ext uri="{FF2B5EF4-FFF2-40B4-BE49-F238E27FC236}">
                <a16:creationId xmlns:a16="http://schemas.microsoft.com/office/drawing/2014/main" id="{91F8072F-4BC4-405B-AF17-9FAA55A5A3A9}"/>
              </a:ext>
            </a:extLst>
          </p:cNvPr>
          <p:cNvSpPr txBox="1"/>
          <p:nvPr/>
        </p:nvSpPr>
        <p:spPr>
          <a:xfrm>
            <a:off x="914400" y="5981700"/>
            <a:ext cx="5334000" cy="247650"/>
          </a:xfrm>
        </p:spPr>
        <p:txBody>
          <a:bodyPr wrap="square" rtlCol="0" lIns="0" tIns="0" rIns="0" bIns="0" anchor="t"/>
          <a:lstStyle/>
          <a:p>
            <a:pPr algn="l">
              <a:lnSpc>
                <a:spcPct val="110000"/>
              </a:lnSpc>
            </a:pPr>
            <a:r>
              <a:rPr sz="1250">
                <a:solidFill>
                  <a:srgbClr val="6B7280"/>
                </a:solidFill>
                <a:latin typeface="Arial"/>
                <a:ea typeface="Arial"/>
              </a:rPr>
              <a:t>Investor Roadshow · October 2026 · Confidential</a:t>
            </a:r>
          </a:p>
        </p:txBody>
      </p:sp>
      <p:pic>
        <p:nvPicPr>
          <p:cNvPr id="8" name="Picture 8">
            <a:extLst>
              <a:ext uri="{FF2B5EF4-FFF2-40B4-BE49-F238E27FC236}">
                <a16:creationId xmlns:a16="http://schemas.microsoft.com/office/drawing/2014/main" id="{B7C07C57-3CE2-42B8-9DD8-A2DCF22C5AF9}"/>
              </a:ext>
            </a:extLst>
          </p:cNvPr>
          <p:cNvPicPr/>
          <p:nvPr/>
        </p:nvPicPr>
        <p:blipFill>
          <a:blip r:embed="rId2"/>
          <a:srcRect l="23958" r="23958"/>
          <a:stretch>
            <a:fillRect/>
          </a:stretch>
        </p:blipFill>
        <p:spPr>
          <a:xfrm>
            <a:off x="6477000" y="0"/>
            <a:ext cx="5715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23BB381-4BE8-43C3-AB39-FE44ED932A06}"/>
              </a:ext>
            </a:extLst>
          </p:cNvPr>
          <p:cNvSpPr txBox="1"/>
          <p:nvPr/>
        </p:nvSpPr>
        <p:spPr>
          <a:xfrm>
            <a:off x="685800" y="457200"/>
            <a:ext cx="10820400" cy="533400"/>
          </a:xfrm>
        </p:spPr>
        <p:txBody>
          <a:bodyPr wrap="square" rtlCol="0" lIns="0" tIns="0" rIns="0" bIns="0" anchor="t"/>
          <a:lstStyle/>
          <a:p>
            <a:pPr algn="l">
              <a:lnSpc>
                <a:spcPct val="110000"/>
              </a:lnSpc>
            </a:pPr>
            <a:r>
              <a:rPr sz="3200" b="1">
                <a:solidFill>
                  <a:srgbClr val="E8EAED"/>
                </a:solidFill>
                <a:latin typeface="Arial"/>
                <a:ea typeface="Arial"/>
              </a:rPr>
              <a:t>Three Walls Between Retail Traders and Quant Trading</a:t>
            </a:r>
          </a:p>
        </p:txBody>
      </p:sp>
      <p:sp>
        <p:nvSpPr>
          <p:cNvPr id="4" name="TextBox 4">
            <a:extLst>
              <a:ext uri="{FF2B5EF4-FFF2-40B4-BE49-F238E27FC236}">
                <a16:creationId xmlns:a16="http://schemas.microsoft.com/office/drawing/2014/main" id="{E62345D1-FEBA-4569-A8A1-5D70DEA0BC61}"/>
              </a:ext>
            </a:extLst>
          </p:cNvPr>
          <p:cNvSpPr txBox="1"/>
          <p:nvPr/>
        </p:nvSpPr>
        <p:spPr>
          <a:xfrm>
            <a:off x="685800" y="1104900"/>
            <a:ext cx="10820400" cy="266700"/>
          </a:xfrm>
        </p:spPr>
        <p:txBody>
          <a:bodyPr wrap="square" rtlCol="0" lIns="0" tIns="0" rIns="0" bIns="0" anchor="t"/>
          <a:lstStyle/>
          <a:p>
            <a:pPr algn="l">
              <a:lnSpc>
                <a:spcPct val="110000"/>
              </a:lnSpc>
            </a:pPr>
            <a:r>
              <a:rPr sz="1500">
                <a:solidFill>
                  <a:srgbClr val="9AA1AB"/>
                </a:solidFill>
                <a:latin typeface="Arial"/>
                <a:ea typeface="Arial"/>
              </a:rPr>
              <a:t>Fragmented tools, broken chains — most traders can write a strategy but never run one</a:t>
            </a:r>
          </a:p>
        </p:txBody>
      </p:sp>
      <p:sp>
        <p:nvSpPr>
          <p:cNvPr id="5" name="Shape 5">
            <a:extLst>
              <a:ext uri="{FF2B5EF4-FFF2-40B4-BE49-F238E27FC236}">
                <a16:creationId xmlns:a16="http://schemas.microsoft.com/office/drawing/2014/main" id="{6F2F7CFA-1064-4D7A-98B6-41E47ABB5E36}"/>
              </a:ext>
            </a:extLst>
          </p:cNvPr>
          <p:cNvSpPr/>
          <p:nvPr/>
        </p:nvSpPr>
        <p:spPr>
          <a:xfrm>
            <a:off x="685800" y="1714500"/>
            <a:ext cx="3352800" cy="3238500"/>
          </a:xfrm>
          <a:prstGeom prst="roundRect">
            <a:avLst/>
          </a:prstGeom>
          <a:solidFill>
            <a:srgbClr val="14181F"/>
          </a:solidFill>
          <a:ln w="12700">
            <a:solidFill>
              <a:srgbClr val="232A33"/>
            </a:solidFill>
          </a:ln>
        </p:spPr>
        <p:txBody>
          <a:bodyPr wrap="square" rtlCol="0"/>
          <a:lstStyle/>
          <a:p>
            <a:r>
              <a:rPr/>
              <a:t/>
            </a:r>
          </a:p>
        </p:txBody>
      </p:sp>
      <p:sp>
        <p:nvSpPr>
          <p:cNvPr id="6" name="Shape 6">
            <a:extLst>
              <a:ext uri="{FF2B5EF4-FFF2-40B4-BE49-F238E27FC236}">
                <a16:creationId xmlns:a16="http://schemas.microsoft.com/office/drawing/2014/main" id="{67E78FE1-80FF-4814-B9C3-627AA346E8CB}"/>
              </a:ext>
            </a:extLst>
          </p:cNvPr>
          <p:cNvSpPr/>
          <p:nvPr/>
        </p:nvSpPr>
        <p:spPr>
          <a:xfrm>
            <a:off x="4419600" y="1714500"/>
            <a:ext cx="3352800" cy="3238500"/>
          </a:xfrm>
          <a:prstGeom prst="roundRect">
            <a:avLst/>
          </a:prstGeom>
          <a:solidFill>
            <a:srgbClr val="14181F"/>
          </a:solidFill>
          <a:ln w="12700">
            <a:solidFill>
              <a:srgbClr val="232A33"/>
            </a:solidFill>
          </a:ln>
        </p:spPr>
        <p:txBody>
          <a:bodyPr wrap="square" rtlCol="0"/>
          <a:lstStyle/>
          <a:p>
            <a:r>
              <a:rPr/>
              <a:t/>
            </a:r>
          </a:p>
        </p:txBody>
      </p:sp>
      <p:sp>
        <p:nvSpPr>
          <p:cNvPr id="7" name="Shape 7">
            <a:extLst>
              <a:ext uri="{FF2B5EF4-FFF2-40B4-BE49-F238E27FC236}">
                <a16:creationId xmlns:a16="http://schemas.microsoft.com/office/drawing/2014/main" id="{71C3CFAD-E16B-47B9-B784-6D0392465926}"/>
              </a:ext>
            </a:extLst>
          </p:cNvPr>
          <p:cNvSpPr/>
          <p:nvPr/>
        </p:nvSpPr>
        <p:spPr>
          <a:xfrm>
            <a:off x="8153400" y="1714500"/>
            <a:ext cx="3352800" cy="3238500"/>
          </a:xfrm>
          <a:prstGeom prst="roundRect">
            <a:avLst/>
          </a:prstGeom>
          <a:solidFill>
            <a:srgbClr val="14181F"/>
          </a:solidFill>
          <a:ln w="12700">
            <a:solidFill>
              <a:srgbClr val="232A33"/>
            </a:solidFill>
          </a:ln>
        </p:spPr>
        <p:txBody>
          <a:bodyPr wrap="square" rtlCol="0"/>
          <a:lstStyle/>
          <a:p>
            <a:r>
              <a:rPr/>
              <a:t/>
            </a:r>
          </a:p>
        </p:txBody>
      </p:sp>
      <p:sp>
        <p:nvSpPr>
          <p:cNvPr id="8" name="TextBox 8">
            <a:extLst>
              <a:ext uri="{FF2B5EF4-FFF2-40B4-BE49-F238E27FC236}">
                <a16:creationId xmlns:a16="http://schemas.microsoft.com/office/drawing/2014/main" id="{4208AF86-F254-49FB-A60F-66ECB0B44B42}"/>
              </a:ext>
            </a:extLst>
          </p:cNvPr>
          <p:cNvSpPr txBox="1"/>
          <p:nvPr/>
        </p:nvSpPr>
        <p:spPr>
          <a:xfrm>
            <a:off x="952500" y="2019300"/>
            <a:ext cx="1333500" cy="637032"/>
          </a:xfrm>
        </p:spPr>
        <p:txBody>
          <a:bodyPr wrap="square" rtlCol="0" lIns="0" tIns="0" rIns="0" bIns="0" anchor="t"/>
          <a:lstStyle/>
          <a:p>
            <a:pPr algn="l">
              <a:lnSpc>
                <a:spcPct val="110000"/>
              </a:lnSpc>
            </a:pPr>
            <a:r>
              <a:rPr sz="3800" b="1">
                <a:solidFill>
                  <a:srgbClr val="63E2B7"/>
                </a:solidFill>
                <a:latin typeface="Arial"/>
                <a:ea typeface="Arial"/>
              </a:rPr>
              <a:t>01</a:t>
            </a:r>
          </a:p>
        </p:txBody>
      </p:sp>
      <p:sp>
        <p:nvSpPr>
          <p:cNvPr id="9" name="TextBox 9">
            <a:extLst>
              <a:ext uri="{FF2B5EF4-FFF2-40B4-BE49-F238E27FC236}">
                <a16:creationId xmlns:a16="http://schemas.microsoft.com/office/drawing/2014/main" id="{C5790CD1-BFA6-4983-BE69-9245219397D5}"/>
              </a:ext>
            </a:extLst>
          </p:cNvPr>
          <p:cNvSpPr txBox="1"/>
          <p:nvPr/>
        </p:nvSpPr>
        <p:spPr>
          <a:xfrm>
            <a:off x="952500" y="2724150"/>
            <a:ext cx="2819400" cy="438150"/>
          </a:xfrm>
        </p:spPr>
        <p:txBody>
          <a:bodyPr wrap="square" rtlCol="0" lIns="0" tIns="0" rIns="0" bIns="0" anchor="t"/>
          <a:lstStyle/>
          <a:p>
            <a:pPr algn="l">
              <a:lnSpc>
                <a:spcPct val="110000"/>
              </a:lnSpc>
            </a:pPr>
            <a:r>
              <a:rPr sz="2400" b="1">
                <a:solidFill>
                  <a:srgbClr val="E8EAED"/>
                </a:solidFill>
                <a:latin typeface="Arial"/>
                <a:ea typeface="Arial"/>
              </a:rPr>
              <a:t>Data</a:t>
            </a:r>
          </a:p>
        </p:txBody>
      </p:sp>
      <p:sp>
        <p:nvSpPr>
          <p:cNvPr id="10" name="TextBox 10">
            <a:extLst>
              <a:ext uri="{FF2B5EF4-FFF2-40B4-BE49-F238E27FC236}">
                <a16:creationId xmlns:a16="http://schemas.microsoft.com/office/drawing/2014/main" id="{B01BE523-F58B-456A-B53C-C0E2CAD1C539}"/>
              </a:ext>
            </a:extLst>
          </p:cNvPr>
          <p:cNvSpPr txBox="1"/>
          <p:nvPr/>
        </p:nvSpPr>
        <p:spPr>
          <a:xfrm>
            <a:off x="952500" y="3276600"/>
            <a:ext cx="2819400" cy="1543050"/>
          </a:xfrm>
        </p:spPr>
        <p:txBody>
          <a:bodyPr wrap="square" rtlCol="0" lIns="0" tIns="0" rIns="0" bIns="0" anchor="t"/>
          <a:lstStyle/>
          <a:p>
            <a:pPr algn="l">
              <a:lnSpc>
                <a:spcPct val="150000"/>
              </a:lnSpc>
            </a:pPr>
            <a:r>
              <a:rPr sz="1350">
                <a:solidFill>
                  <a:srgbClr val="9AA1AB"/>
                </a:solidFill>
                <a:latin typeface="Arial"/>
                <a:ea typeface="Arial"/>
              </a:rPr>
              <a:t>Charts, macro, news and sentiment live in 4+ different tools. Cross-market comparison is nearly impossible — you are always a step behind.</a:t>
            </a:r>
          </a:p>
        </p:txBody>
      </p:sp>
      <p:sp>
        <p:nvSpPr>
          <p:cNvPr id="11" name="TextBox 11">
            <a:extLst>
              <a:ext uri="{FF2B5EF4-FFF2-40B4-BE49-F238E27FC236}">
                <a16:creationId xmlns:a16="http://schemas.microsoft.com/office/drawing/2014/main" id="{5480B071-D828-42FE-9706-100721AD2268}"/>
              </a:ext>
            </a:extLst>
          </p:cNvPr>
          <p:cNvSpPr txBox="1"/>
          <p:nvPr/>
        </p:nvSpPr>
        <p:spPr>
          <a:xfrm>
            <a:off x="4686300" y="2019300"/>
            <a:ext cx="1333500" cy="637032"/>
          </a:xfrm>
        </p:spPr>
        <p:txBody>
          <a:bodyPr wrap="square" rtlCol="0" lIns="0" tIns="0" rIns="0" bIns="0" anchor="t"/>
          <a:lstStyle/>
          <a:p>
            <a:pPr algn="l">
              <a:lnSpc>
                <a:spcPct val="110000"/>
              </a:lnSpc>
            </a:pPr>
            <a:r>
              <a:rPr sz="3800" b="1">
                <a:solidFill>
                  <a:srgbClr val="63E2B7"/>
                </a:solidFill>
                <a:latin typeface="Arial"/>
                <a:ea typeface="Arial"/>
              </a:rPr>
              <a:t>02</a:t>
            </a:r>
          </a:p>
        </p:txBody>
      </p:sp>
      <p:sp>
        <p:nvSpPr>
          <p:cNvPr id="12" name="TextBox 12">
            <a:extLst>
              <a:ext uri="{FF2B5EF4-FFF2-40B4-BE49-F238E27FC236}">
                <a16:creationId xmlns:a16="http://schemas.microsoft.com/office/drawing/2014/main" id="{722A1F12-0144-4E76-B0B9-AD958D9752F7}"/>
              </a:ext>
            </a:extLst>
          </p:cNvPr>
          <p:cNvSpPr txBox="1"/>
          <p:nvPr/>
        </p:nvSpPr>
        <p:spPr>
          <a:xfrm>
            <a:off x="4686300" y="2724150"/>
            <a:ext cx="2819400" cy="438150"/>
          </a:xfrm>
        </p:spPr>
        <p:txBody>
          <a:bodyPr wrap="square" rtlCol="0" lIns="0" tIns="0" rIns="0" bIns="0" anchor="t"/>
          <a:lstStyle/>
          <a:p>
            <a:pPr algn="l">
              <a:lnSpc>
                <a:spcPct val="110000"/>
              </a:lnSpc>
            </a:pPr>
            <a:r>
              <a:rPr sz="2400" b="1">
                <a:solidFill>
                  <a:srgbClr val="E8EAED"/>
                </a:solidFill>
                <a:latin typeface="Arial"/>
                <a:ea typeface="Arial"/>
              </a:rPr>
              <a:t>Research</a:t>
            </a:r>
          </a:p>
        </p:txBody>
      </p:sp>
      <p:sp>
        <p:nvSpPr>
          <p:cNvPr id="13" name="TextBox 13">
            <a:extLst>
              <a:ext uri="{FF2B5EF4-FFF2-40B4-BE49-F238E27FC236}">
                <a16:creationId xmlns:a16="http://schemas.microsoft.com/office/drawing/2014/main" id="{A1FE87EF-C746-4736-A55C-0488AFB0894B}"/>
              </a:ext>
            </a:extLst>
          </p:cNvPr>
          <p:cNvSpPr txBox="1"/>
          <p:nvPr/>
        </p:nvSpPr>
        <p:spPr>
          <a:xfrm>
            <a:off x="4686300" y="3276600"/>
            <a:ext cx="2819400" cy="1428750"/>
          </a:xfrm>
        </p:spPr>
        <p:txBody>
          <a:bodyPr wrap="square" rtlCol="0" lIns="0" tIns="0" rIns="0" bIns="0" anchor="t"/>
          <a:lstStyle/>
          <a:p>
            <a:pPr algn="l">
              <a:lnSpc>
                <a:spcPct val="150000"/>
              </a:lnSpc>
            </a:pPr>
            <a:r>
              <a:rPr sz="1350">
                <a:solidFill>
                  <a:srgbClr val="9AA1AB"/>
                </a:solidFill>
                <a:latin typeface="Arial"/>
                <a:ea typeface="Arial"/>
              </a:rPr>
              <a:t>Writing a strategy = Python + a framework + your own data pipeline. Backtest and execution platforms are separate silos.</a:t>
            </a:r>
          </a:p>
        </p:txBody>
      </p:sp>
      <p:sp>
        <p:nvSpPr>
          <p:cNvPr id="14" name="TextBox 14">
            <a:extLst>
              <a:ext uri="{FF2B5EF4-FFF2-40B4-BE49-F238E27FC236}">
                <a16:creationId xmlns:a16="http://schemas.microsoft.com/office/drawing/2014/main" id="{AF76B28E-28EF-491E-B8F4-F42C23D1992A}"/>
              </a:ext>
            </a:extLst>
          </p:cNvPr>
          <p:cNvSpPr txBox="1"/>
          <p:nvPr/>
        </p:nvSpPr>
        <p:spPr>
          <a:xfrm>
            <a:off x="8420100" y="2019300"/>
            <a:ext cx="1333500" cy="637032"/>
          </a:xfrm>
        </p:spPr>
        <p:txBody>
          <a:bodyPr wrap="square" rtlCol="0" lIns="0" tIns="0" rIns="0" bIns="0" anchor="t"/>
          <a:lstStyle/>
          <a:p>
            <a:pPr algn="l">
              <a:lnSpc>
                <a:spcPct val="110000"/>
              </a:lnSpc>
            </a:pPr>
            <a:r>
              <a:rPr sz="3800" b="1">
                <a:solidFill>
                  <a:srgbClr val="63E2B7"/>
                </a:solidFill>
                <a:latin typeface="Arial"/>
                <a:ea typeface="Arial"/>
              </a:rPr>
              <a:t>03</a:t>
            </a:r>
          </a:p>
        </p:txBody>
      </p:sp>
      <p:sp>
        <p:nvSpPr>
          <p:cNvPr id="15" name="TextBox 15">
            <a:extLst>
              <a:ext uri="{FF2B5EF4-FFF2-40B4-BE49-F238E27FC236}">
                <a16:creationId xmlns:a16="http://schemas.microsoft.com/office/drawing/2014/main" id="{091C9AC1-4839-446C-BFDD-D51ABF21889C}"/>
              </a:ext>
            </a:extLst>
          </p:cNvPr>
          <p:cNvSpPr txBox="1"/>
          <p:nvPr/>
        </p:nvSpPr>
        <p:spPr>
          <a:xfrm>
            <a:off x="8420100" y="2724150"/>
            <a:ext cx="2819400" cy="438150"/>
          </a:xfrm>
        </p:spPr>
        <p:txBody>
          <a:bodyPr wrap="square" rtlCol="0" lIns="0" tIns="0" rIns="0" bIns="0" anchor="t"/>
          <a:lstStyle/>
          <a:p>
            <a:pPr algn="l">
              <a:lnSpc>
                <a:spcPct val="110000"/>
              </a:lnSpc>
            </a:pPr>
            <a:r>
              <a:rPr sz="2400" b="1">
                <a:solidFill>
                  <a:srgbClr val="E8EAED"/>
                </a:solidFill>
                <a:latin typeface="Arial"/>
                <a:ea typeface="Arial"/>
              </a:rPr>
              <a:t>Execution</a:t>
            </a:r>
          </a:p>
        </p:txBody>
      </p:sp>
      <p:sp>
        <p:nvSpPr>
          <p:cNvPr id="16" name="TextBox 16">
            <a:extLst>
              <a:ext uri="{FF2B5EF4-FFF2-40B4-BE49-F238E27FC236}">
                <a16:creationId xmlns:a16="http://schemas.microsoft.com/office/drawing/2014/main" id="{A58F45EA-A703-4CE6-9A02-8E0337C255C9}"/>
              </a:ext>
            </a:extLst>
          </p:cNvPr>
          <p:cNvSpPr txBox="1"/>
          <p:nvPr/>
        </p:nvSpPr>
        <p:spPr>
          <a:xfrm>
            <a:off x="8420100" y="3276600"/>
            <a:ext cx="2819400" cy="1428750"/>
          </a:xfrm>
        </p:spPr>
        <p:txBody>
          <a:bodyPr wrap="square" rtlCol="0" lIns="0" tIns="0" rIns="0" bIns="0" anchor="t"/>
          <a:lstStyle/>
          <a:p>
            <a:pPr algn="l">
              <a:lnSpc>
                <a:spcPct val="150000"/>
              </a:lnSpc>
            </a:pPr>
            <a:r>
              <a:rPr sz="1350">
                <a:solidFill>
                  <a:srgbClr val="9AA1AB"/>
                </a:solidFill>
                <a:latin typeface="Arial"/>
                <a:ea typeface="Arial"/>
              </a:rPr>
              <a:t>Manual orders while watching charts, emotional trading; automation tools cover one market only — crypto or US stocks.</a:t>
            </a:r>
          </a:p>
        </p:txBody>
      </p:sp>
      <p:sp>
        <p:nvSpPr>
          <p:cNvPr id="17" name="TextBox 17">
            <a:extLst>
              <a:ext uri="{FF2B5EF4-FFF2-40B4-BE49-F238E27FC236}">
                <a16:creationId xmlns:a16="http://schemas.microsoft.com/office/drawing/2014/main" id="{DB9E116F-260C-4A46-A72D-2C7CEDDDE6AA}"/>
              </a:ext>
            </a:extLst>
          </p:cNvPr>
          <p:cNvSpPr txBox="1"/>
          <p:nvPr/>
        </p:nvSpPr>
        <p:spPr>
          <a:xfrm>
            <a:off x="685800" y="5353050"/>
            <a:ext cx="10820400" cy="266700"/>
          </a:xfrm>
        </p:spPr>
        <p:txBody>
          <a:bodyPr wrap="square" rtlCol="0" lIns="0" tIns="0" rIns="0" bIns="0" anchor="t"/>
          <a:lstStyle/>
          <a:p>
            <a:pPr algn="l">
              <a:lnSpc>
                <a:spcPct val="110000"/>
              </a:lnSpc>
            </a:pPr>
            <a:r>
              <a:rPr sz="1500">
                <a:solidFill>
                  <a:srgbClr val="9AA1AB"/>
                </a:solidFill>
                <a:latin typeface="Arial"/>
                <a:ea typeface="Arial"/>
              </a:rPr>
              <a:t>Incumbents each own one slice — charts, engines, automation. </a:t>
            </a:r>
            <a:r>
              <a:rPr sz="1500" b="1">
                <a:solidFill>
                  <a:srgbClr val="63E2B7"/>
                </a:solidFill>
                <a:latin typeface="Arial"/>
                <a:ea typeface="Arial"/>
              </a:rPr>
              <a:t>Nobody built the retail full loop.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76CA1D2A-AE4D-4955-9BF5-ED4DFA26F773}"/>
              </a:ext>
            </a:extLst>
          </p:cNvPr>
          <p:cNvSpPr txBox="1"/>
          <p:nvPr/>
        </p:nvSpPr>
        <p:spPr>
          <a:xfrm>
            <a:off x="685800" y="457200"/>
            <a:ext cx="7620000" cy="603504"/>
          </a:xfrm>
        </p:spPr>
        <p:txBody>
          <a:bodyPr wrap="square" rtlCol="0" lIns="0" tIns="0" rIns="0" bIns="0" anchor="t"/>
          <a:lstStyle/>
          <a:p>
            <a:pPr algn="l">
              <a:lnSpc>
                <a:spcPct val="110000"/>
              </a:lnSpc>
            </a:pPr>
            <a:r>
              <a:rPr sz="3600" b="1">
                <a:solidFill>
                  <a:srgbClr val="E8EAED"/>
                </a:solidFill>
                <a:latin typeface="Arial"/>
                <a:ea typeface="Arial"/>
              </a:rPr>
              <a:t>One Product, One Closed Loop</a:t>
            </a:r>
          </a:p>
        </p:txBody>
      </p:sp>
      <p:sp>
        <p:nvSpPr>
          <p:cNvPr id="4" name="TextBox 4">
            <a:extLst>
              <a:ext uri="{FF2B5EF4-FFF2-40B4-BE49-F238E27FC236}">
                <a16:creationId xmlns:a16="http://schemas.microsoft.com/office/drawing/2014/main" id="{2CD10242-4DAC-4623-89A3-89DDBD37672A}"/>
              </a:ext>
            </a:extLst>
          </p:cNvPr>
          <p:cNvSpPr txBox="1"/>
          <p:nvPr/>
        </p:nvSpPr>
        <p:spPr>
          <a:xfrm>
            <a:off x="685800" y="1104900"/>
            <a:ext cx="8572500" cy="266700"/>
          </a:xfrm>
        </p:spPr>
        <p:txBody>
          <a:bodyPr wrap="square" rtlCol="0" lIns="0" tIns="0" rIns="0" bIns="0" anchor="t"/>
          <a:lstStyle/>
          <a:p>
            <a:pPr algn="l">
              <a:lnSpc>
                <a:spcPct val="110000"/>
              </a:lnSpc>
            </a:pPr>
            <a:r>
              <a:rPr sz="1500">
                <a:solidFill>
                  <a:srgbClr val="9AA1AB"/>
                </a:solidFill>
                <a:latin typeface="Arial"/>
                <a:ea typeface="Arial"/>
              </a:rPr>
              <a:t>From "can write it" to "can run it" — without switching platforms</a:t>
            </a:r>
          </a:p>
        </p:txBody>
      </p:sp>
      <p:sp>
        <p:nvSpPr>
          <p:cNvPr id="5" name="Shape 5">
            <a:extLst>
              <a:ext uri="{FF2B5EF4-FFF2-40B4-BE49-F238E27FC236}">
                <a16:creationId xmlns:a16="http://schemas.microsoft.com/office/drawing/2014/main" id="{BCBA61C8-7617-4193-8E68-77DB3CA7ABB2}"/>
              </a:ext>
            </a:extLst>
          </p:cNvPr>
          <p:cNvSpPr/>
          <p:nvPr/>
        </p:nvSpPr>
        <p:spPr>
          <a:xfrm>
            <a:off x="904875" y="3143250"/>
            <a:ext cx="10382250" cy="19050"/>
          </a:xfrm>
          <a:prstGeom prst="rect">
            <a:avLst/>
          </a:prstGeom>
          <a:solidFill>
            <a:srgbClr val="232A33"/>
          </a:solidFill>
        </p:spPr>
        <p:txBody>
          <a:bodyPr wrap="square" rtlCol="0"/>
          <a:lstStyle/>
          <a:p>
            <a:r>
              <a:rPr/>
              <a:t/>
            </a:r>
          </a:p>
        </p:txBody>
      </p:sp>
      <p:sp>
        <p:nvSpPr>
          <p:cNvPr id="6" name="Shape 6">
            <a:extLst>
              <a:ext uri="{FF2B5EF4-FFF2-40B4-BE49-F238E27FC236}">
                <a16:creationId xmlns:a16="http://schemas.microsoft.com/office/drawing/2014/main" id="{E30FF560-C458-4ED6-BD22-AE9BB5987B19}"/>
              </a:ext>
            </a:extLst>
          </p:cNvPr>
          <p:cNvSpPr/>
          <p:nvPr/>
        </p:nvSpPr>
        <p:spPr>
          <a:xfrm>
            <a:off x="1524000" y="3086100"/>
            <a:ext cx="133350" cy="133350"/>
          </a:xfrm>
          <a:prstGeom prst="ellipse">
            <a:avLst/>
          </a:prstGeom>
          <a:solidFill>
            <a:srgbClr val="63E2B7"/>
          </a:solidFill>
        </p:spPr>
        <p:txBody>
          <a:bodyPr wrap="square" rtlCol="0"/>
          <a:lstStyle/>
          <a:p>
            <a:r>
              <a:rPr/>
              <a:t/>
            </a:r>
          </a:p>
        </p:txBody>
      </p:sp>
      <p:sp>
        <p:nvSpPr>
          <p:cNvPr id="7" name="Shape 7">
            <a:extLst>
              <a:ext uri="{FF2B5EF4-FFF2-40B4-BE49-F238E27FC236}">
                <a16:creationId xmlns:a16="http://schemas.microsoft.com/office/drawing/2014/main" id="{13FA43E4-498C-431F-B099-289645C62182}"/>
              </a:ext>
            </a:extLst>
          </p:cNvPr>
          <p:cNvSpPr/>
          <p:nvPr/>
        </p:nvSpPr>
        <p:spPr>
          <a:xfrm>
            <a:off x="3324225" y="3086100"/>
            <a:ext cx="133350" cy="133350"/>
          </a:xfrm>
          <a:prstGeom prst="ellipse">
            <a:avLst/>
          </a:prstGeom>
          <a:solidFill>
            <a:srgbClr val="63E2B7"/>
          </a:solidFill>
        </p:spPr>
        <p:txBody>
          <a:bodyPr wrap="square" rtlCol="0"/>
          <a:lstStyle/>
          <a:p>
            <a:r>
              <a:rPr/>
              <a:t/>
            </a:r>
          </a:p>
        </p:txBody>
      </p:sp>
      <p:sp>
        <p:nvSpPr>
          <p:cNvPr id="8" name="Shape 8">
            <a:extLst>
              <a:ext uri="{FF2B5EF4-FFF2-40B4-BE49-F238E27FC236}">
                <a16:creationId xmlns:a16="http://schemas.microsoft.com/office/drawing/2014/main" id="{CACBEA60-B56F-4173-9EA2-088F8E5E5106}"/>
              </a:ext>
            </a:extLst>
          </p:cNvPr>
          <p:cNvSpPr/>
          <p:nvPr/>
        </p:nvSpPr>
        <p:spPr>
          <a:xfrm>
            <a:off x="5124450" y="3086100"/>
            <a:ext cx="133350" cy="133350"/>
          </a:xfrm>
          <a:prstGeom prst="ellipse">
            <a:avLst/>
          </a:prstGeom>
          <a:solidFill>
            <a:srgbClr val="63E2B7"/>
          </a:solidFill>
        </p:spPr>
        <p:txBody>
          <a:bodyPr wrap="square" rtlCol="0"/>
          <a:lstStyle/>
          <a:p>
            <a:r>
              <a:rPr/>
              <a:t/>
            </a:r>
          </a:p>
        </p:txBody>
      </p:sp>
      <p:sp>
        <p:nvSpPr>
          <p:cNvPr id="9" name="Shape 9">
            <a:extLst>
              <a:ext uri="{FF2B5EF4-FFF2-40B4-BE49-F238E27FC236}">
                <a16:creationId xmlns:a16="http://schemas.microsoft.com/office/drawing/2014/main" id="{BDFB9406-5CA6-48CE-986E-E4ADC41CC9CF}"/>
              </a:ext>
            </a:extLst>
          </p:cNvPr>
          <p:cNvSpPr/>
          <p:nvPr/>
        </p:nvSpPr>
        <p:spPr>
          <a:xfrm>
            <a:off x="6934200" y="3086100"/>
            <a:ext cx="133350" cy="133350"/>
          </a:xfrm>
          <a:prstGeom prst="ellipse">
            <a:avLst/>
          </a:prstGeom>
          <a:solidFill>
            <a:srgbClr val="63E2B7"/>
          </a:solidFill>
        </p:spPr>
        <p:txBody>
          <a:bodyPr wrap="square" rtlCol="0"/>
          <a:lstStyle/>
          <a:p>
            <a:r>
              <a:rPr/>
              <a:t/>
            </a:r>
          </a:p>
        </p:txBody>
      </p:sp>
      <p:sp>
        <p:nvSpPr>
          <p:cNvPr id="10" name="Shape 10">
            <a:extLst>
              <a:ext uri="{FF2B5EF4-FFF2-40B4-BE49-F238E27FC236}">
                <a16:creationId xmlns:a16="http://schemas.microsoft.com/office/drawing/2014/main" id="{6FD4A572-4D82-402C-ABA7-D39EDB4AEBB6}"/>
              </a:ext>
            </a:extLst>
          </p:cNvPr>
          <p:cNvSpPr/>
          <p:nvPr/>
        </p:nvSpPr>
        <p:spPr>
          <a:xfrm>
            <a:off x="8734425" y="3086100"/>
            <a:ext cx="133350" cy="133350"/>
          </a:xfrm>
          <a:prstGeom prst="ellipse">
            <a:avLst/>
          </a:prstGeom>
          <a:solidFill>
            <a:srgbClr val="63E2B7"/>
          </a:solidFill>
        </p:spPr>
        <p:txBody>
          <a:bodyPr wrap="square" rtlCol="0"/>
          <a:lstStyle/>
          <a:p>
            <a:r>
              <a:rPr/>
              <a:t/>
            </a:r>
          </a:p>
        </p:txBody>
      </p:sp>
      <p:sp>
        <p:nvSpPr>
          <p:cNvPr id="11" name="Shape 11">
            <a:extLst>
              <a:ext uri="{FF2B5EF4-FFF2-40B4-BE49-F238E27FC236}">
                <a16:creationId xmlns:a16="http://schemas.microsoft.com/office/drawing/2014/main" id="{B60F5B16-81CC-4751-A3C9-B1BD2ADCA78F}"/>
              </a:ext>
            </a:extLst>
          </p:cNvPr>
          <p:cNvSpPr/>
          <p:nvPr/>
        </p:nvSpPr>
        <p:spPr>
          <a:xfrm>
            <a:off x="10534650" y="3086100"/>
            <a:ext cx="133350" cy="133350"/>
          </a:xfrm>
          <a:prstGeom prst="ellipse">
            <a:avLst/>
          </a:prstGeom>
          <a:solidFill>
            <a:srgbClr val="63E2B7"/>
          </a:solidFill>
        </p:spPr>
        <p:txBody>
          <a:bodyPr wrap="square" rtlCol="0"/>
          <a:lstStyle/>
          <a:p>
            <a:r>
              <a:rPr/>
              <a:t/>
            </a:r>
          </a:p>
        </p:txBody>
      </p:sp>
      <p:sp>
        <p:nvSpPr>
          <p:cNvPr id="12" name="TextBox 12">
            <a:extLst>
              <a:ext uri="{FF2B5EF4-FFF2-40B4-BE49-F238E27FC236}">
                <a16:creationId xmlns:a16="http://schemas.microsoft.com/office/drawing/2014/main" id="{53986456-57D2-4618-93DC-ED34ECC2400C}"/>
              </a:ext>
            </a:extLst>
          </p:cNvPr>
          <p:cNvSpPr txBox="1"/>
          <p:nvPr/>
        </p:nvSpPr>
        <p:spPr>
          <a:xfrm>
            <a:off x="704850" y="2628900"/>
            <a:ext cx="1809750" cy="247650"/>
          </a:xfrm>
        </p:spPr>
        <p:txBody>
          <a:bodyPr wrap="square" rtlCol="0" lIns="0" tIns="0" rIns="0" bIns="0" anchor="t"/>
          <a:lstStyle/>
          <a:p>
            <a:pPr algn="ctr">
              <a:lnSpc>
                <a:spcPct val="110000"/>
              </a:lnSpc>
            </a:pPr>
            <a:r>
              <a:rPr sz="1500" b="1">
                <a:solidFill>
                  <a:srgbClr val="E8EAED"/>
                </a:solidFill>
                <a:latin typeface="Arial"/>
                <a:ea typeface="Arial"/>
              </a:rPr>
              <a:t>01 Markets</a:t>
            </a:r>
          </a:p>
        </p:txBody>
      </p:sp>
      <p:sp>
        <p:nvSpPr>
          <p:cNvPr id="13" name="TextBox 13">
            <a:extLst>
              <a:ext uri="{FF2B5EF4-FFF2-40B4-BE49-F238E27FC236}">
                <a16:creationId xmlns:a16="http://schemas.microsoft.com/office/drawing/2014/main" id="{375A2190-9DAE-4EDD-9CD0-2FFD6F8ECB08}"/>
              </a:ext>
            </a:extLst>
          </p:cNvPr>
          <p:cNvSpPr txBox="1"/>
          <p:nvPr/>
        </p:nvSpPr>
        <p:spPr>
          <a:xfrm>
            <a:off x="704850" y="3352800"/>
            <a:ext cx="1771650" cy="736092"/>
          </a:xfrm>
        </p:spPr>
        <p:txBody>
          <a:bodyPr wrap="square" rtlCol="0" lIns="0" tIns="0" rIns="0" bIns="0" anchor="t"/>
          <a:lstStyle/>
          <a:p>
            <a:pPr algn="ctr">
              <a:lnSpc>
                <a:spcPct val="140000"/>
              </a:lnSpc>
            </a:pPr>
            <a:r>
              <a:rPr sz="1150">
                <a:solidFill>
                  <a:srgbClr val="9AA1AB"/>
                </a:solidFill>
                <a:latin typeface="Arial"/>
                <a:ea typeface="Arial"/>
              </a:rPr>
              <a:t>Real-time quotes, sentiment &amp; opportunity radar</a:t>
            </a:r>
          </a:p>
        </p:txBody>
      </p:sp>
      <p:sp>
        <p:nvSpPr>
          <p:cNvPr id="14" name="TextBox 14">
            <a:extLst>
              <a:ext uri="{FF2B5EF4-FFF2-40B4-BE49-F238E27FC236}">
                <a16:creationId xmlns:a16="http://schemas.microsoft.com/office/drawing/2014/main" id="{10627D75-8F06-4E67-92F6-90554E2A381D}"/>
              </a:ext>
            </a:extLst>
          </p:cNvPr>
          <p:cNvSpPr txBox="1"/>
          <p:nvPr/>
        </p:nvSpPr>
        <p:spPr>
          <a:xfrm>
            <a:off x="2505075" y="2628900"/>
            <a:ext cx="1809750" cy="247650"/>
          </a:xfrm>
        </p:spPr>
        <p:txBody>
          <a:bodyPr wrap="square" rtlCol="0" lIns="0" tIns="0" rIns="0" bIns="0" anchor="t"/>
          <a:lstStyle/>
          <a:p>
            <a:pPr algn="ctr">
              <a:lnSpc>
                <a:spcPct val="110000"/>
              </a:lnSpc>
            </a:pPr>
            <a:r>
              <a:rPr sz="1500" b="1">
                <a:solidFill>
                  <a:srgbClr val="E8EAED"/>
                </a:solidFill>
                <a:latin typeface="Arial"/>
                <a:ea typeface="Arial"/>
              </a:rPr>
              <a:t>02 AI Research</a:t>
            </a:r>
          </a:p>
        </p:txBody>
      </p:sp>
      <p:sp>
        <p:nvSpPr>
          <p:cNvPr id="15" name="TextBox 15">
            <a:extLst>
              <a:ext uri="{FF2B5EF4-FFF2-40B4-BE49-F238E27FC236}">
                <a16:creationId xmlns:a16="http://schemas.microsoft.com/office/drawing/2014/main" id="{10D70E00-B65F-4CA3-B2BA-7BE5837D1DF2}"/>
              </a:ext>
            </a:extLst>
          </p:cNvPr>
          <p:cNvSpPr txBox="1"/>
          <p:nvPr/>
        </p:nvSpPr>
        <p:spPr>
          <a:xfrm>
            <a:off x="2505075" y="3352800"/>
            <a:ext cx="1771650" cy="628650"/>
          </a:xfrm>
        </p:spPr>
        <p:txBody>
          <a:bodyPr wrap="square" rtlCol="0" lIns="0" tIns="0" rIns="0" bIns="0" anchor="t"/>
          <a:lstStyle/>
          <a:p>
            <a:pPr algn="ctr">
              <a:lnSpc>
                <a:spcPct val="140000"/>
              </a:lnSpc>
            </a:pPr>
            <a:r>
              <a:rPr sz="1150">
                <a:solidFill>
                  <a:srgbClr val="9AA1AB"/>
                </a:solidFill>
                <a:latin typeface="Arial"/>
                <a:ea typeface="Arial"/>
              </a:rPr>
              <a:t>Chat, fast analysis, event radar</a:t>
            </a:r>
          </a:p>
        </p:txBody>
      </p:sp>
      <p:sp>
        <p:nvSpPr>
          <p:cNvPr id="16" name="TextBox 16">
            <a:extLst>
              <a:ext uri="{FF2B5EF4-FFF2-40B4-BE49-F238E27FC236}">
                <a16:creationId xmlns:a16="http://schemas.microsoft.com/office/drawing/2014/main" id="{E78CD497-37B4-46C5-BC6F-5D5094175ED4}"/>
              </a:ext>
            </a:extLst>
          </p:cNvPr>
          <p:cNvSpPr txBox="1"/>
          <p:nvPr/>
        </p:nvSpPr>
        <p:spPr>
          <a:xfrm>
            <a:off x="4305300" y="2628900"/>
            <a:ext cx="1809750" cy="247650"/>
          </a:xfrm>
        </p:spPr>
        <p:txBody>
          <a:bodyPr wrap="square" rtlCol="0" lIns="0" tIns="0" rIns="0" bIns="0" anchor="t"/>
          <a:lstStyle/>
          <a:p>
            <a:pPr algn="ctr">
              <a:lnSpc>
                <a:spcPct val="110000"/>
              </a:lnSpc>
            </a:pPr>
            <a:r>
              <a:rPr sz="1500" b="1">
                <a:solidFill>
                  <a:srgbClr val="E8EAED"/>
                </a:solidFill>
                <a:latin typeface="Arial"/>
                <a:ea typeface="Arial"/>
              </a:rPr>
              <a:t>03 Strategy</a:t>
            </a:r>
          </a:p>
        </p:txBody>
      </p:sp>
      <p:sp>
        <p:nvSpPr>
          <p:cNvPr id="17" name="TextBox 17">
            <a:extLst>
              <a:ext uri="{FF2B5EF4-FFF2-40B4-BE49-F238E27FC236}">
                <a16:creationId xmlns:a16="http://schemas.microsoft.com/office/drawing/2014/main" id="{E467FF0D-2C6E-473D-914E-175FF21A2DB7}"/>
              </a:ext>
            </a:extLst>
          </p:cNvPr>
          <p:cNvSpPr txBox="1"/>
          <p:nvPr/>
        </p:nvSpPr>
        <p:spPr>
          <a:xfrm>
            <a:off x="4305300" y="3352800"/>
            <a:ext cx="1771650" cy="628650"/>
          </a:xfrm>
        </p:spPr>
        <p:txBody>
          <a:bodyPr wrap="square" rtlCol="0" lIns="0" tIns="0" rIns="0" bIns="0" anchor="t"/>
          <a:lstStyle/>
          <a:p>
            <a:pPr algn="ctr">
              <a:lnSpc>
                <a:spcPct val="140000"/>
              </a:lnSpc>
            </a:pPr>
            <a:r>
              <a:rPr sz="1150">
                <a:solidFill>
                  <a:srgbClr val="9AA1AB"/>
                </a:solidFill>
                <a:latin typeface="Arial"/>
                <a:ea typeface="Arial"/>
              </a:rPr>
              <a:t>AI generation + 264 factors &amp; online IDE</a:t>
            </a:r>
          </a:p>
        </p:txBody>
      </p:sp>
      <p:sp>
        <p:nvSpPr>
          <p:cNvPr id="18" name="TextBox 18">
            <a:extLst>
              <a:ext uri="{FF2B5EF4-FFF2-40B4-BE49-F238E27FC236}">
                <a16:creationId xmlns:a16="http://schemas.microsoft.com/office/drawing/2014/main" id="{E2CB51CF-3C37-401D-98FD-0A7653BBFAAC}"/>
              </a:ext>
            </a:extLst>
          </p:cNvPr>
          <p:cNvSpPr txBox="1"/>
          <p:nvPr/>
        </p:nvSpPr>
        <p:spPr>
          <a:xfrm>
            <a:off x="6115050" y="2628900"/>
            <a:ext cx="1809750" cy="247650"/>
          </a:xfrm>
        </p:spPr>
        <p:txBody>
          <a:bodyPr wrap="square" rtlCol="0" lIns="0" tIns="0" rIns="0" bIns="0" anchor="t"/>
          <a:lstStyle/>
          <a:p>
            <a:pPr algn="ctr">
              <a:lnSpc>
                <a:spcPct val="110000"/>
              </a:lnSpc>
            </a:pPr>
            <a:r>
              <a:rPr sz="1500" b="1">
                <a:solidFill>
                  <a:srgbClr val="E8EAED"/>
                </a:solidFill>
                <a:latin typeface="Arial"/>
                <a:ea typeface="Arial"/>
              </a:rPr>
              <a:t>04 Backtest</a:t>
            </a:r>
          </a:p>
        </p:txBody>
      </p:sp>
      <p:sp>
        <p:nvSpPr>
          <p:cNvPr id="19" name="TextBox 19">
            <a:extLst>
              <a:ext uri="{FF2B5EF4-FFF2-40B4-BE49-F238E27FC236}">
                <a16:creationId xmlns:a16="http://schemas.microsoft.com/office/drawing/2014/main" id="{51D41827-A0CC-4365-A827-4444510F2CA1}"/>
              </a:ext>
            </a:extLst>
          </p:cNvPr>
          <p:cNvSpPr txBox="1"/>
          <p:nvPr/>
        </p:nvSpPr>
        <p:spPr>
          <a:xfrm>
            <a:off x="6115050" y="3352800"/>
            <a:ext cx="1771650" cy="628650"/>
          </a:xfrm>
        </p:spPr>
        <p:txBody>
          <a:bodyPr wrap="square" rtlCol="0" lIns="0" tIns="0" rIns="0" bIns="0" anchor="t"/>
          <a:lstStyle/>
          <a:p>
            <a:pPr algn="ctr">
              <a:lnSpc>
                <a:spcPct val="140000"/>
              </a:lnSpc>
            </a:pPr>
            <a:r>
              <a:rPr sz="1150">
                <a:solidFill>
                  <a:srgbClr val="9AA1AB"/>
                </a:solidFill>
                <a:latin typeface="Arial"/>
                <a:ea typeface="Arial"/>
              </a:rPr>
              <a:t>Real data, full trade log &amp; metrics</a:t>
            </a:r>
          </a:p>
        </p:txBody>
      </p:sp>
      <p:sp>
        <p:nvSpPr>
          <p:cNvPr id="20" name="TextBox 20">
            <a:extLst>
              <a:ext uri="{FF2B5EF4-FFF2-40B4-BE49-F238E27FC236}">
                <a16:creationId xmlns:a16="http://schemas.microsoft.com/office/drawing/2014/main" id="{2B56597A-FA31-4608-9D43-C619115FCDB7}"/>
              </a:ext>
            </a:extLst>
          </p:cNvPr>
          <p:cNvSpPr txBox="1"/>
          <p:nvPr/>
        </p:nvSpPr>
        <p:spPr>
          <a:xfrm>
            <a:off x="7915275" y="2628900"/>
            <a:ext cx="1809750" cy="247650"/>
          </a:xfrm>
        </p:spPr>
        <p:txBody>
          <a:bodyPr wrap="square" rtlCol="0" lIns="0" tIns="0" rIns="0" bIns="0" anchor="t"/>
          <a:lstStyle/>
          <a:p>
            <a:pPr algn="ctr">
              <a:lnSpc>
                <a:spcPct val="110000"/>
              </a:lnSpc>
            </a:pPr>
            <a:r>
              <a:rPr sz="1500" b="1">
                <a:solidFill>
                  <a:srgbClr val="E8EAED"/>
                </a:solidFill>
                <a:latin typeface="Arial"/>
                <a:ea typeface="Arial"/>
              </a:rPr>
              <a:t>05 Execution</a:t>
            </a:r>
          </a:p>
        </p:txBody>
      </p:sp>
      <p:sp>
        <p:nvSpPr>
          <p:cNvPr id="21" name="TextBox 21">
            <a:extLst>
              <a:ext uri="{FF2B5EF4-FFF2-40B4-BE49-F238E27FC236}">
                <a16:creationId xmlns:a16="http://schemas.microsoft.com/office/drawing/2014/main" id="{BB5026E1-B31C-4C34-8184-80A86B310C9A}"/>
              </a:ext>
            </a:extLst>
          </p:cNvPr>
          <p:cNvSpPr txBox="1"/>
          <p:nvPr/>
        </p:nvSpPr>
        <p:spPr>
          <a:xfrm>
            <a:off x="7915275" y="3352800"/>
            <a:ext cx="1771650" cy="628650"/>
          </a:xfrm>
        </p:spPr>
        <p:txBody>
          <a:bodyPr wrap="square" rtlCol="0" lIns="0" tIns="0" rIns="0" bIns="0" anchor="t"/>
          <a:lstStyle/>
          <a:p>
            <a:pPr algn="ctr">
              <a:lnSpc>
                <a:spcPct val="140000"/>
              </a:lnSpc>
            </a:pPr>
            <a:r>
              <a:rPr sz="1150">
                <a:solidFill>
                  <a:srgbClr val="9AA1AB"/>
                </a:solidFill>
                <a:latin typeface="Arial"/>
                <a:ea typeface="Arial"/>
              </a:rPr>
              <a:t>24×7 bots + manual trading terminal</a:t>
            </a:r>
          </a:p>
        </p:txBody>
      </p:sp>
      <p:sp>
        <p:nvSpPr>
          <p:cNvPr id="22" name="TextBox 22">
            <a:extLst>
              <a:ext uri="{FF2B5EF4-FFF2-40B4-BE49-F238E27FC236}">
                <a16:creationId xmlns:a16="http://schemas.microsoft.com/office/drawing/2014/main" id="{0D89FDEE-5AD5-42BE-9FFE-344F4170A9AC}"/>
              </a:ext>
            </a:extLst>
          </p:cNvPr>
          <p:cNvSpPr txBox="1"/>
          <p:nvPr/>
        </p:nvSpPr>
        <p:spPr>
          <a:xfrm>
            <a:off x="9715500" y="2628900"/>
            <a:ext cx="1809750" cy="247650"/>
          </a:xfrm>
        </p:spPr>
        <p:txBody>
          <a:bodyPr wrap="square" rtlCol="0" lIns="0" tIns="0" rIns="0" bIns="0" anchor="t"/>
          <a:lstStyle/>
          <a:p>
            <a:pPr algn="ctr">
              <a:lnSpc>
                <a:spcPct val="110000"/>
              </a:lnSpc>
            </a:pPr>
            <a:r>
              <a:rPr sz="1500" b="1">
                <a:solidFill>
                  <a:srgbClr val="E8EAED"/>
                </a:solidFill>
                <a:latin typeface="Arial"/>
                <a:ea typeface="Arial"/>
              </a:rPr>
              <a:t>06 Connectivity</a:t>
            </a:r>
          </a:p>
        </p:txBody>
      </p:sp>
      <p:sp>
        <p:nvSpPr>
          <p:cNvPr id="23" name="TextBox 23">
            <a:extLst>
              <a:ext uri="{FF2B5EF4-FFF2-40B4-BE49-F238E27FC236}">
                <a16:creationId xmlns:a16="http://schemas.microsoft.com/office/drawing/2014/main" id="{D6190D7C-5F55-40A6-9D9B-EAB50F19CF9F}"/>
              </a:ext>
            </a:extLst>
          </p:cNvPr>
          <p:cNvSpPr txBox="1"/>
          <p:nvPr/>
        </p:nvSpPr>
        <p:spPr>
          <a:xfrm>
            <a:off x="9715500" y="3352800"/>
            <a:ext cx="1771650" cy="628650"/>
          </a:xfrm>
        </p:spPr>
        <p:txBody>
          <a:bodyPr wrap="square" rtlCol="0" lIns="0" tIns="0" rIns="0" bIns="0" anchor="t"/>
          <a:lstStyle/>
          <a:p>
            <a:pPr algn="ctr">
              <a:lnSpc>
                <a:spcPct val="140000"/>
              </a:lnSpc>
            </a:pPr>
            <a:r>
              <a:rPr sz="1150">
                <a:solidFill>
                  <a:srgbClr val="9AA1AB"/>
                </a:solidFill>
                <a:latin typeface="Arial"/>
                <a:ea typeface="Arial"/>
              </a:rPr>
              <a:t>8 venues + Agent Gateway</a:t>
            </a:r>
          </a:p>
        </p:txBody>
      </p:sp>
      <p:sp>
        <p:nvSpPr>
          <p:cNvPr id="24" name="TextBox 24">
            <a:extLst>
              <a:ext uri="{FF2B5EF4-FFF2-40B4-BE49-F238E27FC236}">
                <a16:creationId xmlns:a16="http://schemas.microsoft.com/office/drawing/2014/main" id="{E2A32B4B-D3FC-44D6-AF8F-DC27665D6A19}"/>
              </a:ext>
            </a:extLst>
          </p:cNvPr>
          <p:cNvSpPr txBox="1"/>
          <p:nvPr/>
        </p:nvSpPr>
        <p:spPr>
          <a:xfrm>
            <a:off x="685800" y="5353050"/>
            <a:ext cx="10820400" cy="266700"/>
          </a:xfrm>
        </p:spPr>
        <p:txBody>
          <a:bodyPr wrap="square" rtlCol="0" lIns="0" tIns="0" rIns="0" bIns="0" anchor="t"/>
          <a:lstStyle/>
          <a:p>
            <a:pPr algn="l">
              <a:lnSpc>
                <a:spcPct val="110000"/>
              </a:lnSpc>
            </a:pPr>
            <a:r>
              <a:rPr sz="1500">
                <a:solidFill>
                  <a:srgbClr val="9AA1AB"/>
                </a:solidFill>
                <a:latin typeface="Arial"/>
                <a:ea typeface="Arial"/>
              </a:rPr>
              <a:t>One account, one dataset, one risk engine — </a:t>
            </a:r>
            <a:r>
              <a:rPr sz="1500" b="1">
                <a:solidFill>
                  <a:srgbClr val="63E2B7"/>
                </a:solidFill>
                <a:latin typeface="Arial"/>
                <a:ea typeface="Arial"/>
              </a:rPr>
              <a:t>the whole flow never leaves the product.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6689B231-0F8F-491B-BAB7-80CF430B9E08}"/>
              </a:ext>
            </a:extLst>
          </p:cNvPr>
          <p:cNvPicPr/>
          <p:nvPr/>
        </p:nvPicPr>
        <p:blipFill>
          <a:blip r:embed="rId2"/>
          <a:srcRect t="5000" b="5000"/>
          <a:stretch>
            <a:fillRect/>
          </a:stretch>
        </p:blipFill>
        <p:spPr>
          <a:xfrm>
            <a:off x="0" y="0"/>
            <a:ext cx="12192000" cy="6858000"/>
          </a:xfrm>
          <a:prstGeom prst="rect">
            <a:avLst/>
          </a:prstGeom>
        </p:spPr>
      </p:pic>
      <p:sp>
        <p:nvSpPr>
          <p:cNvPr id="4" name="Shape 4">
            <a:extLst>
              <a:ext uri="{FF2B5EF4-FFF2-40B4-BE49-F238E27FC236}">
                <a16:creationId xmlns:a16="http://schemas.microsoft.com/office/drawing/2014/main" id="{24CCB08F-1D35-4674-9A14-BDA39610513C}"/>
              </a:ext>
            </a:extLst>
          </p:cNvPr>
          <p:cNvSpPr/>
          <p:nvPr/>
        </p:nvSpPr>
        <p:spPr>
          <a:xfrm>
            <a:off x="0" y="4191000"/>
            <a:ext cx="12192000" cy="2667000"/>
          </a:xfrm>
          <a:prstGeom prst="rect">
            <a:avLst/>
          </a:prstGeom>
          <a:solidFill>
            <a:srgbClr val="07090D">
              <a:alpha val="87843"/>
            </a:srgbClr>
          </a:solidFill>
        </p:spPr>
        <p:txBody>
          <a:bodyPr wrap="square" rtlCol="0"/>
          <a:lstStyle/>
          <a:p>
            <a:r>
              <a:rPr/>
              <a:t/>
            </a:r>
          </a:p>
        </p:txBody>
      </p:sp>
      <p:sp>
        <p:nvSpPr>
          <p:cNvPr id="5" name="TextBox 5">
            <a:extLst>
              <a:ext uri="{FF2B5EF4-FFF2-40B4-BE49-F238E27FC236}">
                <a16:creationId xmlns:a16="http://schemas.microsoft.com/office/drawing/2014/main" id="{0A98658A-5940-44B6-988C-70CD4A6EC544}"/>
              </a:ext>
            </a:extLst>
          </p:cNvPr>
          <p:cNvSpPr txBox="1"/>
          <p:nvPr/>
        </p:nvSpPr>
        <p:spPr>
          <a:xfrm>
            <a:off x="685800" y="4686300"/>
            <a:ext cx="8572500" cy="536448"/>
          </a:xfrm>
        </p:spPr>
        <p:txBody>
          <a:bodyPr wrap="square" rtlCol="0" lIns="0" tIns="0" rIns="0" bIns="0" anchor="t"/>
          <a:lstStyle/>
          <a:p>
            <a:pPr algn="l">
              <a:lnSpc>
                <a:spcPct val="110000"/>
              </a:lnSpc>
            </a:pPr>
            <a:r>
              <a:rPr sz="3200" b="1">
                <a:solidFill>
                  <a:srgbClr val="FFFFFF"/>
                </a:solidFill>
                <a:latin typeface="Arial"/>
                <a:ea typeface="Arial"/>
              </a:rPr>
              <a:t>Already Running in Production</a:t>
            </a:r>
          </a:p>
        </p:txBody>
      </p:sp>
      <p:sp>
        <p:nvSpPr>
          <p:cNvPr id="6" name="TextBox 6">
            <a:extLst>
              <a:ext uri="{FF2B5EF4-FFF2-40B4-BE49-F238E27FC236}">
                <a16:creationId xmlns:a16="http://schemas.microsoft.com/office/drawing/2014/main" id="{F367B610-C19F-405C-B0E9-36437DBE1AD4}"/>
              </a:ext>
            </a:extLst>
          </p:cNvPr>
          <p:cNvSpPr txBox="1"/>
          <p:nvPr/>
        </p:nvSpPr>
        <p:spPr>
          <a:xfrm>
            <a:off x="685800" y="5295900"/>
            <a:ext cx="10096500" cy="285750"/>
          </a:xfrm>
        </p:spPr>
        <p:txBody>
          <a:bodyPr wrap="square" rtlCol="0" lIns="0" tIns="0" rIns="0" bIns="0" anchor="t"/>
          <a:lstStyle/>
          <a:p>
            <a:pPr algn="l">
              <a:lnSpc>
                <a:spcPct val="110000"/>
              </a:lnSpc>
            </a:pPr>
            <a:r>
              <a:rPr sz="1600" b="1">
                <a:solidFill>
                  <a:srgbClr val="63E2B7"/>
                </a:solidFill>
                <a:latin typeface="Arial"/>
                <a:ea typeface="Arial"/>
              </a:rPr>
              <a:t>39 pages · 7 asset classes · 8 trading venues · real-time WebSocket</a:t>
            </a:r>
          </a:p>
        </p:txBody>
      </p:sp>
      <p:sp>
        <p:nvSpPr>
          <p:cNvPr id="7" name="TextBox 7">
            <a:extLst>
              <a:ext uri="{FF2B5EF4-FFF2-40B4-BE49-F238E27FC236}">
                <a16:creationId xmlns:a16="http://schemas.microsoft.com/office/drawing/2014/main" id="{6360D227-666B-4E40-A049-EDEB25851C0A}"/>
              </a:ext>
            </a:extLst>
          </p:cNvPr>
          <p:cNvSpPr txBox="1"/>
          <p:nvPr/>
        </p:nvSpPr>
        <p:spPr>
          <a:xfrm>
            <a:off x="685800" y="5695950"/>
            <a:ext cx="8572500" cy="247650"/>
          </a:xfrm>
        </p:spPr>
        <p:txBody>
          <a:bodyPr wrap="square" rtlCol="0" lIns="0" tIns="0" rIns="0" bIns="0" anchor="t"/>
          <a:lstStyle/>
          <a:p>
            <a:pPr algn="l">
              <a:lnSpc>
                <a:spcPct val="110000"/>
              </a:lnSpc>
            </a:pPr>
            <a:r>
              <a:rPr sz="1250">
                <a:solidFill>
                  <a:srgbClr val="9AA1AB"/>
                </a:solidFill>
                <a:latin typeface="Arial"/>
                <a:ea typeface="Arial"/>
              </a:rPr>
              <a:t>shark.aiorz.cc · screenshots and data from the live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8FABDF3-AFB4-48D9-8789-0F027D59EA28}"/>
              </a:ext>
            </a:extLst>
          </p:cNvPr>
          <p:cNvSpPr txBox="1"/>
          <p:nvPr/>
        </p:nvSpPr>
        <p:spPr>
          <a:xfrm>
            <a:off x="685800" y="457200"/>
            <a:ext cx="7620000" cy="603504"/>
          </a:xfrm>
        </p:spPr>
        <p:txBody>
          <a:bodyPr wrap="square" rtlCol="0" lIns="0" tIns="0" rIns="0" bIns="0" anchor="t"/>
          <a:lstStyle/>
          <a:p>
            <a:pPr algn="l">
              <a:lnSpc>
                <a:spcPct val="110000"/>
              </a:lnSpc>
            </a:pPr>
            <a:r>
              <a:rPr sz="3600" b="1">
                <a:solidFill>
                  <a:srgbClr val="E8EAED"/>
                </a:solidFill>
                <a:latin typeface="Arial"/>
                <a:ea typeface="Arial"/>
              </a:rPr>
              <a:t>Platform Capability Snapshot</a:t>
            </a:r>
          </a:p>
        </p:txBody>
      </p:sp>
      <p:sp>
        <p:nvSpPr>
          <p:cNvPr id="4" name="TextBox 4">
            <a:extLst>
              <a:ext uri="{FF2B5EF4-FFF2-40B4-BE49-F238E27FC236}">
                <a16:creationId xmlns:a16="http://schemas.microsoft.com/office/drawing/2014/main" id="{18806215-83F3-4E10-87D8-3CB07C81C660}"/>
              </a:ext>
            </a:extLst>
          </p:cNvPr>
          <p:cNvSpPr txBox="1"/>
          <p:nvPr/>
        </p:nvSpPr>
        <p:spPr>
          <a:xfrm>
            <a:off x="685800" y="1104900"/>
            <a:ext cx="8572500" cy="266700"/>
          </a:xfrm>
        </p:spPr>
        <p:txBody>
          <a:bodyPr wrap="square" rtlCol="0" lIns="0" tIns="0" rIns="0" bIns="0" anchor="t"/>
          <a:lstStyle/>
          <a:p>
            <a:pPr algn="l">
              <a:lnSpc>
                <a:spcPct val="110000"/>
              </a:lnSpc>
            </a:pPr>
            <a:r>
              <a:rPr sz="1500">
                <a:solidFill>
                  <a:srgbClr val="9AA1AB"/>
                </a:solidFill>
                <a:latin typeface="Arial"/>
                <a:ea typeface="Arial"/>
              </a:rPr>
              <a:t>Every number verifiable in production</a:t>
            </a:r>
          </a:p>
        </p:txBody>
      </p:sp>
      <p:sp>
        <p:nvSpPr>
          <p:cNvPr id="5" name="Shape 5">
            <a:extLst>
              <a:ext uri="{FF2B5EF4-FFF2-40B4-BE49-F238E27FC236}">
                <a16:creationId xmlns:a16="http://schemas.microsoft.com/office/drawing/2014/main" id="{5D90B33F-CF00-4764-BFD9-24031EDA7299}"/>
              </a:ext>
            </a:extLst>
          </p:cNvPr>
          <p:cNvSpPr/>
          <p:nvPr/>
        </p:nvSpPr>
        <p:spPr>
          <a:xfrm>
            <a:off x="685800" y="1962150"/>
            <a:ext cx="1676400" cy="1905000"/>
          </a:xfrm>
          <a:prstGeom prst="roundRect">
            <a:avLst/>
          </a:prstGeom>
          <a:solidFill>
            <a:srgbClr val="14181F"/>
          </a:solidFill>
          <a:ln w="12700">
            <a:solidFill>
              <a:srgbClr val="232A33"/>
            </a:solidFill>
          </a:ln>
        </p:spPr>
        <p:txBody>
          <a:bodyPr wrap="square" rtlCol="0"/>
          <a:lstStyle/>
          <a:p>
            <a:r>
              <a:rPr/>
              <a:t/>
            </a:r>
          </a:p>
        </p:txBody>
      </p:sp>
      <p:sp>
        <p:nvSpPr>
          <p:cNvPr id="6" name="Shape 6">
            <a:extLst>
              <a:ext uri="{FF2B5EF4-FFF2-40B4-BE49-F238E27FC236}">
                <a16:creationId xmlns:a16="http://schemas.microsoft.com/office/drawing/2014/main" id="{2B56F28B-0352-4195-8EBC-023BAA2F7465}"/>
              </a:ext>
            </a:extLst>
          </p:cNvPr>
          <p:cNvSpPr/>
          <p:nvPr/>
        </p:nvSpPr>
        <p:spPr>
          <a:xfrm>
            <a:off x="2514600" y="1962150"/>
            <a:ext cx="1676400" cy="1905000"/>
          </a:xfrm>
          <a:prstGeom prst="roundRect">
            <a:avLst/>
          </a:prstGeom>
          <a:solidFill>
            <a:srgbClr val="14181F"/>
          </a:solidFill>
          <a:ln w="12700">
            <a:solidFill>
              <a:srgbClr val="232A33"/>
            </a:solidFill>
          </a:ln>
        </p:spPr>
        <p:txBody>
          <a:bodyPr wrap="square" rtlCol="0"/>
          <a:lstStyle/>
          <a:p>
            <a:r>
              <a:rPr/>
              <a:t/>
            </a:r>
          </a:p>
        </p:txBody>
      </p:sp>
      <p:sp>
        <p:nvSpPr>
          <p:cNvPr id="7" name="Shape 7">
            <a:extLst>
              <a:ext uri="{FF2B5EF4-FFF2-40B4-BE49-F238E27FC236}">
                <a16:creationId xmlns:a16="http://schemas.microsoft.com/office/drawing/2014/main" id="{8111B10E-349D-46AF-8650-4E5A5C7CC6EB}"/>
              </a:ext>
            </a:extLst>
          </p:cNvPr>
          <p:cNvSpPr/>
          <p:nvPr/>
        </p:nvSpPr>
        <p:spPr>
          <a:xfrm>
            <a:off x="4343400" y="1962150"/>
            <a:ext cx="1676400" cy="1905000"/>
          </a:xfrm>
          <a:prstGeom prst="roundRect">
            <a:avLst/>
          </a:prstGeom>
          <a:solidFill>
            <a:srgbClr val="14181F"/>
          </a:solidFill>
          <a:ln w="12700">
            <a:solidFill>
              <a:srgbClr val="232A33"/>
            </a:solidFill>
          </a:ln>
        </p:spPr>
        <p:txBody>
          <a:bodyPr wrap="square" rtlCol="0"/>
          <a:lstStyle/>
          <a:p>
            <a:r>
              <a:rPr/>
              <a:t/>
            </a:r>
          </a:p>
        </p:txBody>
      </p:sp>
      <p:sp>
        <p:nvSpPr>
          <p:cNvPr id="8" name="Shape 8">
            <a:extLst>
              <a:ext uri="{FF2B5EF4-FFF2-40B4-BE49-F238E27FC236}">
                <a16:creationId xmlns:a16="http://schemas.microsoft.com/office/drawing/2014/main" id="{15FEDA5E-0FB7-4001-A71D-A43597EFE7DC}"/>
              </a:ext>
            </a:extLst>
          </p:cNvPr>
          <p:cNvSpPr/>
          <p:nvPr/>
        </p:nvSpPr>
        <p:spPr>
          <a:xfrm>
            <a:off x="6172200" y="1962150"/>
            <a:ext cx="1676400" cy="1905000"/>
          </a:xfrm>
          <a:prstGeom prst="roundRect">
            <a:avLst/>
          </a:prstGeom>
          <a:solidFill>
            <a:srgbClr val="14181F"/>
          </a:solidFill>
          <a:ln w="12700">
            <a:solidFill>
              <a:srgbClr val="232A33"/>
            </a:solidFill>
          </a:ln>
        </p:spPr>
        <p:txBody>
          <a:bodyPr wrap="square" rtlCol="0"/>
          <a:lstStyle/>
          <a:p>
            <a:r>
              <a:rPr/>
              <a:t/>
            </a:r>
          </a:p>
        </p:txBody>
      </p:sp>
      <p:sp>
        <p:nvSpPr>
          <p:cNvPr id="9" name="Shape 9">
            <a:extLst>
              <a:ext uri="{FF2B5EF4-FFF2-40B4-BE49-F238E27FC236}">
                <a16:creationId xmlns:a16="http://schemas.microsoft.com/office/drawing/2014/main" id="{1E28D7A3-DF85-407A-9434-8C413A6CAFBE}"/>
              </a:ext>
            </a:extLst>
          </p:cNvPr>
          <p:cNvSpPr/>
          <p:nvPr/>
        </p:nvSpPr>
        <p:spPr>
          <a:xfrm>
            <a:off x="8001000" y="1962150"/>
            <a:ext cx="1676400" cy="1905000"/>
          </a:xfrm>
          <a:prstGeom prst="roundRect">
            <a:avLst/>
          </a:prstGeom>
          <a:solidFill>
            <a:srgbClr val="14181F"/>
          </a:solidFill>
          <a:ln w="12700">
            <a:solidFill>
              <a:srgbClr val="232A33"/>
            </a:solidFill>
          </a:ln>
        </p:spPr>
        <p:txBody>
          <a:bodyPr wrap="square" rtlCol="0"/>
          <a:lstStyle/>
          <a:p>
            <a:r>
              <a:rPr/>
              <a:t/>
            </a:r>
          </a:p>
        </p:txBody>
      </p:sp>
      <p:sp>
        <p:nvSpPr>
          <p:cNvPr id="10" name="Shape 10">
            <a:extLst>
              <a:ext uri="{FF2B5EF4-FFF2-40B4-BE49-F238E27FC236}">
                <a16:creationId xmlns:a16="http://schemas.microsoft.com/office/drawing/2014/main" id="{F51016FE-DA39-49EF-8B8F-BECBB5213516}"/>
              </a:ext>
            </a:extLst>
          </p:cNvPr>
          <p:cNvSpPr/>
          <p:nvPr/>
        </p:nvSpPr>
        <p:spPr>
          <a:xfrm>
            <a:off x="9829800" y="1962150"/>
            <a:ext cx="1676400" cy="1905000"/>
          </a:xfrm>
          <a:prstGeom prst="roundRect">
            <a:avLst/>
          </a:prstGeom>
          <a:solidFill>
            <a:srgbClr val="14181F"/>
          </a:solidFill>
          <a:ln w="12700">
            <a:solidFill>
              <a:srgbClr val="232A33"/>
            </a:solidFill>
          </a:ln>
        </p:spPr>
        <p:txBody>
          <a:bodyPr wrap="square" rtlCol="0"/>
          <a:lstStyle/>
          <a:p>
            <a:r>
              <a:rPr/>
              <a:t/>
            </a:r>
          </a:p>
        </p:txBody>
      </p:sp>
      <p:sp>
        <p:nvSpPr>
          <p:cNvPr id="11" name="TextBox 11">
            <a:extLst>
              <a:ext uri="{FF2B5EF4-FFF2-40B4-BE49-F238E27FC236}">
                <a16:creationId xmlns:a16="http://schemas.microsoft.com/office/drawing/2014/main" id="{3BA1496F-DD4E-4266-A0D8-A619CB6068A6}"/>
              </a:ext>
            </a:extLst>
          </p:cNvPr>
          <p:cNvSpPr txBox="1"/>
          <p:nvPr/>
        </p:nvSpPr>
        <p:spPr>
          <a:xfrm>
            <a:off x="838200" y="2152650"/>
            <a:ext cx="1371600" cy="571500"/>
          </a:xfrm>
        </p:spPr>
        <p:txBody>
          <a:bodyPr wrap="square" rtlCol="0" lIns="0" tIns="0" rIns="0" bIns="0" anchor="t"/>
          <a:lstStyle/>
          <a:p>
            <a:pPr algn="l">
              <a:lnSpc>
                <a:spcPct val="110000"/>
              </a:lnSpc>
            </a:pPr>
            <a:r>
              <a:rPr sz="3400" b="1">
                <a:solidFill>
                  <a:srgbClr val="63E2B7"/>
                </a:solidFill>
                <a:latin typeface="Arial"/>
                <a:ea typeface="Arial"/>
              </a:rPr>
              <a:t>39</a:t>
            </a:r>
          </a:p>
        </p:txBody>
      </p:sp>
      <p:sp>
        <p:nvSpPr>
          <p:cNvPr id="12" name="TextBox 12">
            <a:extLst>
              <a:ext uri="{FF2B5EF4-FFF2-40B4-BE49-F238E27FC236}">
                <a16:creationId xmlns:a16="http://schemas.microsoft.com/office/drawing/2014/main" id="{F6851C80-68E2-475D-B7CD-48651F9251D7}"/>
              </a:ext>
            </a:extLst>
          </p:cNvPr>
          <p:cNvSpPr txBox="1"/>
          <p:nvPr/>
        </p:nvSpPr>
        <p:spPr>
          <a:xfrm>
            <a:off x="838200" y="2819400"/>
            <a:ext cx="1371600" cy="228600"/>
          </a:xfrm>
        </p:spPr>
        <p:txBody>
          <a:bodyPr wrap="square" rtlCol="0" lIns="0" tIns="0" rIns="0" bIns="0" anchor="t"/>
          <a:lstStyle/>
          <a:p>
            <a:pPr algn="l">
              <a:lnSpc>
                <a:spcPct val="110000"/>
              </a:lnSpc>
            </a:pPr>
            <a:r>
              <a:rPr sz="1300" b="1">
                <a:solidFill>
                  <a:srgbClr val="E8EAED"/>
                </a:solidFill>
                <a:latin typeface="Arial"/>
                <a:ea typeface="Arial"/>
              </a:rPr>
              <a:t>Feature pages</a:t>
            </a:r>
          </a:p>
        </p:txBody>
      </p:sp>
      <p:sp>
        <p:nvSpPr>
          <p:cNvPr id="13" name="TextBox 13">
            <a:extLst>
              <a:ext uri="{FF2B5EF4-FFF2-40B4-BE49-F238E27FC236}">
                <a16:creationId xmlns:a16="http://schemas.microsoft.com/office/drawing/2014/main" id="{9560522E-9FA3-4B0E-85C1-DC7DCE85EBCF}"/>
              </a:ext>
            </a:extLst>
          </p:cNvPr>
          <p:cNvSpPr txBox="1"/>
          <p:nvPr/>
        </p:nvSpPr>
        <p:spPr>
          <a:xfrm>
            <a:off x="838200" y="3124200"/>
            <a:ext cx="1371600" cy="571500"/>
          </a:xfrm>
        </p:spPr>
        <p:txBody>
          <a:bodyPr wrap="square" rtlCol="0" lIns="0" tIns="0" rIns="0" bIns="0" anchor="t"/>
          <a:lstStyle/>
          <a:p>
            <a:pPr algn="l">
              <a:lnSpc>
                <a:spcPct val="140000"/>
              </a:lnSpc>
            </a:pPr>
            <a:r>
              <a:rPr sz="1100">
                <a:solidFill>
                  <a:srgbClr val="9AA1AB"/>
                </a:solidFill>
                <a:latin typeface="Arial"/>
                <a:ea typeface="Arial"/>
              </a:rPr>
              <a:t>From charts to ops console</a:t>
            </a:r>
          </a:p>
        </p:txBody>
      </p:sp>
      <p:sp>
        <p:nvSpPr>
          <p:cNvPr id="14" name="TextBox 14">
            <a:extLst>
              <a:ext uri="{FF2B5EF4-FFF2-40B4-BE49-F238E27FC236}">
                <a16:creationId xmlns:a16="http://schemas.microsoft.com/office/drawing/2014/main" id="{1C8B8333-59A8-472E-98D4-53D8C1D5FE6B}"/>
              </a:ext>
            </a:extLst>
          </p:cNvPr>
          <p:cNvSpPr txBox="1"/>
          <p:nvPr/>
        </p:nvSpPr>
        <p:spPr>
          <a:xfrm>
            <a:off x="2667000" y="2152650"/>
            <a:ext cx="1371600" cy="571500"/>
          </a:xfrm>
        </p:spPr>
        <p:txBody>
          <a:bodyPr wrap="square" rtlCol="0" lIns="0" tIns="0" rIns="0" bIns="0" anchor="t"/>
          <a:lstStyle/>
          <a:p>
            <a:pPr algn="l">
              <a:lnSpc>
                <a:spcPct val="110000"/>
              </a:lnSpc>
            </a:pPr>
            <a:r>
              <a:rPr sz="3400" b="1">
                <a:solidFill>
                  <a:srgbClr val="63E2B7"/>
                </a:solidFill>
                <a:latin typeface="Arial"/>
                <a:ea typeface="Arial"/>
              </a:rPr>
              <a:t>7</a:t>
            </a:r>
          </a:p>
        </p:txBody>
      </p:sp>
      <p:sp>
        <p:nvSpPr>
          <p:cNvPr id="15" name="TextBox 15">
            <a:extLst>
              <a:ext uri="{FF2B5EF4-FFF2-40B4-BE49-F238E27FC236}">
                <a16:creationId xmlns:a16="http://schemas.microsoft.com/office/drawing/2014/main" id="{2F7844CB-5A4E-4A79-A501-ECE724233F34}"/>
              </a:ext>
            </a:extLst>
          </p:cNvPr>
          <p:cNvSpPr txBox="1"/>
          <p:nvPr/>
        </p:nvSpPr>
        <p:spPr>
          <a:xfrm>
            <a:off x="2667000" y="2819400"/>
            <a:ext cx="1371600" cy="228600"/>
          </a:xfrm>
        </p:spPr>
        <p:txBody>
          <a:bodyPr wrap="square" rtlCol="0" lIns="0" tIns="0" rIns="0" bIns="0" anchor="t"/>
          <a:lstStyle/>
          <a:p>
            <a:pPr algn="l">
              <a:lnSpc>
                <a:spcPct val="110000"/>
              </a:lnSpc>
            </a:pPr>
            <a:r>
              <a:rPr sz="1300" b="1">
                <a:solidFill>
                  <a:srgbClr val="E8EAED"/>
                </a:solidFill>
                <a:latin typeface="Arial"/>
                <a:ea typeface="Arial"/>
              </a:rPr>
              <a:t>Asset classes</a:t>
            </a:r>
          </a:p>
        </p:txBody>
      </p:sp>
      <p:sp>
        <p:nvSpPr>
          <p:cNvPr id="16" name="TextBox 16">
            <a:extLst>
              <a:ext uri="{FF2B5EF4-FFF2-40B4-BE49-F238E27FC236}">
                <a16:creationId xmlns:a16="http://schemas.microsoft.com/office/drawing/2014/main" id="{8DEAC4FD-FDA8-4959-BE68-C67E551C40C5}"/>
              </a:ext>
            </a:extLst>
          </p:cNvPr>
          <p:cNvSpPr txBox="1"/>
          <p:nvPr/>
        </p:nvSpPr>
        <p:spPr>
          <a:xfrm>
            <a:off x="2667000" y="3124200"/>
            <a:ext cx="1371600" cy="571500"/>
          </a:xfrm>
        </p:spPr>
        <p:txBody>
          <a:bodyPr wrap="square" rtlCol="0" lIns="0" tIns="0" rIns="0" bIns="0" anchor="t"/>
          <a:lstStyle/>
          <a:p>
            <a:pPr algn="l">
              <a:lnSpc>
                <a:spcPct val="140000"/>
              </a:lnSpc>
            </a:pPr>
            <a:r>
              <a:rPr sz="1100">
                <a:solidFill>
                  <a:srgbClr val="9AA1AB"/>
                </a:solidFill>
                <a:latin typeface="Arial"/>
                <a:ea typeface="Arial"/>
              </a:rPr>
              <a:t>Crypto · US · HK · FX · futures…</a:t>
            </a:r>
          </a:p>
        </p:txBody>
      </p:sp>
      <p:sp>
        <p:nvSpPr>
          <p:cNvPr id="17" name="TextBox 17">
            <a:extLst>
              <a:ext uri="{FF2B5EF4-FFF2-40B4-BE49-F238E27FC236}">
                <a16:creationId xmlns:a16="http://schemas.microsoft.com/office/drawing/2014/main" id="{90A43778-9C08-4F22-A8A5-49A5D3D51C7C}"/>
              </a:ext>
            </a:extLst>
          </p:cNvPr>
          <p:cNvSpPr txBox="1"/>
          <p:nvPr/>
        </p:nvSpPr>
        <p:spPr>
          <a:xfrm>
            <a:off x="4495800" y="2152650"/>
            <a:ext cx="1371600" cy="571500"/>
          </a:xfrm>
        </p:spPr>
        <p:txBody>
          <a:bodyPr wrap="square" rtlCol="0" lIns="0" tIns="0" rIns="0" bIns="0" anchor="t"/>
          <a:lstStyle/>
          <a:p>
            <a:pPr algn="l">
              <a:lnSpc>
                <a:spcPct val="110000"/>
              </a:lnSpc>
            </a:pPr>
            <a:r>
              <a:rPr sz="3400" b="1">
                <a:solidFill>
                  <a:srgbClr val="63E2B7"/>
                </a:solidFill>
                <a:latin typeface="Arial"/>
                <a:ea typeface="Arial"/>
              </a:rPr>
              <a:t>8</a:t>
            </a:r>
          </a:p>
        </p:txBody>
      </p:sp>
      <p:sp>
        <p:nvSpPr>
          <p:cNvPr id="18" name="TextBox 18">
            <a:extLst>
              <a:ext uri="{FF2B5EF4-FFF2-40B4-BE49-F238E27FC236}">
                <a16:creationId xmlns:a16="http://schemas.microsoft.com/office/drawing/2014/main" id="{E57FA3A5-4CD7-4FD3-9E37-D1EEF16B2C3B}"/>
              </a:ext>
            </a:extLst>
          </p:cNvPr>
          <p:cNvSpPr txBox="1"/>
          <p:nvPr/>
        </p:nvSpPr>
        <p:spPr>
          <a:xfrm>
            <a:off x="4495800" y="2819400"/>
            <a:ext cx="1371600" cy="228600"/>
          </a:xfrm>
        </p:spPr>
        <p:txBody>
          <a:bodyPr wrap="square" rtlCol="0" lIns="0" tIns="0" rIns="0" bIns="0" anchor="t"/>
          <a:lstStyle/>
          <a:p>
            <a:pPr algn="l">
              <a:lnSpc>
                <a:spcPct val="110000"/>
              </a:lnSpc>
            </a:pPr>
            <a:r>
              <a:rPr sz="1300" b="1">
                <a:solidFill>
                  <a:srgbClr val="E8EAED"/>
                </a:solidFill>
                <a:latin typeface="Arial"/>
                <a:ea typeface="Arial"/>
              </a:rPr>
              <a:t>Trading venues</a:t>
            </a:r>
          </a:p>
        </p:txBody>
      </p:sp>
      <p:sp>
        <p:nvSpPr>
          <p:cNvPr id="19" name="TextBox 19">
            <a:extLst>
              <a:ext uri="{FF2B5EF4-FFF2-40B4-BE49-F238E27FC236}">
                <a16:creationId xmlns:a16="http://schemas.microsoft.com/office/drawing/2014/main" id="{492382F8-E2D2-4928-A3FC-8B60DAEC4D6E}"/>
              </a:ext>
            </a:extLst>
          </p:cNvPr>
          <p:cNvSpPr txBox="1"/>
          <p:nvPr/>
        </p:nvSpPr>
        <p:spPr>
          <a:xfrm>
            <a:off x="4495800" y="3124200"/>
            <a:ext cx="1371600" cy="571500"/>
          </a:xfrm>
        </p:spPr>
        <p:txBody>
          <a:bodyPr wrap="square" rtlCol="0" lIns="0" tIns="0" rIns="0" bIns="0" anchor="t"/>
          <a:lstStyle/>
          <a:p>
            <a:pPr algn="l">
              <a:lnSpc>
                <a:spcPct val="140000"/>
              </a:lnSpc>
            </a:pPr>
            <a:r>
              <a:rPr sz="1100">
                <a:solidFill>
                  <a:srgbClr val="9AA1AB"/>
                </a:solidFill>
                <a:latin typeface="Arial"/>
                <a:ea typeface="Arial"/>
              </a:rPr>
              <a:t>6 exchanges + IBKR / Alpaca</a:t>
            </a:r>
          </a:p>
        </p:txBody>
      </p:sp>
      <p:sp>
        <p:nvSpPr>
          <p:cNvPr id="20" name="TextBox 20">
            <a:extLst>
              <a:ext uri="{FF2B5EF4-FFF2-40B4-BE49-F238E27FC236}">
                <a16:creationId xmlns:a16="http://schemas.microsoft.com/office/drawing/2014/main" id="{E0591C37-3ADF-4BDF-AA24-400161A42601}"/>
              </a:ext>
            </a:extLst>
          </p:cNvPr>
          <p:cNvSpPr txBox="1"/>
          <p:nvPr/>
        </p:nvSpPr>
        <p:spPr>
          <a:xfrm>
            <a:off x="6324600" y="2152650"/>
            <a:ext cx="1371600" cy="571500"/>
          </a:xfrm>
        </p:spPr>
        <p:txBody>
          <a:bodyPr wrap="square" rtlCol="0" lIns="0" tIns="0" rIns="0" bIns="0" anchor="t"/>
          <a:lstStyle/>
          <a:p>
            <a:pPr algn="l">
              <a:lnSpc>
                <a:spcPct val="110000"/>
              </a:lnSpc>
            </a:pPr>
            <a:r>
              <a:rPr sz="3400" b="1">
                <a:solidFill>
                  <a:srgbClr val="63E2B7"/>
                </a:solidFill>
                <a:latin typeface="Arial"/>
                <a:ea typeface="Arial"/>
              </a:rPr>
              <a:t>264</a:t>
            </a:r>
          </a:p>
        </p:txBody>
      </p:sp>
      <p:sp>
        <p:nvSpPr>
          <p:cNvPr id="21" name="TextBox 21">
            <a:extLst>
              <a:ext uri="{FF2B5EF4-FFF2-40B4-BE49-F238E27FC236}">
                <a16:creationId xmlns:a16="http://schemas.microsoft.com/office/drawing/2014/main" id="{4A1F7DEE-73D3-445C-B473-118E4EDF968C}"/>
              </a:ext>
            </a:extLst>
          </p:cNvPr>
          <p:cNvSpPr txBox="1"/>
          <p:nvPr/>
        </p:nvSpPr>
        <p:spPr>
          <a:xfrm>
            <a:off x="6324600" y="2819400"/>
            <a:ext cx="1371600" cy="228600"/>
          </a:xfrm>
        </p:spPr>
        <p:txBody>
          <a:bodyPr wrap="square" rtlCol="0" lIns="0" tIns="0" rIns="0" bIns="0" anchor="t"/>
          <a:lstStyle/>
          <a:p>
            <a:pPr algn="l">
              <a:lnSpc>
                <a:spcPct val="110000"/>
              </a:lnSpc>
            </a:pPr>
            <a:r>
              <a:rPr sz="1300" b="1">
                <a:solidFill>
                  <a:srgbClr val="E8EAED"/>
                </a:solidFill>
                <a:latin typeface="Arial"/>
                <a:ea typeface="Arial"/>
              </a:rPr>
              <a:t>Quant factors</a:t>
            </a:r>
          </a:p>
        </p:txBody>
      </p:sp>
      <p:sp>
        <p:nvSpPr>
          <p:cNvPr id="22" name="TextBox 22">
            <a:extLst>
              <a:ext uri="{FF2B5EF4-FFF2-40B4-BE49-F238E27FC236}">
                <a16:creationId xmlns:a16="http://schemas.microsoft.com/office/drawing/2014/main" id="{8041421A-CD39-455C-9B0E-9F2B308D5546}"/>
              </a:ext>
            </a:extLst>
          </p:cNvPr>
          <p:cNvSpPr txBox="1"/>
          <p:nvPr/>
        </p:nvSpPr>
        <p:spPr>
          <a:xfrm>
            <a:off x="6324600" y="3124200"/>
            <a:ext cx="1371600" cy="571500"/>
          </a:xfrm>
        </p:spPr>
        <p:txBody>
          <a:bodyPr wrap="square" rtlCol="0" lIns="0" tIns="0" rIns="0" bIns="0" anchor="t"/>
          <a:lstStyle/>
          <a:p>
            <a:pPr algn="l">
              <a:lnSpc>
                <a:spcPct val="140000"/>
              </a:lnSpc>
            </a:pPr>
            <a:r>
              <a:rPr sz="1100">
                <a:solidFill>
                  <a:srgbClr val="9AA1AB"/>
                </a:solidFill>
                <a:latin typeface="Arial"/>
                <a:ea typeface="Arial"/>
              </a:rPr>
              <a:t>Factor library + research</a:t>
            </a:r>
          </a:p>
        </p:txBody>
      </p:sp>
      <p:sp>
        <p:nvSpPr>
          <p:cNvPr id="23" name="TextBox 23">
            <a:extLst>
              <a:ext uri="{FF2B5EF4-FFF2-40B4-BE49-F238E27FC236}">
                <a16:creationId xmlns:a16="http://schemas.microsoft.com/office/drawing/2014/main" id="{0A14E37F-03CA-4C3D-A542-9E3B875D942F}"/>
              </a:ext>
            </a:extLst>
          </p:cNvPr>
          <p:cNvSpPr txBox="1"/>
          <p:nvPr/>
        </p:nvSpPr>
        <p:spPr>
          <a:xfrm>
            <a:off x="8153400" y="2152650"/>
            <a:ext cx="1371600" cy="571500"/>
          </a:xfrm>
        </p:spPr>
        <p:txBody>
          <a:bodyPr wrap="square" rtlCol="0" lIns="0" tIns="0" rIns="0" bIns="0" anchor="t"/>
          <a:lstStyle/>
          <a:p>
            <a:pPr algn="l">
              <a:lnSpc>
                <a:spcPct val="110000"/>
              </a:lnSpc>
            </a:pPr>
            <a:r>
              <a:rPr sz="3400" b="1">
                <a:solidFill>
                  <a:srgbClr val="63E2B7"/>
                </a:solidFill>
                <a:latin typeface="Arial"/>
                <a:ea typeface="Arial"/>
              </a:rPr>
              <a:t>58</a:t>
            </a:r>
          </a:p>
        </p:txBody>
      </p:sp>
      <p:sp>
        <p:nvSpPr>
          <p:cNvPr id="24" name="TextBox 24">
            <a:extLst>
              <a:ext uri="{FF2B5EF4-FFF2-40B4-BE49-F238E27FC236}">
                <a16:creationId xmlns:a16="http://schemas.microsoft.com/office/drawing/2014/main" id="{0ACD2DB7-B64F-4A12-A4C8-0B3B0AECBCC2}"/>
              </a:ext>
            </a:extLst>
          </p:cNvPr>
          <p:cNvSpPr txBox="1"/>
          <p:nvPr/>
        </p:nvSpPr>
        <p:spPr>
          <a:xfrm>
            <a:off x="8153400" y="2819400"/>
            <a:ext cx="1371600" cy="228600"/>
          </a:xfrm>
        </p:spPr>
        <p:txBody>
          <a:bodyPr wrap="square" rtlCol="0" lIns="0" tIns="0" rIns="0" bIns="0" anchor="t"/>
          <a:lstStyle/>
          <a:p>
            <a:pPr algn="l">
              <a:lnSpc>
                <a:spcPct val="110000"/>
              </a:lnSpc>
            </a:pPr>
            <a:r>
              <a:rPr sz="1300" b="1">
                <a:solidFill>
                  <a:srgbClr val="E8EAED"/>
                </a:solidFill>
                <a:latin typeface="Arial"/>
                <a:ea typeface="Arial"/>
              </a:rPr>
              <a:t>MCP tools</a:t>
            </a:r>
          </a:p>
        </p:txBody>
      </p:sp>
      <p:sp>
        <p:nvSpPr>
          <p:cNvPr id="25" name="TextBox 25">
            <a:extLst>
              <a:ext uri="{FF2B5EF4-FFF2-40B4-BE49-F238E27FC236}">
                <a16:creationId xmlns:a16="http://schemas.microsoft.com/office/drawing/2014/main" id="{9D684AE2-BCA2-49C6-BC97-3529254C186F}"/>
              </a:ext>
            </a:extLst>
          </p:cNvPr>
          <p:cNvSpPr txBox="1"/>
          <p:nvPr/>
        </p:nvSpPr>
        <p:spPr>
          <a:xfrm>
            <a:off x="8153400" y="3124200"/>
            <a:ext cx="1371600" cy="571500"/>
          </a:xfrm>
        </p:spPr>
        <p:txBody>
          <a:bodyPr wrap="square" rtlCol="0" lIns="0" tIns="0" rIns="0" bIns="0" anchor="t"/>
          <a:lstStyle/>
          <a:p>
            <a:pPr algn="l">
              <a:lnSpc>
                <a:spcPct val="140000"/>
              </a:lnSpc>
            </a:pPr>
            <a:r>
              <a:rPr sz="1100">
                <a:solidFill>
                  <a:srgbClr val="9AA1AB"/>
                </a:solidFill>
                <a:latin typeface="Arial"/>
                <a:ea typeface="Arial"/>
              </a:rPr>
              <a:t>For Cursor / Claude / Codex</a:t>
            </a:r>
          </a:p>
        </p:txBody>
      </p:sp>
      <p:sp>
        <p:nvSpPr>
          <p:cNvPr id="26" name="TextBox 26">
            <a:extLst>
              <a:ext uri="{FF2B5EF4-FFF2-40B4-BE49-F238E27FC236}">
                <a16:creationId xmlns:a16="http://schemas.microsoft.com/office/drawing/2014/main" id="{70D439D3-DE94-4109-BFF1-5990C2E09F1B}"/>
              </a:ext>
            </a:extLst>
          </p:cNvPr>
          <p:cNvSpPr txBox="1"/>
          <p:nvPr/>
        </p:nvSpPr>
        <p:spPr>
          <a:xfrm>
            <a:off x="9982200" y="2152650"/>
            <a:ext cx="1371600" cy="571500"/>
          </a:xfrm>
        </p:spPr>
        <p:txBody>
          <a:bodyPr wrap="square" rtlCol="0" lIns="0" tIns="0" rIns="0" bIns="0" anchor="t"/>
          <a:lstStyle/>
          <a:p>
            <a:pPr algn="l">
              <a:lnSpc>
                <a:spcPct val="110000"/>
              </a:lnSpc>
            </a:pPr>
            <a:r>
              <a:rPr sz="3400" b="1">
                <a:solidFill>
                  <a:srgbClr val="63E2B7"/>
                </a:solidFill>
                <a:latin typeface="Arial"/>
                <a:ea typeface="Arial"/>
              </a:rPr>
              <a:t>18</a:t>
            </a:r>
          </a:p>
        </p:txBody>
      </p:sp>
      <p:sp>
        <p:nvSpPr>
          <p:cNvPr id="27" name="TextBox 27">
            <a:extLst>
              <a:ext uri="{FF2B5EF4-FFF2-40B4-BE49-F238E27FC236}">
                <a16:creationId xmlns:a16="http://schemas.microsoft.com/office/drawing/2014/main" id="{8DEBF01E-3B21-4B9D-92FB-F2040F4AD682}"/>
              </a:ext>
            </a:extLst>
          </p:cNvPr>
          <p:cNvSpPr txBox="1"/>
          <p:nvPr/>
        </p:nvSpPr>
        <p:spPr>
          <a:xfrm>
            <a:off x="9982200" y="2819400"/>
            <a:ext cx="1371600" cy="228600"/>
          </a:xfrm>
        </p:spPr>
        <p:txBody>
          <a:bodyPr wrap="square" rtlCol="0" lIns="0" tIns="0" rIns="0" bIns="0" anchor="t"/>
          <a:lstStyle/>
          <a:p>
            <a:pPr algn="l">
              <a:lnSpc>
                <a:spcPct val="110000"/>
              </a:lnSpc>
            </a:pPr>
            <a:r>
              <a:rPr sz="1300" b="1">
                <a:solidFill>
                  <a:srgbClr val="E8EAED"/>
                </a:solidFill>
                <a:latin typeface="Arial"/>
                <a:ea typeface="Arial"/>
              </a:rPr>
              <a:t>Services</a:t>
            </a:r>
          </a:p>
        </p:txBody>
      </p:sp>
      <p:sp>
        <p:nvSpPr>
          <p:cNvPr id="28" name="TextBox 28">
            <a:extLst>
              <a:ext uri="{FF2B5EF4-FFF2-40B4-BE49-F238E27FC236}">
                <a16:creationId xmlns:a16="http://schemas.microsoft.com/office/drawing/2014/main" id="{CDF60769-43AD-4ECC-9D9C-89D6C083C612}"/>
              </a:ext>
            </a:extLst>
          </p:cNvPr>
          <p:cNvSpPr txBox="1"/>
          <p:nvPr/>
        </p:nvSpPr>
        <p:spPr>
          <a:xfrm>
            <a:off x="9982200" y="3124200"/>
            <a:ext cx="1371600" cy="571500"/>
          </a:xfrm>
        </p:spPr>
        <p:txBody>
          <a:bodyPr wrap="square" rtlCol="0" lIns="0" tIns="0" rIns="0" bIns="0" anchor="t"/>
          <a:lstStyle/>
          <a:p>
            <a:pPr algn="l">
              <a:lnSpc>
                <a:spcPct val="140000"/>
              </a:lnSpc>
            </a:pPr>
            <a:r>
              <a:rPr sz="1100">
                <a:solidFill>
                  <a:srgbClr val="9AA1AB"/>
                </a:solidFill>
                <a:latin typeface="Arial"/>
                <a:ea typeface="Arial"/>
              </a:rPr>
              <a:t>Trading-grade distributed stack</a:t>
            </a:r>
          </a:p>
        </p:txBody>
      </p:sp>
      <p:sp>
        <p:nvSpPr>
          <p:cNvPr id="29" name="TextBox 29">
            <a:extLst>
              <a:ext uri="{FF2B5EF4-FFF2-40B4-BE49-F238E27FC236}">
                <a16:creationId xmlns:a16="http://schemas.microsoft.com/office/drawing/2014/main" id="{63D1C77B-3954-43D8-9F11-76F9E6ADB18F}"/>
              </a:ext>
            </a:extLst>
          </p:cNvPr>
          <p:cNvSpPr txBox="1"/>
          <p:nvPr/>
        </p:nvSpPr>
        <p:spPr>
          <a:xfrm>
            <a:off x="685800" y="5334000"/>
            <a:ext cx="10820400" cy="266700"/>
          </a:xfrm>
        </p:spPr>
        <p:txBody>
          <a:bodyPr wrap="square" rtlCol="0" lIns="0" tIns="0" rIns="0" bIns="0" anchor="t"/>
          <a:lstStyle/>
          <a:p>
            <a:pPr algn="l">
              <a:lnSpc>
                <a:spcPct val="110000"/>
              </a:lnSpc>
            </a:pPr>
            <a:r>
              <a:rPr sz="1450">
                <a:solidFill>
                  <a:srgbClr val="9AA1AB"/>
                </a:solidFill>
                <a:latin typeface="Arial"/>
                <a:ea typeface="Arial"/>
              </a:rPr>
              <a:t>11 output languages · bilingual UI · 48-route bilingual QA · </a:t>
            </a:r>
            <a:r>
              <a:rPr sz="1450" b="1">
                <a:solidFill>
                  <a:srgbClr val="63E2B7"/>
                </a:solidFill>
                <a:latin typeface="Arial"/>
                <a:ea typeface="Arial"/>
              </a:rPr>
              <a:t>0 known dependency vulnerabilities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1151E20-02DB-4EBC-976B-3B1F2042B131}"/>
              </a:ext>
            </a:extLst>
          </p:cNvPr>
          <p:cNvSpPr txBox="1"/>
          <p:nvPr/>
        </p:nvSpPr>
        <p:spPr>
          <a:xfrm>
            <a:off x="685800" y="457200"/>
            <a:ext cx="8191500" cy="603504"/>
          </a:xfrm>
        </p:spPr>
        <p:txBody>
          <a:bodyPr wrap="square" rtlCol="0" lIns="0" tIns="0" rIns="0" bIns="0" anchor="t"/>
          <a:lstStyle/>
          <a:p>
            <a:pPr algn="l">
              <a:lnSpc>
                <a:spcPct val="110000"/>
              </a:lnSpc>
            </a:pPr>
            <a:r>
              <a:rPr sz="3600" b="1">
                <a:solidFill>
                  <a:srgbClr val="E8EAED"/>
                </a:solidFill>
                <a:latin typeface="Arial"/>
                <a:ea typeface="Arial"/>
              </a:rPr>
              <a:t>AI-Native: Not a Bolt-On Button</a:t>
            </a:r>
          </a:p>
        </p:txBody>
      </p:sp>
      <p:sp>
        <p:nvSpPr>
          <p:cNvPr id="4" name="TextBox 4">
            <a:extLst>
              <a:ext uri="{FF2B5EF4-FFF2-40B4-BE49-F238E27FC236}">
                <a16:creationId xmlns:a16="http://schemas.microsoft.com/office/drawing/2014/main" id="{44B04600-F165-4343-A3FE-5EEDFB8C3A7A}"/>
              </a:ext>
            </a:extLst>
          </p:cNvPr>
          <p:cNvSpPr txBox="1"/>
          <p:nvPr/>
        </p:nvSpPr>
        <p:spPr>
          <a:xfrm>
            <a:off x="685800" y="1390650"/>
            <a:ext cx="4953000" cy="4095750"/>
          </a:xfrm>
        </p:spPr>
        <p:txBody>
          <a:bodyPr wrap="square" rtlCol="0" lIns="0" tIns="0" rIns="0" bIns="0" anchor="t"/>
          <a:lstStyle/>
          <a:p>
            <a:pPr algn="l">
              <a:lnSpc>
                <a:spcPct val="130000"/>
              </a:lnSpc>
              <a:spcAft>
                <a:spcPts val="1200"/>
              </a:spcAft>
            </a:pPr>
            <a:r>
              <a:rPr sz="1500" b="1">
                <a:solidFill>
                  <a:srgbClr val="63E2B7"/>
                </a:solidFill>
                <a:latin typeface="Arial"/>
                <a:ea typeface="Arial"/>
              </a:rPr>
              <a:t>Conversational research</a:t>
            </a:r>
            <a:r>
              <a:rPr sz="1250">
                <a:solidFill>
                  <a:srgbClr val="9AA1AB"/>
                </a:solidFill>
                <a:latin typeface="Arial"/>
                <a:ea typeface="Arial"/>
              </a:rPr>
              <a:t> — streaming answers with attachments, grounded in your positions and watchlist</a:t>
            </a:r>
          </a:p>
          <a:p>
            <a:pPr algn="l">
              <a:lnSpc>
                <a:spcPct val="130000"/>
              </a:lnSpc>
              <a:spcAft>
                <a:spcPts val="1200"/>
              </a:spcAft>
            </a:pPr>
            <a:r>
              <a:rPr sz="1500" b="1">
                <a:solidFill>
                  <a:srgbClr val="63E2B7"/>
                </a:solidFill>
                <a:latin typeface="Arial"/>
                <a:ea typeface="Arial"/>
              </a:rPr>
              <a:t>Natural-language strategy generation</a:t>
            </a:r>
            <a:r>
              <a:rPr sz="1250">
                <a:solidFill>
                  <a:srgbClr val="9AA1AB"/>
                </a:solidFill>
                <a:latin typeface="Arial"/>
                <a:ea typeface="Arial"/>
              </a:rPr>
              <a:t> — one sentence to backtestable code to a running bot</a:t>
            </a:r>
          </a:p>
          <a:p>
            <a:pPr algn="l">
              <a:lnSpc>
                <a:spcPct val="130000"/>
              </a:lnSpc>
              <a:spcAft>
                <a:spcPts val="1200"/>
              </a:spcAft>
            </a:pPr>
            <a:r>
              <a:rPr sz="1500" b="1">
                <a:solidFill>
                  <a:srgbClr val="63E2B7"/>
                </a:solidFill>
                <a:latin typeface="Arial"/>
                <a:ea typeface="Arial"/>
              </a:rPr>
              <a:t>AI review reports</a:t>
            </a:r>
            <a:r>
              <a:rPr sz="1250">
                <a:solidFill>
                  <a:srgbClr val="9AA1AB"/>
                </a:solidFill>
                <a:latin typeface="Arial"/>
                <a:ea typeface="Arial"/>
              </a:rPr>
              <a:t> — a pre-launch health check for every strategy (review 10 credits)</a:t>
            </a:r>
          </a:p>
          <a:p>
            <a:pPr algn="l">
              <a:lnSpc>
                <a:spcPct val="130000"/>
              </a:lnSpc>
              <a:spcAft>
                <a:spcPts val="1200"/>
              </a:spcAft>
            </a:pPr>
            <a:r>
              <a:rPr sz="1500" b="1">
                <a:solidFill>
                  <a:srgbClr val="63E2B7"/>
                </a:solidFill>
                <a:latin typeface="Arial"/>
                <a:ea typeface="Arial"/>
              </a:rPr>
              <a:t>Event radar</a:t>
            </a:r>
            <a:r>
              <a:rPr sz="1250">
                <a:solidFill>
                  <a:srgbClr val="9AA1AB"/>
                </a:solidFill>
                <a:latin typeface="Arial"/>
                <a:ea typeface="Arial"/>
              </a:rPr>
              <a:t> — AI assesses global news impact on your books</a:t>
            </a:r>
          </a:p>
          <a:p>
            <a:pPr algn="l">
              <a:lnSpc>
                <a:spcPct val="130000"/>
              </a:lnSpc>
              <a:spcAft>
                <a:spcPts val="0"/>
              </a:spcAft>
            </a:pPr>
            <a:r>
              <a:rPr sz="1500" b="1">
                <a:solidFill>
                  <a:srgbClr val="63E2B7"/>
                </a:solidFill>
                <a:latin typeface="Arial"/>
                <a:ea typeface="Arial"/>
              </a:rPr>
              <a:t>11 output languages</a:t>
            </a:r>
            <a:r>
              <a:rPr sz="1250">
                <a:solidFill>
                  <a:srgbClr val="9AA1AB"/>
                </a:solidFill>
                <a:latin typeface="Arial"/>
                <a:ea typeface="Arial"/>
              </a:rPr>
              <a:t> — bilingual UI, built for global users</a:t>
            </a:r>
          </a:p>
        </p:txBody>
      </p:sp>
      <p:pic>
        <p:nvPicPr>
          <p:cNvPr id="5" name="Picture 5">
            <a:extLst>
              <a:ext uri="{FF2B5EF4-FFF2-40B4-BE49-F238E27FC236}">
                <a16:creationId xmlns:a16="http://schemas.microsoft.com/office/drawing/2014/main" id="{96155B7D-4363-461A-9E5F-1FBCAF55C267}"/>
              </a:ext>
            </a:extLst>
          </p:cNvPr>
          <p:cNvPicPr/>
          <p:nvPr/>
        </p:nvPicPr>
        <p:blipFill>
          <a:blip r:embed="rId2"/>
          <a:stretch>
            <a:fillRect/>
          </a:stretch>
        </p:blipFill>
        <p:spPr>
          <a:xfrm>
            <a:off x="6248400" y="1428750"/>
            <a:ext cx="5257800" cy="3286125"/>
          </a:xfrm>
          <a:prstGeom prst="rect">
            <a:avLst/>
          </a:prstGeom>
        </p:spPr>
      </p:pic>
      <p:sp>
        <p:nvSpPr>
          <p:cNvPr id="6" name="TextBox 6">
            <a:extLst>
              <a:ext uri="{FF2B5EF4-FFF2-40B4-BE49-F238E27FC236}">
                <a16:creationId xmlns:a16="http://schemas.microsoft.com/office/drawing/2014/main" id="{146E8621-051D-418A-84DC-45EB73F03AF6}"/>
              </a:ext>
            </a:extLst>
          </p:cNvPr>
          <p:cNvSpPr txBox="1"/>
          <p:nvPr/>
        </p:nvSpPr>
        <p:spPr>
          <a:xfrm>
            <a:off x="6248400" y="4838700"/>
            <a:ext cx="5257800" cy="228600"/>
          </a:xfrm>
        </p:spPr>
        <p:txBody>
          <a:bodyPr wrap="square" rtlCol="0" lIns="0" tIns="0" rIns="0" bIns="0" anchor="t"/>
          <a:lstStyle/>
          <a:p>
            <a:pPr algn="l">
              <a:lnSpc>
                <a:spcPct val="110000"/>
              </a:lnSpc>
            </a:pPr>
            <a:r>
              <a:rPr sz="1200">
                <a:solidFill>
                  <a:srgbClr val="6B7280"/>
                </a:solidFill>
                <a:latin typeface="Arial"/>
                <a:ea typeface="Arial"/>
              </a:rPr>
              <a:t>AI chat (live product screenshot)</a:t>
            </a:r>
          </a:p>
        </p:txBody>
      </p:sp>
      <p:sp>
        <p:nvSpPr>
          <p:cNvPr id="7" name="TextBox 7">
            <a:extLst>
              <a:ext uri="{FF2B5EF4-FFF2-40B4-BE49-F238E27FC236}">
                <a16:creationId xmlns:a16="http://schemas.microsoft.com/office/drawing/2014/main" id="{8AE4FA19-645C-4504-94EA-92BCDF837D90}"/>
              </a:ext>
            </a:extLst>
          </p:cNvPr>
          <p:cNvSpPr txBox="1"/>
          <p:nvPr/>
        </p:nvSpPr>
        <p:spPr>
          <a:xfrm>
            <a:off x="685800" y="5676900"/>
            <a:ext cx="4953000" cy="266700"/>
          </a:xfrm>
        </p:spPr>
        <p:txBody>
          <a:bodyPr wrap="square" rtlCol="0" lIns="0" tIns="0" rIns="0" bIns="0" anchor="t"/>
          <a:lstStyle/>
          <a:p>
            <a:pPr algn="l">
              <a:lnSpc>
                <a:spcPct val="110000"/>
              </a:lnSpc>
            </a:pPr>
            <a:r>
              <a:rPr sz="1500" b="1">
                <a:solidFill>
                  <a:srgbClr val="63E2B7"/>
                </a:solidFill>
                <a:latin typeface="Arial"/>
                <a:ea typeface="Arial"/>
              </a:rPr>
              <a:t>From question to order, AI is present throughout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69B37E6-6C01-425F-A98B-8C247712512F}"/>
              </a:ext>
            </a:extLst>
          </p:cNvPr>
          <p:cNvSpPr txBox="1"/>
          <p:nvPr/>
        </p:nvSpPr>
        <p:spPr>
          <a:xfrm>
            <a:off x="685800" y="457200"/>
            <a:ext cx="10096500" cy="603504"/>
          </a:xfrm>
        </p:spPr>
        <p:txBody>
          <a:bodyPr wrap="square" rtlCol="0" lIns="0" tIns="0" rIns="0" bIns="0" anchor="t"/>
          <a:lstStyle/>
          <a:p>
            <a:pPr algn="l">
              <a:lnSpc>
                <a:spcPct val="110000"/>
              </a:lnSpc>
            </a:pPr>
            <a:r>
              <a:rPr sz="3600" b="1">
                <a:solidFill>
                  <a:srgbClr val="E8EAED"/>
                </a:solidFill>
                <a:latin typeface="Arial"/>
                <a:ea typeface="Arial"/>
              </a:rPr>
              <a:t>Real Backtest: BTC 4h Dual-MA</a:t>
            </a:r>
          </a:p>
        </p:txBody>
      </p:sp>
      <p:pic>
        <p:nvPicPr>
          <p:cNvPr id="4" name="Picture 4">
            <a:extLst>
              <a:ext uri="{FF2B5EF4-FFF2-40B4-BE49-F238E27FC236}">
                <a16:creationId xmlns:a16="http://schemas.microsoft.com/office/drawing/2014/main" id="{7105C2B1-22D8-489B-BEB1-85EC81029090}"/>
              </a:ext>
            </a:extLst>
          </p:cNvPr>
          <p:cNvPicPr/>
          <p:nvPr/>
        </p:nvPicPr>
        <p:blipFill>
          <a:blip r:embed="rId2"/>
          <a:stretch>
            <a:fillRect/>
          </a:stretch>
        </p:blipFill>
        <p:spPr>
          <a:xfrm>
            <a:off x="609600" y="1428750"/>
            <a:ext cx="7239000" cy="2943225"/>
          </a:xfrm>
          <a:prstGeom prst="rect">
            <a:avLst/>
          </a:prstGeom>
        </p:spPr>
      </p:pic>
      <p:sp>
        <p:nvSpPr>
          <p:cNvPr id="5" name="TextBox 5">
            <a:extLst>
              <a:ext uri="{FF2B5EF4-FFF2-40B4-BE49-F238E27FC236}">
                <a16:creationId xmlns:a16="http://schemas.microsoft.com/office/drawing/2014/main" id="{A53A298B-EA3B-4210-AF40-A4374A350220}"/>
              </a:ext>
            </a:extLst>
          </p:cNvPr>
          <p:cNvSpPr txBox="1"/>
          <p:nvPr/>
        </p:nvSpPr>
        <p:spPr>
          <a:xfrm>
            <a:off x="609600" y="4629150"/>
            <a:ext cx="7429500" cy="533400"/>
          </a:xfrm>
        </p:spPr>
        <p:txBody>
          <a:bodyPr wrap="square" rtlCol="0" lIns="0" tIns="0" rIns="0" bIns="0" anchor="t"/>
          <a:lstStyle/>
          <a:p>
            <a:pPr algn="l">
              <a:lnSpc>
                <a:spcPct val="130000"/>
              </a:lnSpc>
            </a:pPr>
            <a:r>
              <a:rPr sz="1200">
                <a:solidFill>
                  <a:srgbClr val="6B7280"/>
                </a:solidFill>
                <a:latin typeface="Arial"/>
                <a:ea typeface="Arial"/>
              </a:rPr>
              <a:t>Initial capital 10,000 USDT · 2025-10-11 to 2026-10-11 · run on the built-in engine; historical results do not indicate future performance</a:t>
            </a:r>
          </a:p>
        </p:txBody>
      </p:sp>
      <p:sp>
        <p:nvSpPr>
          <p:cNvPr id="6" name="TextBox 6">
            <a:extLst>
              <a:ext uri="{FF2B5EF4-FFF2-40B4-BE49-F238E27FC236}">
                <a16:creationId xmlns:a16="http://schemas.microsoft.com/office/drawing/2014/main" id="{A0DD34F7-0B3F-4F22-9824-E73AFFD373FA}"/>
              </a:ext>
            </a:extLst>
          </p:cNvPr>
          <p:cNvSpPr txBox="1"/>
          <p:nvPr/>
        </p:nvSpPr>
        <p:spPr>
          <a:xfrm>
            <a:off x="8305800" y="1619250"/>
            <a:ext cx="2857500" cy="228600"/>
          </a:xfrm>
        </p:spPr>
        <p:txBody>
          <a:bodyPr wrap="square" rtlCol="0" lIns="0" tIns="0" rIns="0" bIns="0" anchor="t"/>
          <a:lstStyle/>
          <a:p>
            <a:pPr algn="l">
              <a:lnSpc>
                <a:spcPct val="110000"/>
              </a:lnSpc>
            </a:pPr>
            <a:r>
              <a:rPr sz="1250">
                <a:solidFill>
                  <a:srgbClr val="9AA1AB"/>
                </a:solidFill>
                <a:latin typeface="Arial"/>
                <a:ea typeface="Arial"/>
              </a:rPr>
              <a:t>Total return</a:t>
            </a:r>
          </a:p>
        </p:txBody>
      </p:sp>
      <p:sp>
        <p:nvSpPr>
          <p:cNvPr id="7" name="TextBox 7">
            <a:extLst>
              <a:ext uri="{FF2B5EF4-FFF2-40B4-BE49-F238E27FC236}">
                <a16:creationId xmlns:a16="http://schemas.microsoft.com/office/drawing/2014/main" id="{C438BB7A-2E18-497F-86C2-E6AFD741DE1E}"/>
              </a:ext>
            </a:extLst>
          </p:cNvPr>
          <p:cNvSpPr txBox="1"/>
          <p:nvPr/>
        </p:nvSpPr>
        <p:spPr>
          <a:xfrm>
            <a:off x="8305800" y="1847850"/>
            <a:ext cx="3200400" cy="400050"/>
          </a:xfrm>
        </p:spPr>
        <p:txBody>
          <a:bodyPr wrap="square" rtlCol="0" lIns="0" tIns="0" rIns="0" bIns="0" anchor="t"/>
          <a:lstStyle/>
          <a:p>
            <a:pPr algn="l">
              <a:lnSpc>
                <a:spcPct val="110000"/>
              </a:lnSpc>
            </a:pPr>
            <a:r>
              <a:rPr sz="2400" b="1">
                <a:solidFill>
                  <a:srgbClr val="63E2B7"/>
                </a:solidFill>
                <a:latin typeface="Arial"/>
                <a:ea typeface="Arial"/>
              </a:rPr>
              <a:t>+46.31%</a:t>
            </a:r>
          </a:p>
        </p:txBody>
      </p:sp>
      <p:sp>
        <p:nvSpPr>
          <p:cNvPr id="8" name="TextBox 8">
            <a:extLst>
              <a:ext uri="{FF2B5EF4-FFF2-40B4-BE49-F238E27FC236}">
                <a16:creationId xmlns:a16="http://schemas.microsoft.com/office/drawing/2014/main" id="{C6947FCE-A117-406E-94EE-5B1773F1313E}"/>
              </a:ext>
            </a:extLst>
          </p:cNvPr>
          <p:cNvSpPr txBox="1"/>
          <p:nvPr/>
        </p:nvSpPr>
        <p:spPr>
          <a:xfrm>
            <a:off x="8305800" y="2400300"/>
            <a:ext cx="2857500" cy="228600"/>
          </a:xfrm>
        </p:spPr>
        <p:txBody>
          <a:bodyPr wrap="square" rtlCol="0" lIns="0" tIns="0" rIns="0" bIns="0" anchor="t"/>
          <a:lstStyle/>
          <a:p>
            <a:pPr algn="l">
              <a:lnSpc>
                <a:spcPct val="110000"/>
              </a:lnSpc>
            </a:pPr>
            <a:r>
              <a:rPr sz="1250">
                <a:solidFill>
                  <a:srgbClr val="9AA1AB"/>
                </a:solidFill>
                <a:latin typeface="Arial"/>
                <a:ea typeface="Arial"/>
              </a:rPr>
              <a:t>vs benchmark (BTC spot)</a:t>
            </a:r>
          </a:p>
        </p:txBody>
      </p:sp>
      <p:sp>
        <p:nvSpPr>
          <p:cNvPr id="9" name="TextBox 9">
            <a:extLst>
              <a:ext uri="{FF2B5EF4-FFF2-40B4-BE49-F238E27FC236}">
                <a16:creationId xmlns:a16="http://schemas.microsoft.com/office/drawing/2014/main" id="{4C3F72AB-DF51-4208-A678-F43E72E9B88F}"/>
              </a:ext>
            </a:extLst>
          </p:cNvPr>
          <p:cNvSpPr txBox="1"/>
          <p:nvPr/>
        </p:nvSpPr>
        <p:spPr>
          <a:xfrm>
            <a:off x="8305800" y="2628900"/>
            <a:ext cx="3200400" cy="342900"/>
          </a:xfrm>
        </p:spPr>
        <p:txBody>
          <a:bodyPr wrap="square" rtlCol="0" lIns="0" tIns="0" rIns="0" bIns="0" anchor="t"/>
          <a:lstStyle/>
          <a:p>
            <a:pPr algn="l">
              <a:lnSpc>
                <a:spcPct val="110000"/>
              </a:lnSpc>
            </a:pPr>
            <a:r>
              <a:rPr sz="2000" b="1">
                <a:solidFill>
                  <a:srgbClr val="63E2B7"/>
                </a:solidFill>
                <a:latin typeface="Arial"/>
                <a:ea typeface="Arial"/>
              </a:rPr>
              <a:t>+72.54%</a:t>
            </a:r>
          </a:p>
        </p:txBody>
      </p:sp>
      <p:sp>
        <p:nvSpPr>
          <p:cNvPr id="10" name="TextBox 10">
            <a:extLst>
              <a:ext uri="{FF2B5EF4-FFF2-40B4-BE49-F238E27FC236}">
                <a16:creationId xmlns:a16="http://schemas.microsoft.com/office/drawing/2014/main" id="{BA674F9C-6583-4757-8A5A-2493AC023DD8}"/>
              </a:ext>
            </a:extLst>
          </p:cNvPr>
          <p:cNvSpPr txBox="1"/>
          <p:nvPr/>
        </p:nvSpPr>
        <p:spPr>
          <a:xfrm>
            <a:off x="8305800" y="3181350"/>
            <a:ext cx="2857500" cy="228600"/>
          </a:xfrm>
        </p:spPr>
        <p:txBody>
          <a:bodyPr wrap="square" rtlCol="0" lIns="0" tIns="0" rIns="0" bIns="0" anchor="t"/>
          <a:lstStyle/>
          <a:p>
            <a:pPr algn="l">
              <a:lnSpc>
                <a:spcPct val="110000"/>
              </a:lnSpc>
            </a:pPr>
            <a:r>
              <a:rPr sz="1250">
                <a:solidFill>
                  <a:srgbClr val="9AA1AB"/>
                </a:solidFill>
                <a:latin typeface="Arial"/>
                <a:ea typeface="Arial"/>
              </a:rPr>
              <a:t>Max drawdown</a:t>
            </a:r>
          </a:p>
        </p:txBody>
      </p:sp>
      <p:sp>
        <p:nvSpPr>
          <p:cNvPr id="11" name="TextBox 11">
            <a:extLst>
              <a:ext uri="{FF2B5EF4-FFF2-40B4-BE49-F238E27FC236}">
                <a16:creationId xmlns:a16="http://schemas.microsoft.com/office/drawing/2014/main" id="{3AFAE5C7-A338-416C-86A4-EA48D93693D8}"/>
              </a:ext>
            </a:extLst>
          </p:cNvPr>
          <p:cNvSpPr txBox="1"/>
          <p:nvPr/>
        </p:nvSpPr>
        <p:spPr>
          <a:xfrm>
            <a:off x="8305800" y="3409950"/>
            <a:ext cx="3200400" cy="342900"/>
          </a:xfrm>
        </p:spPr>
        <p:txBody>
          <a:bodyPr wrap="square" rtlCol="0" lIns="0" tIns="0" rIns="0" bIns="0" anchor="t"/>
          <a:lstStyle/>
          <a:p>
            <a:pPr algn="l">
              <a:lnSpc>
                <a:spcPct val="110000"/>
              </a:lnSpc>
            </a:pPr>
            <a:r>
              <a:rPr sz="2000" b="1">
                <a:solidFill>
                  <a:srgbClr val="E8EAED"/>
                </a:solidFill>
                <a:latin typeface="Arial"/>
                <a:ea typeface="Arial"/>
              </a:rPr>
              <a:t>-22.81%</a:t>
            </a:r>
          </a:p>
        </p:txBody>
      </p:sp>
      <p:sp>
        <p:nvSpPr>
          <p:cNvPr id="12" name="TextBox 12">
            <a:extLst>
              <a:ext uri="{FF2B5EF4-FFF2-40B4-BE49-F238E27FC236}">
                <a16:creationId xmlns:a16="http://schemas.microsoft.com/office/drawing/2014/main" id="{FC9614B3-FD02-45C6-BA16-0F2CE82CAFC5}"/>
              </a:ext>
            </a:extLst>
          </p:cNvPr>
          <p:cNvSpPr txBox="1"/>
          <p:nvPr/>
        </p:nvSpPr>
        <p:spPr>
          <a:xfrm>
            <a:off x="8305800" y="3962400"/>
            <a:ext cx="2857500" cy="228600"/>
          </a:xfrm>
        </p:spPr>
        <p:txBody>
          <a:bodyPr wrap="square" rtlCol="0" lIns="0" tIns="0" rIns="0" bIns="0" anchor="t"/>
          <a:lstStyle/>
          <a:p>
            <a:pPr algn="l">
              <a:lnSpc>
                <a:spcPct val="110000"/>
              </a:lnSpc>
            </a:pPr>
            <a:r>
              <a:rPr sz="1250">
                <a:solidFill>
                  <a:srgbClr val="9AA1AB"/>
                </a:solidFill>
                <a:latin typeface="Arial"/>
                <a:ea typeface="Arial"/>
              </a:rPr>
              <a:t>Sharpe ratio</a:t>
            </a:r>
          </a:p>
        </p:txBody>
      </p:sp>
      <p:sp>
        <p:nvSpPr>
          <p:cNvPr id="13" name="TextBox 13">
            <a:extLst>
              <a:ext uri="{FF2B5EF4-FFF2-40B4-BE49-F238E27FC236}">
                <a16:creationId xmlns:a16="http://schemas.microsoft.com/office/drawing/2014/main" id="{9A2A55AC-DBB3-4684-9FF7-6F0A6C2158CD}"/>
              </a:ext>
            </a:extLst>
          </p:cNvPr>
          <p:cNvSpPr txBox="1"/>
          <p:nvPr/>
        </p:nvSpPr>
        <p:spPr>
          <a:xfrm>
            <a:off x="8305800" y="4191000"/>
            <a:ext cx="3200400" cy="342900"/>
          </a:xfrm>
        </p:spPr>
        <p:txBody>
          <a:bodyPr wrap="square" rtlCol="0" lIns="0" tIns="0" rIns="0" bIns="0" anchor="t"/>
          <a:lstStyle/>
          <a:p>
            <a:pPr algn="l">
              <a:lnSpc>
                <a:spcPct val="110000"/>
              </a:lnSpc>
            </a:pPr>
            <a:r>
              <a:rPr sz="2000" b="1">
                <a:solidFill>
                  <a:srgbClr val="E8EAED"/>
                </a:solidFill>
                <a:latin typeface="Arial"/>
                <a:ea typeface="Arial"/>
              </a:rPr>
              <a:t>1.21</a:t>
            </a:r>
          </a:p>
        </p:txBody>
      </p:sp>
      <p:sp>
        <p:nvSpPr>
          <p:cNvPr id="14" name="TextBox 14">
            <a:extLst>
              <a:ext uri="{FF2B5EF4-FFF2-40B4-BE49-F238E27FC236}">
                <a16:creationId xmlns:a16="http://schemas.microsoft.com/office/drawing/2014/main" id="{D6766376-FC9C-476B-861A-E55DCF916460}"/>
              </a:ext>
            </a:extLst>
          </p:cNvPr>
          <p:cNvSpPr txBox="1"/>
          <p:nvPr/>
        </p:nvSpPr>
        <p:spPr>
          <a:xfrm>
            <a:off x="8305800" y="4743450"/>
            <a:ext cx="2857500" cy="228600"/>
          </a:xfrm>
        </p:spPr>
        <p:txBody>
          <a:bodyPr wrap="square" rtlCol="0" lIns="0" tIns="0" rIns="0" bIns="0" anchor="t"/>
          <a:lstStyle/>
          <a:p>
            <a:pPr algn="l">
              <a:lnSpc>
                <a:spcPct val="110000"/>
              </a:lnSpc>
            </a:pPr>
            <a:r>
              <a:rPr sz="1250">
                <a:solidFill>
                  <a:srgbClr val="9AA1AB"/>
                </a:solidFill>
                <a:latin typeface="Arial"/>
                <a:ea typeface="Arial"/>
              </a:rPr>
              <a:t>Trades · win rate</a:t>
            </a:r>
          </a:p>
        </p:txBody>
      </p:sp>
      <p:sp>
        <p:nvSpPr>
          <p:cNvPr id="15" name="TextBox 15">
            <a:extLst>
              <a:ext uri="{FF2B5EF4-FFF2-40B4-BE49-F238E27FC236}">
                <a16:creationId xmlns:a16="http://schemas.microsoft.com/office/drawing/2014/main" id="{DC29AF9D-8343-497A-AD74-3373D1045927}"/>
              </a:ext>
            </a:extLst>
          </p:cNvPr>
          <p:cNvSpPr txBox="1"/>
          <p:nvPr/>
        </p:nvSpPr>
        <p:spPr>
          <a:xfrm>
            <a:off x="8305800" y="4972050"/>
            <a:ext cx="3200400" cy="342900"/>
          </a:xfrm>
        </p:spPr>
        <p:txBody>
          <a:bodyPr wrap="square" rtlCol="0" lIns="0" tIns="0" rIns="0" bIns="0" anchor="t"/>
          <a:lstStyle/>
          <a:p>
            <a:pPr algn="l">
              <a:lnSpc>
                <a:spcPct val="110000"/>
              </a:lnSpc>
            </a:pPr>
            <a:r>
              <a:rPr sz="2000" b="1">
                <a:solidFill>
                  <a:srgbClr val="E8EAED"/>
                </a:solidFill>
                <a:latin typeface="Arial"/>
                <a:ea typeface="Arial"/>
              </a:rPr>
              <a:t>42 · 45.2%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7259D10-ABFA-4EE1-8242-A6C43834F4CE}"/>
              </a:ext>
            </a:extLst>
          </p:cNvPr>
          <p:cNvSpPr txBox="1"/>
          <p:nvPr/>
        </p:nvSpPr>
        <p:spPr>
          <a:xfrm>
            <a:off x="685800" y="457200"/>
            <a:ext cx="10820400" cy="533400"/>
          </a:xfrm>
        </p:spPr>
        <p:txBody>
          <a:bodyPr wrap="square" rtlCol="0" lIns="0" tIns="0" rIns="0" bIns="0" anchor="t"/>
          <a:lstStyle/>
          <a:p>
            <a:pPr algn="l">
              <a:lnSpc>
                <a:spcPct val="110000"/>
              </a:lnSpc>
            </a:pPr>
            <a:r>
              <a:rPr sz="3200" b="1">
                <a:solidFill>
                  <a:srgbClr val="E8EAED"/>
                </a:solidFill>
                <a:latin typeface="Arial"/>
                <a:ea typeface="Arial"/>
              </a:rPr>
              <a:t>Safe AI-Agent Trading: The Industry Has No Answer Yet</a:t>
            </a:r>
          </a:p>
        </p:txBody>
      </p:sp>
      <p:sp>
        <p:nvSpPr>
          <p:cNvPr id="4" name="TextBox 4">
            <a:extLst>
              <a:ext uri="{FF2B5EF4-FFF2-40B4-BE49-F238E27FC236}">
                <a16:creationId xmlns:a16="http://schemas.microsoft.com/office/drawing/2014/main" id="{91549F82-F891-4EF1-9E17-CAD1FB874AA2}"/>
              </a:ext>
            </a:extLst>
          </p:cNvPr>
          <p:cNvSpPr txBox="1"/>
          <p:nvPr/>
        </p:nvSpPr>
        <p:spPr>
          <a:xfrm>
            <a:off x="685800" y="1104900"/>
            <a:ext cx="10820400" cy="266700"/>
          </a:xfrm>
        </p:spPr>
        <p:txBody>
          <a:bodyPr wrap="square" rtlCol="0" lIns="0" tIns="0" rIns="0" bIns="0" anchor="t"/>
          <a:lstStyle/>
          <a:p>
            <a:pPr algn="l">
              <a:lnSpc>
                <a:spcPct val="110000"/>
              </a:lnSpc>
            </a:pPr>
            <a:r>
              <a:rPr sz="1450">
                <a:solidFill>
                  <a:srgbClr val="9AA1AB"/>
                </a:solidFill>
                <a:latin typeface="Arial"/>
                <a:ea typeface="Arial"/>
              </a:rPr>
              <a:t>MCP servers grew from ~50 to 8,000–12,000 in two years; agents entering finance is a matter of time</a:t>
            </a:r>
          </a:p>
        </p:txBody>
      </p:sp>
      <p:sp>
        <p:nvSpPr>
          <p:cNvPr id="5" name="Shape 5">
            <a:extLst>
              <a:ext uri="{FF2B5EF4-FFF2-40B4-BE49-F238E27FC236}">
                <a16:creationId xmlns:a16="http://schemas.microsoft.com/office/drawing/2014/main" id="{31894648-7DF0-4A07-B086-FC610F91A59A}"/>
              </a:ext>
            </a:extLst>
          </p:cNvPr>
          <p:cNvSpPr/>
          <p:nvPr/>
        </p:nvSpPr>
        <p:spPr>
          <a:xfrm>
            <a:off x="685800" y="1619250"/>
            <a:ext cx="5219700" cy="3810000"/>
          </a:xfrm>
          <a:prstGeom prst="roundRect">
            <a:avLst/>
          </a:prstGeom>
          <a:solidFill>
            <a:srgbClr val="14181F"/>
          </a:solidFill>
          <a:ln w="12700">
            <a:solidFill>
              <a:srgbClr val="232A33"/>
            </a:solidFill>
          </a:ln>
        </p:spPr>
        <p:txBody>
          <a:bodyPr wrap="square" rtlCol="0"/>
          <a:lstStyle/>
          <a:p>
            <a:r>
              <a:rPr/>
              <a:t/>
            </a:r>
          </a:p>
        </p:txBody>
      </p:sp>
      <p:sp>
        <p:nvSpPr>
          <p:cNvPr id="6" name="Shape 6">
            <a:extLst>
              <a:ext uri="{FF2B5EF4-FFF2-40B4-BE49-F238E27FC236}">
                <a16:creationId xmlns:a16="http://schemas.microsoft.com/office/drawing/2014/main" id="{266FFB48-9A4E-4C7F-802A-00C607AAE36D}"/>
              </a:ext>
            </a:extLst>
          </p:cNvPr>
          <p:cNvSpPr/>
          <p:nvPr/>
        </p:nvSpPr>
        <p:spPr>
          <a:xfrm>
            <a:off x="6286500" y="1619250"/>
            <a:ext cx="5219700" cy="3810000"/>
          </a:xfrm>
          <a:prstGeom prst="roundRect">
            <a:avLst/>
          </a:prstGeom>
          <a:solidFill>
            <a:srgbClr val="14181F"/>
          </a:solidFill>
          <a:ln w="12700">
            <a:solidFill>
              <a:srgbClr val="63E2B7"/>
            </a:solidFill>
          </a:ln>
        </p:spPr>
        <p:txBody>
          <a:bodyPr wrap="square" rtlCol="0"/>
          <a:lstStyle/>
          <a:p>
            <a:r>
              <a:rPr/>
              <a:t/>
            </a:r>
          </a:p>
        </p:txBody>
      </p:sp>
      <p:sp>
        <p:nvSpPr>
          <p:cNvPr id="7" name="TextBox 7">
            <a:extLst>
              <a:ext uri="{FF2B5EF4-FFF2-40B4-BE49-F238E27FC236}">
                <a16:creationId xmlns:a16="http://schemas.microsoft.com/office/drawing/2014/main" id="{28E2431F-ADB1-485E-BC97-8F89937AED80}"/>
              </a:ext>
            </a:extLst>
          </p:cNvPr>
          <p:cNvSpPr txBox="1"/>
          <p:nvPr/>
        </p:nvSpPr>
        <p:spPr>
          <a:xfrm>
            <a:off x="990600" y="1866900"/>
            <a:ext cx="4572000" cy="342900"/>
          </a:xfrm>
        </p:spPr>
        <p:txBody>
          <a:bodyPr wrap="square" rtlCol="0" lIns="0" tIns="0" rIns="0" bIns="0" anchor="t"/>
          <a:lstStyle/>
          <a:p>
            <a:pPr algn="l">
              <a:lnSpc>
                <a:spcPct val="110000"/>
              </a:lnSpc>
            </a:pPr>
            <a:r>
              <a:rPr sz="2000" b="1">
                <a:solidFill>
                  <a:srgbClr val="8FB8FF"/>
                </a:solidFill>
                <a:latin typeface="Arial"/>
                <a:ea typeface="Arial"/>
              </a:rPr>
              <a:t>The status quo</a:t>
            </a:r>
          </a:p>
        </p:txBody>
      </p:sp>
      <p:sp>
        <p:nvSpPr>
          <p:cNvPr id="8" name="TextBox 8">
            <a:extLst>
              <a:ext uri="{FF2B5EF4-FFF2-40B4-BE49-F238E27FC236}">
                <a16:creationId xmlns:a16="http://schemas.microsoft.com/office/drawing/2014/main" id="{C94E98A5-4FFC-4BCF-8853-7EBDA8123388}"/>
              </a:ext>
            </a:extLst>
          </p:cNvPr>
          <p:cNvSpPr txBox="1"/>
          <p:nvPr/>
        </p:nvSpPr>
        <p:spPr>
          <a:xfrm>
            <a:off x="990600" y="2343150"/>
            <a:ext cx="4572000" cy="569976"/>
          </a:xfrm>
        </p:spPr>
        <p:txBody>
          <a:bodyPr wrap="square" rtlCol="0" lIns="0" tIns="0" rIns="0" bIns="0" anchor="t"/>
          <a:lstStyle/>
          <a:p>
            <a:pPr algn="l">
              <a:lnSpc>
                <a:spcPct val="110000"/>
              </a:lnSpc>
            </a:pPr>
            <a:r>
              <a:rPr sz="3400" b="1">
                <a:solidFill>
                  <a:srgbClr val="E8EAED"/>
                </a:solidFill>
                <a:latin typeface="Arial"/>
                <a:ea typeface="Arial"/>
              </a:rPr>
              <a:t>47–53%</a:t>
            </a:r>
          </a:p>
        </p:txBody>
      </p:sp>
      <p:sp>
        <p:nvSpPr>
          <p:cNvPr id="9" name="TextBox 9">
            <a:extLst>
              <a:ext uri="{FF2B5EF4-FFF2-40B4-BE49-F238E27FC236}">
                <a16:creationId xmlns:a16="http://schemas.microsoft.com/office/drawing/2014/main" id="{0B1A2FDB-5EF6-4875-8D54-EF10A23ED331}"/>
              </a:ext>
            </a:extLst>
          </p:cNvPr>
          <p:cNvSpPr txBox="1"/>
          <p:nvPr/>
        </p:nvSpPr>
        <p:spPr>
          <a:xfrm>
            <a:off x="990600" y="2914650"/>
            <a:ext cx="4572000" cy="495300"/>
          </a:xfrm>
        </p:spPr>
        <p:txBody>
          <a:bodyPr wrap="square" rtlCol="0" lIns="0" tIns="0" rIns="0" bIns="0" anchor="t"/>
          <a:lstStyle/>
          <a:p>
            <a:pPr algn="l">
              <a:lnSpc>
                <a:spcPct val="130000"/>
              </a:lnSpc>
            </a:pPr>
            <a:r>
              <a:rPr sz="1250">
                <a:solidFill>
                  <a:srgbClr val="9AA1AB"/>
                </a:solidFill>
                <a:latin typeface="Arial"/>
                <a:ea typeface="Arial"/>
              </a:rPr>
              <a:t>of organizations hit AI-agent permission incidents (DevSecOps 2026)</a:t>
            </a:r>
          </a:p>
        </p:txBody>
      </p:sp>
      <p:sp>
        <p:nvSpPr>
          <p:cNvPr id="10" name="TextBox 10">
            <a:extLst>
              <a:ext uri="{FF2B5EF4-FFF2-40B4-BE49-F238E27FC236}">
                <a16:creationId xmlns:a16="http://schemas.microsoft.com/office/drawing/2014/main" id="{44BA4708-1C02-4DF9-8DD2-A1B024BDCC51}"/>
              </a:ext>
            </a:extLst>
          </p:cNvPr>
          <p:cNvSpPr txBox="1"/>
          <p:nvPr/>
        </p:nvSpPr>
        <p:spPr>
          <a:xfrm>
            <a:off x="990600" y="3429000"/>
            <a:ext cx="4572000" cy="569976"/>
          </a:xfrm>
        </p:spPr>
        <p:txBody>
          <a:bodyPr wrap="square" rtlCol="0" lIns="0" tIns="0" rIns="0" bIns="0" anchor="t"/>
          <a:lstStyle/>
          <a:p>
            <a:pPr algn="l">
              <a:lnSpc>
                <a:spcPct val="110000"/>
              </a:lnSpc>
            </a:pPr>
            <a:r>
              <a:rPr sz="3400" b="1">
                <a:solidFill>
                  <a:srgbClr val="E8EAED"/>
                </a:solidFill>
                <a:latin typeface="Arial"/>
                <a:ea typeface="Arial"/>
              </a:rPr>
              <a:t>~23%</a:t>
            </a:r>
          </a:p>
        </p:txBody>
      </p:sp>
      <p:sp>
        <p:nvSpPr>
          <p:cNvPr id="11" name="TextBox 11">
            <a:extLst>
              <a:ext uri="{FF2B5EF4-FFF2-40B4-BE49-F238E27FC236}">
                <a16:creationId xmlns:a16="http://schemas.microsoft.com/office/drawing/2014/main" id="{2AF6D3D3-4E06-434F-83A2-971F13DE66DB}"/>
              </a:ext>
            </a:extLst>
          </p:cNvPr>
          <p:cNvSpPr txBox="1"/>
          <p:nvPr/>
        </p:nvSpPr>
        <p:spPr>
          <a:xfrm>
            <a:off x="990600" y="4000500"/>
            <a:ext cx="4572000" cy="419100"/>
          </a:xfrm>
        </p:spPr>
        <p:txBody>
          <a:bodyPr wrap="square" rtlCol="0" lIns="0" tIns="0" rIns="0" bIns="0" anchor="t"/>
          <a:lstStyle/>
          <a:p>
            <a:pPr algn="l">
              <a:lnSpc>
                <a:spcPct val="130000"/>
              </a:lnSpc>
            </a:pPr>
            <a:r>
              <a:rPr sz="1250">
                <a:solidFill>
                  <a:srgbClr val="9AA1AB"/>
                </a:solidFill>
                <a:latin typeface="Arial"/>
                <a:ea typeface="Arial"/>
              </a:rPr>
              <a:t>have a formal AI-agent identity system</a:t>
            </a:r>
          </a:p>
        </p:txBody>
      </p:sp>
      <p:sp>
        <p:nvSpPr>
          <p:cNvPr id="12" name="TextBox 12">
            <a:extLst>
              <a:ext uri="{FF2B5EF4-FFF2-40B4-BE49-F238E27FC236}">
                <a16:creationId xmlns:a16="http://schemas.microsoft.com/office/drawing/2014/main" id="{56E35BC2-866D-4E6B-BF05-9DC3EA51765E}"/>
              </a:ext>
            </a:extLst>
          </p:cNvPr>
          <p:cNvSpPr txBox="1"/>
          <p:nvPr/>
        </p:nvSpPr>
        <p:spPr>
          <a:xfrm>
            <a:off x="990600" y="4514850"/>
            <a:ext cx="4572000" cy="569976"/>
          </a:xfrm>
        </p:spPr>
        <p:txBody>
          <a:bodyPr wrap="square" rtlCol="0" lIns="0" tIns="0" rIns="0" bIns="0" anchor="t"/>
          <a:lstStyle/>
          <a:p>
            <a:pPr algn="l">
              <a:lnSpc>
                <a:spcPct val="110000"/>
              </a:lnSpc>
            </a:pPr>
            <a:r>
              <a:rPr sz="3400" b="1">
                <a:solidFill>
                  <a:srgbClr val="E8EAED"/>
                </a:solidFill>
                <a:latin typeface="Arial"/>
                <a:ea typeface="Arial"/>
              </a:rPr>
              <a:t>0</a:t>
            </a:r>
          </a:p>
        </p:txBody>
      </p:sp>
      <p:sp>
        <p:nvSpPr>
          <p:cNvPr id="13" name="TextBox 13">
            <a:extLst>
              <a:ext uri="{FF2B5EF4-FFF2-40B4-BE49-F238E27FC236}">
                <a16:creationId xmlns:a16="http://schemas.microsoft.com/office/drawing/2014/main" id="{D9AE1B0E-95D9-49BB-B272-5B08D5FD88BE}"/>
              </a:ext>
            </a:extLst>
          </p:cNvPr>
          <p:cNvSpPr txBox="1"/>
          <p:nvPr/>
        </p:nvSpPr>
        <p:spPr>
          <a:xfrm>
            <a:off x="990600" y="5086350"/>
            <a:ext cx="4572000" cy="419100"/>
          </a:xfrm>
        </p:spPr>
        <p:txBody>
          <a:bodyPr wrap="square" rtlCol="0" lIns="0" tIns="0" rIns="0" bIns="0" anchor="t"/>
          <a:lstStyle/>
          <a:p>
            <a:pPr algn="l">
              <a:lnSpc>
                <a:spcPct val="130000"/>
              </a:lnSpc>
            </a:pPr>
            <a:r>
              <a:rPr sz="1250">
                <a:solidFill>
                  <a:srgbClr val="9AA1AB"/>
                </a:solidFill>
                <a:latin typeface="Arial"/>
                <a:ea typeface="Arial"/>
              </a:rPr>
              <a:t>production-ready trading-grade agent safety standards</a:t>
            </a:r>
          </a:p>
        </p:txBody>
      </p:sp>
      <p:sp>
        <p:nvSpPr>
          <p:cNvPr id="14" name="TextBox 14">
            <a:extLst>
              <a:ext uri="{FF2B5EF4-FFF2-40B4-BE49-F238E27FC236}">
                <a16:creationId xmlns:a16="http://schemas.microsoft.com/office/drawing/2014/main" id="{0CBD2A2A-91B2-4381-905B-A34FF312B356}"/>
              </a:ext>
            </a:extLst>
          </p:cNvPr>
          <p:cNvSpPr txBox="1"/>
          <p:nvPr/>
        </p:nvSpPr>
        <p:spPr>
          <a:xfrm>
            <a:off x="6591300" y="1866900"/>
            <a:ext cx="4572000" cy="342900"/>
          </a:xfrm>
        </p:spPr>
        <p:txBody>
          <a:bodyPr wrap="square" rtlCol="0" lIns="0" tIns="0" rIns="0" bIns="0" anchor="t"/>
          <a:lstStyle/>
          <a:p>
            <a:pPr algn="l">
              <a:lnSpc>
                <a:spcPct val="110000"/>
              </a:lnSpc>
            </a:pPr>
            <a:r>
              <a:rPr sz="2000" b="1">
                <a:solidFill>
                  <a:srgbClr val="63E2B7"/>
                </a:solidFill>
                <a:latin typeface="Arial"/>
                <a:ea typeface="Arial"/>
              </a:rPr>
              <a:t>SharkQuant Agent Gateway (live)</a:t>
            </a:r>
          </a:p>
        </p:txBody>
      </p:sp>
      <p:sp>
        <p:nvSpPr>
          <p:cNvPr id="15" name="TextBox 15">
            <a:extLst>
              <a:ext uri="{FF2B5EF4-FFF2-40B4-BE49-F238E27FC236}">
                <a16:creationId xmlns:a16="http://schemas.microsoft.com/office/drawing/2014/main" id="{A6D9D09B-3E46-4549-BD09-F9B5EFE2359A}"/>
              </a:ext>
            </a:extLst>
          </p:cNvPr>
          <p:cNvSpPr txBox="1"/>
          <p:nvPr/>
        </p:nvSpPr>
        <p:spPr>
          <a:xfrm>
            <a:off x="6591300" y="2457450"/>
            <a:ext cx="4610100" cy="2952750"/>
          </a:xfrm>
        </p:spPr>
        <p:txBody>
          <a:bodyPr wrap="square" rtlCol="0" lIns="0" tIns="0" rIns="0" bIns="0" anchor="t"/>
          <a:lstStyle/>
          <a:p>
            <a:pPr algn="l">
              <a:lnSpc>
                <a:spcPct val="140000"/>
              </a:lnSpc>
              <a:spcAft>
                <a:spcPts val="1600"/>
              </a:spcAft>
            </a:pPr>
            <a:r>
              <a:rPr sz="1400" b="1">
                <a:solidFill>
                  <a:srgbClr val="E8EAED"/>
                </a:solidFill>
                <a:latin typeface="Arial"/>
                <a:ea typeface="Arial"/>
              </a:rPr>
              <a:t>58 MCP tools</a:t>
            </a:r>
            <a:r>
              <a:rPr sz="1250">
                <a:solidFill>
                  <a:srgbClr val="9AA1AB"/>
                </a:solidFill>
                <a:latin typeface="Arial"/>
                <a:ea typeface="Arial"/>
              </a:rPr>
              <a:t> — quotes, backtests and paper trading for Cursor / Claude Code / Codex</a:t>
            </a:r>
          </a:p>
          <a:p>
            <a:pPr algn="l">
              <a:lnSpc>
                <a:spcPct val="140000"/>
              </a:lnSpc>
              <a:spcAft>
                <a:spcPts val="1600"/>
              </a:spcAft>
            </a:pPr>
            <a:r>
              <a:rPr sz="1400" b="1">
                <a:solidFill>
                  <a:srgbClr val="E8EAED"/>
                </a:solidFill>
                <a:latin typeface="Arial"/>
                <a:ea typeface="Arial"/>
              </a:rPr>
              <a:t>Paper-only by default</a:t>
            </a:r>
            <a:r>
              <a:rPr sz="1250">
                <a:solidFill>
                  <a:srgbClr val="9AA1AB"/>
                </a:solidFill>
                <a:latin typeface="Arial"/>
                <a:ea typeface="Arial"/>
              </a:rPr>
              <a:t> — live trading requires all four conditions to hold</a:t>
            </a:r>
          </a:p>
          <a:p>
            <a:pPr algn="l">
              <a:lnSpc>
                <a:spcPct val="140000"/>
              </a:lnSpc>
              <a:spcAft>
                <a:spcPts val="1600"/>
              </a:spcAft>
            </a:pPr>
            <a:r>
              <a:rPr sz="1400" b="1">
                <a:solidFill>
                  <a:srgbClr val="E8EAED"/>
                </a:solidFill>
                <a:latin typeface="Arial"/>
                <a:ea typeface="Arial"/>
              </a:rPr>
              <a:t>Five scope classes</a:t>
            </a:r>
            <a:r>
              <a:rPr sz="1250">
                <a:solidFill>
                  <a:srgbClr val="9AA1AB"/>
                </a:solidFill>
                <a:latin typeface="Arial"/>
                <a:ea typeface="Arial"/>
              </a:rPr>
              <a:t> — read/write/trade/notify/quota, rate-limited at 60 requests/min</a:t>
            </a:r>
          </a:p>
          <a:p>
            <a:pPr algn="l">
              <a:lnSpc>
                <a:spcPct val="140000"/>
              </a:lnSpc>
              <a:spcAft>
                <a:spcPts val="0"/>
              </a:spcAft>
            </a:pPr>
            <a:r>
              <a:rPr sz="1400" b="1">
                <a:solidFill>
                  <a:srgbClr val="E8EAED"/>
                </a:solidFill>
                <a:latin typeface="Arial"/>
                <a:ea typeface="Arial"/>
              </a:rPr>
              <a:t>Full audit trail</a:t>
            </a:r>
            <a:r>
              <a:rPr sz="1250">
                <a:solidFill>
                  <a:srgbClr val="9AA1AB"/>
                </a:solidFill>
                <a:latin typeface="Arial"/>
                <a:ea typeface="Arial"/>
              </a:rPr>
              <a:t> — every agent action is traceable; safety comes before convenience</a:t>
            </a:r>
          </a:p>
        </p:txBody>
      </p:sp>
      <p:sp>
        <p:nvSpPr>
          <p:cNvPr id="16" name="TextBox 16">
            <a:extLst>
              <a:ext uri="{FF2B5EF4-FFF2-40B4-BE49-F238E27FC236}">
                <a16:creationId xmlns:a16="http://schemas.microsoft.com/office/drawing/2014/main" id="{8F74D0CD-0A02-4114-BB5F-2D292A17C554}"/>
              </a:ext>
            </a:extLst>
          </p:cNvPr>
          <p:cNvSpPr txBox="1"/>
          <p:nvPr/>
        </p:nvSpPr>
        <p:spPr>
          <a:xfrm>
            <a:off x="685800" y="5772150"/>
            <a:ext cx="10820400" cy="266700"/>
          </a:xfrm>
        </p:spPr>
        <p:txBody>
          <a:bodyPr wrap="square" rtlCol="0" lIns="0" tIns="0" rIns="0" bIns="0" anchor="t"/>
          <a:lstStyle/>
          <a:p>
            <a:pPr algn="l">
              <a:lnSpc>
                <a:spcPct val="110000"/>
              </a:lnSpc>
            </a:pPr>
            <a:r>
              <a:rPr sz="1500">
                <a:solidFill>
                  <a:srgbClr val="9AA1AB"/>
                </a:solidFill>
                <a:latin typeface="Arial"/>
                <a:ea typeface="Arial"/>
              </a:rPr>
              <a:t>Agent ecosystem = a new distribution channel: </a:t>
            </a:r>
            <a:r>
              <a:rPr sz="1500" b="1">
                <a:solidFill>
                  <a:srgbClr val="63E2B7"/>
                </a:solidFill>
                <a:latin typeface="Arial"/>
                <a:ea typeface="Arial"/>
              </a:rPr>
              <a:t>the first trade may start from a conversation.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0D9CCFB8-024B-4BE4-A829-F7C7295F9310}"/>
              </a:ext>
            </a:extLst>
          </p:cNvPr>
          <p:cNvSpPr txBox="1"/>
          <p:nvPr/>
        </p:nvSpPr>
        <p:spPr>
          <a:xfrm>
            <a:off x="685800" y="457200"/>
            <a:ext cx="10820400" cy="569976"/>
          </a:xfrm>
        </p:spPr>
        <p:txBody>
          <a:bodyPr wrap="square" rtlCol="0" lIns="0" tIns="0" rIns="0" bIns="0" anchor="t"/>
          <a:lstStyle/>
          <a:p>
            <a:pPr algn="l">
              <a:lnSpc>
                <a:spcPct val="110000"/>
              </a:lnSpc>
            </a:pPr>
            <a:r>
              <a:rPr sz="3400" b="1">
                <a:solidFill>
                  <a:srgbClr val="E8EAED"/>
                </a:solidFill>
                <a:latin typeface="Arial"/>
                <a:ea typeface="Arial"/>
              </a:rPr>
              <a:t>Competitive Positioning: Integration × AI-Nativeness</a:t>
            </a:r>
          </a:p>
        </p:txBody>
      </p:sp>
      <p:sp>
        <p:nvSpPr>
          <p:cNvPr id="4" name="TextBox 4">
            <a:extLst>
              <a:ext uri="{FF2B5EF4-FFF2-40B4-BE49-F238E27FC236}">
                <a16:creationId xmlns:a16="http://schemas.microsoft.com/office/drawing/2014/main" id="{F8472574-78EC-431F-A230-D990E38FE606}"/>
              </a:ext>
            </a:extLst>
          </p:cNvPr>
          <p:cNvSpPr txBox="1"/>
          <p:nvPr/>
        </p:nvSpPr>
        <p:spPr>
          <a:xfrm>
            <a:off x="685800" y="1104900"/>
            <a:ext cx="10820400" cy="266700"/>
          </a:xfrm>
        </p:spPr>
        <p:txBody>
          <a:bodyPr wrap="square" rtlCol="0" lIns="0" tIns="0" rIns="0" bIns="0" anchor="t"/>
          <a:lstStyle/>
          <a:p>
            <a:pPr algn="l">
              <a:lnSpc>
                <a:spcPct val="110000"/>
              </a:lnSpc>
            </a:pPr>
            <a:r>
              <a:rPr sz="1450">
                <a:solidFill>
                  <a:srgbClr val="9AA1AB"/>
                </a:solidFill>
                <a:latin typeface="Arial"/>
                <a:ea typeface="Arial"/>
              </a:rPr>
              <a:t>X: full-loop integration (analysis → execution)｜Y: AI-nativeness</a:t>
            </a:r>
          </a:p>
        </p:txBody>
      </p:sp>
      <p:sp>
        <p:nvSpPr>
          <p:cNvPr id="5" name="Shape 5">
            <a:extLst>
              <a:ext uri="{FF2B5EF4-FFF2-40B4-BE49-F238E27FC236}">
                <a16:creationId xmlns:a16="http://schemas.microsoft.com/office/drawing/2014/main" id="{695F858D-4BDC-4187-BCCE-CA588C1673E3}"/>
              </a:ext>
            </a:extLst>
          </p:cNvPr>
          <p:cNvSpPr/>
          <p:nvPr/>
        </p:nvSpPr>
        <p:spPr>
          <a:xfrm>
            <a:off x="1333500" y="3810000"/>
            <a:ext cx="9525000" cy="19050"/>
          </a:xfrm>
          <a:prstGeom prst="rect">
            <a:avLst/>
          </a:prstGeom>
          <a:solidFill>
            <a:srgbClr val="232A33"/>
          </a:solidFill>
        </p:spPr>
        <p:txBody>
          <a:bodyPr wrap="square" rtlCol="0"/>
          <a:lstStyle/>
          <a:p>
            <a:r>
              <a:rPr/>
              <a:t/>
            </a:r>
          </a:p>
        </p:txBody>
      </p:sp>
      <p:sp>
        <p:nvSpPr>
          <p:cNvPr id="6" name="Shape 6">
            <a:extLst>
              <a:ext uri="{FF2B5EF4-FFF2-40B4-BE49-F238E27FC236}">
                <a16:creationId xmlns:a16="http://schemas.microsoft.com/office/drawing/2014/main" id="{93D8631F-FE47-43DF-8730-07D047C1C834}"/>
              </a:ext>
            </a:extLst>
          </p:cNvPr>
          <p:cNvSpPr/>
          <p:nvPr/>
        </p:nvSpPr>
        <p:spPr>
          <a:xfrm>
            <a:off x="6096000" y="1619250"/>
            <a:ext cx="19050" cy="4191000"/>
          </a:xfrm>
          <a:prstGeom prst="rect">
            <a:avLst/>
          </a:prstGeom>
          <a:solidFill>
            <a:srgbClr val="232A33"/>
          </a:solidFill>
        </p:spPr>
        <p:txBody>
          <a:bodyPr wrap="square" rtlCol="0"/>
          <a:lstStyle/>
          <a:p>
            <a:r>
              <a:rPr/>
              <a:t/>
            </a:r>
          </a:p>
        </p:txBody>
      </p:sp>
      <p:sp>
        <p:nvSpPr>
          <p:cNvPr id="7" name="TextBox 7">
            <a:extLst>
              <a:ext uri="{FF2B5EF4-FFF2-40B4-BE49-F238E27FC236}">
                <a16:creationId xmlns:a16="http://schemas.microsoft.com/office/drawing/2014/main" id="{BDFD9752-B44A-4DE3-94E5-F11793B76060}"/>
              </a:ext>
            </a:extLst>
          </p:cNvPr>
          <p:cNvSpPr txBox="1"/>
          <p:nvPr/>
        </p:nvSpPr>
        <p:spPr>
          <a:xfrm>
            <a:off x="7715250" y="3924300"/>
            <a:ext cx="3238500" cy="228600"/>
          </a:xfrm>
        </p:spPr>
        <p:txBody>
          <a:bodyPr wrap="square" rtlCol="0" lIns="0" tIns="0" rIns="0" bIns="0" anchor="t"/>
          <a:lstStyle/>
          <a:p>
            <a:pPr algn="l">
              <a:lnSpc>
                <a:spcPct val="110000"/>
              </a:lnSpc>
            </a:pPr>
            <a:r>
              <a:rPr sz="1200">
                <a:solidFill>
                  <a:srgbClr val="6B7280"/>
                </a:solidFill>
                <a:latin typeface="Arial"/>
                <a:ea typeface="Arial"/>
              </a:rPr>
              <a:t>Full-loop integration (analysis → execution) →</a:t>
            </a:r>
          </a:p>
        </p:txBody>
      </p:sp>
      <p:sp>
        <p:nvSpPr>
          <p:cNvPr id="8" name="TextBox 8">
            <a:extLst>
              <a:ext uri="{FF2B5EF4-FFF2-40B4-BE49-F238E27FC236}">
                <a16:creationId xmlns:a16="http://schemas.microsoft.com/office/drawing/2014/main" id="{4E062684-B41E-497C-AB91-82E0F2EF3994}"/>
              </a:ext>
            </a:extLst>
          </p:cNvPr>
          <p:cNvSpPr txBox="1"/>
          <p:nvPr/>
        </p:nvSpPr>
        <p:spPr>
          <a:xfrm>
            <a:off x="1123950" y="1600200"/>
            <a:ext cx="1905000" cy="228600"/>
          </a:xfrm>
        </p:spPr>
        <p:txBody>
          <a:bodyPr wrap="square" rtlCol="0" lIns="0" tIns="0" rIns="0" bIns="0" anchor="t"/>
          <a:lstStyle/>
          <a:p>
            <a:pPr algn="l">
              <a:lnSpc>
                <a:spcPct val="110000"/>
              </a:lnSpc>
            </a:pPr>
            <a:r>
              <a:rPr sz="1200">
                <a:solidFill>
                  <a:srgbClr val="6B7280"/>
                </a:solidFill>
                <a:latin typeface="Arial"/>
                <a:ea typeface="Arial"/>
              </a:rPr>
              <a:t>AI-nativeness ↑</a:t>
            </a:r>
          </a:p>
        </p:txBody>
      </p:sp>
      <p:sp>
        <p:nvSpPr>
          <p:cNvPr id="9" name="TextBox 9">
            <a:extLst>
              <a:ext uri="{FF2B5EF4-FFF2-40B4-BE49-F238E27FC236}">
                <a16:creationId xmlns:a16="http://schemas.microsoft.com/office/drawing/2014/main" id="{672016BB-4C11-4C2F-A10D-20A57778AA98}"/>
              </a:ext>
            </a:extLst>
          </p:cNvPr>
          <p:cNvSpPr txBox="1"/>
          <p:nvPr/>
        </p:nvSpPr>
        <p:spPr>
          <a:xfrm>
            <a:off x="1619250" y="1866900"/>
            <a:ext cx="2476500" cy="228600"/>
          </a:xfrm>
        </p:spPr>
        <p:txBody>
          <a:bodyPr wrap="square" rtlCol="0" lIns="0" tIns="0" rIns="0" bIns="0" anchor="t"/>
          <a:lstStyle/>
          <a:p>
            <a:pPr algn="l">
              <a:lnSpc>
                <a:spcPct val="110000"/>
              </a:lnSpc>
            </a:pPr>
            <a:r>
              <a:rPr sz="1200">
                <a:solidFill>
                  <a:srgbClr val="4B5563"/>
                </a:solidFill>
                <a:latin typeface="Arial"/>
                <a:ea typeface="Arial"/>
              </a:rPr>
              <a:t>Analysis tools × AI-enhanced</a:t>
            </a:r>
          </a:p>
        </p:txBody>
      </p:sp>
      <p:sp>
        <p:nvSpPr>
          <p:cNvPr id="10" name="TextBox 10">
            <a:extLst>
              <a:ext uri="{FF2B5EF4-FFF2-40B4-BE49-F238E27FC236}">
                <a16:creationId xmlns:a16="http://schemas.microsoft.com/office/drawing/2014/main" id="{42013DBC-C243-4C74-88D9-724F5ECD8A4B}"/>
              </a:ext>
            </a:extLst>
          </p:cNvPr>
          <p:cNvSpPr txBox="1"/>
          <p:nvPr/>
        </p:nvSpPr>
        <p:spPr>
          <a:xfrm>
            <a:off x="6324600" y="1866900"/>
            <a:ext cx="2476500" cy="228600"/>
          </a:xfrm>
        </p:spPr>
        <p:txBody>
          <a:bodyPr wrap="square" rtlCol="0" lIns="0" tIns="0" rIns="0" bIns="0" anchor="t"/>
          <a:lstStyle/>
          <a:p>
            <a:pPr algn="l">
              <a:lnSpc>
                <a:spcPct val="110000"/>
              </a:lnSpc>
            </a:pPr>
            <a:r>
              <a:rPr sz="1200">
                <a:solidFill>
                  <a:srgbClr val="4B5563"/>
                </a:solidFill>
                <a:latin typeface="Arial"/>
                <a:ea typeface="Arial"/>
              </a:rPr>
              <a:t>Full loop × AI-native</a:t>
            </a:r>
          </a:p>
        </p:txBody>
      </p:sp>
      <p:sp>
        <p:nvSpPr>
          <p:cNvPr id="11" name="TextBox 11">
            <a:extLst>
              <a:ext uri="{FF2B5EF4-FFF2-40B4-BE49-F238E27FC236}">
                <a16:creationId xmlns:a16="http://schemas.microsoft.com/office/drawing/2014/main" id="{4B422669-7638-4849-8930-7D64EA98B88C}"/>
              </a:ext>
            </a:extLst>
          </p:cNvPr>
          <p:cNvSpPr txBox="1"/>
          <p:nvPr/>
        </p:nvSpPr>
        <p:spPr>
          <a:xfrm>
            <a:off x="1619250" y="5467350"/>
            <a:ext cx="2476500" cy="228600"/>
          </a:xfrm>
        </p:spPr>
        <p:txBody>
          <a:bodyPr wrap="square" rtlCol="0" lIns="0" tIns="0" rIns="0" bIns="0" anchor="t"/>
          <a:lstStyle/>
          <a:p>
            <a:pPr algn="l">
              <a:lnSpc>
                <a:spcPct val="110000"/>
              </a:lnSpc>
            </a:pPr>
            <a:r>
              <a:rPr sz="1200">
                <a:solidFill>
                  <a:srgbClr val="4B5563"/>
                </a:solidFill>
                <a:latin typeface="Arial"/>
                <a:ea typeface="Arial"/>
              </a:rPr>
              <a:t>Point tools × traditional</a:t>
            </a:r>
          </a:p>
        </p:txBody>
      </p:sp>
      <p:sp>
        <p:nvSpPr>
          <p:cNvPr id="12" name="TextBox 12">
            <a:extLst>
              <a:ext uri="{FF2B5EF4-FFF2-40B4-BE49-F238E27FC236}">
                <a16:creationId xmlns:a16="http://schemas.microsoft.com/office/drawing/2014/main" id="{7CAC804A-8E61-40A1-97C9-7BCC3E66C8B4}"/>
              </a:ext>
            </a:extLst>
          </p:cNvPr>
          <p:cNvSpPr txBox="1"/>
          <p:nvPr/>
        </p:nvSpPr>
        <p:spPr>
          <a:xfrm>
            <a:off x="6324600" y="5467350"/>
            <a:ext cx="2476500" cy="228600"/>
          </a:xfrm>
        </p:spPr>
        <p:txBody>
          <a:bodyPr wrap="square" rtlCol="0" lIns="0" tIns="0" rIns="0" bIns="0" anchor="t"/>
          <a:lstStyle/>
          <a:p>
            <a:pPr algn="l">
              <a:lnSpc>
                <a:spcPct val="110000"/>
              </a:lnSpc>
            </a:pPr>
            <a:r>
              <a:rPr sz="1200">
                <a:solidFill>
                  <a:srgbClr val="4B5563"/>
                </a:solidFill>
                <a:latin typeface="Arial"/>
                <a:ea typeface="Arial"/>
              </a:rPr>
              <a:t>Automation × weak AI</a:t>
            </a:r>
          </a:p>
        </p:txBody>
      </p:sp>
      <p:sp>
        <p:nvSpPr>
          <p:cNvPr id="13" name="Shape 13">
            <a:extLst>
              <a:ext uri="{FF2B5EF4-FFF2-40B4-BE49-F238E27FC236}">
                <a16:creationId xmlns:a16="http://schemas.microsoft.com/office/drawing/2014/main" id="{C5C24420-02C8-4E68-9CB5-B4840C12B825}"/>
              </a:ext>
            </a:extLst>
          </p:cNvPr>
          <p:cNvSpPr/>
          <p:nvPr/>
        </p:nvSpPr>
        <p:spPr>
          <a:xfrm>
            <a:off x="2381250" y="2343150"/>
            <a:ext cx="2190750" cy="742950"/>
          </a:xfrm>
          <a:prstGeom prst="roundRect">
            <a:avLst/>
          </a:prstGeom>
          <a:solidFill>
            <a:srgbClr val="14181F"/>
          </a:solidFill>
          <a:ln w="12700">
            <a:solidFill>
              <a:srgbClr val="232A33"/>
            </a:solidFill>
          </a:ln>
        </p:spPr>
        <p:txBody>
          <a:bodyPr wrap="square" rtlCol="0"/>
          <a:lstStyle/>
          <a:p>
            <a:r>
              <a:rPr/>
              <a:t/>
            </a:r>
          </a:p>
        </p:txBody>
      </p:sp>
      <p:sp>
        <p:nvSpPr>
          <p:cNvPr id="14" name="Shape 14">
            <a:extLst>
              <a:ext uri="{FF2B5EF4-FFF2-40B4-BE49-F238E27FC236}">
                <a16:creationId xmlns:a16="http://schemas.microsoft.com/office/drawing/2014/main" id="{A97EC2A2-9C12-466A-A3CE-BA89A8FCE8F8}"/>
              </a:ext>
            </a:extLst>
          </p:cNvPr>
          <p:cNvSpPr/>
          <p:nvPr/>
        </p:nvSpPr>
        <p:spPr>
          <a:xfrm>
            <a:off x="2381250" y="4476750"/>
            <a:ext cx="2190750" cy="742950"/>
          </a:xfrm>
          <a:prstGeom prst="roundRect">
            <a:avLst/>
          </a:prstGeom>
          <a:solidFill>
            <a:srgbClr val="14181F"/>
          </a:solidFill>
          <a:ln w="12700">
            <a:solidFill>
              <a:srgbClr val="232A33"/>
            </a:solidFill>
          </a:ln>
        </p:spPr>
        <p:txBody>
          <a:bodyPr wrap="square" rtlCol="0"/>
          <a:lstStyle/>
          <a:p>
            <a:r>
              <a:rPr/>
              <a:t/>
            </a:r>
          </a:p>
        </p:txBody>
      </p:sp>
      <p:sp>
        <p:nvSpPr>
          <p:cNvPr id="15" name="Shape 15">
            <a:extLst>
              <a:ext uri="{FF2B5EF4-FFF2-40B4-BE49-F238E27FC236}">
                <a16:creationId xmlns:a16="http://schemas.microsoft.com/office/drawing/2014/main" id="{131CCF92-4D34-4291-84E9-9B7F2F14AE5B}"/>
              </a:ext>
            </a:extLst>
          </p:cNvPr>
          <p:cNvSpPr/>
          <p:nvPr/>
        </p:nvSpPr>
        <p:spPr>
          <a:xfrm>
            <a:off x="7734300" y="2343150"/>
            <a:ext cx="2190750" cy="742950"/>
          </a:xfrm>
          <a:prstGeom prst="roundRect">
            <a:avLst/>
          </a:prstGeom>
          <a:solidFill>
            <a:srgbClr val="14181F"/>
          </a:solidFill>
          <a:ln w="12700">
            <a:solidFill>
              <a:srgbClr val="232A33"/>
            </a:solidFill>
          </a:ln>
        </p:spPr>
        <p:txBody>
          <a:bodyPr wrap="square" rtlCol="0"/>
          <a:lstStyle/>
          <a:p>
            <a:r>
              <a:rPr/>
              <a:t/>
            </a:r>
          </a:p>
        </p:txBody>
      </p:sp>
      <p:sp>
        <p:nvSpPr>
          <p:cNvPr id="16" name="Shape 16">
            <a:extLst>
              <a:ext uri="{FF2B5EF4-FFF2-40B4-BE49-F238E27FC236}">
                <a16:creationId xmlns:a16="http://schemas.microsoft.com/office/drawing/2014/main" id="{D9A1766E-F7B7-4451-83C0-C2F32EAB6D98}"/>
              </a:ext>
            </a:extLst>
          </p:cNvPr>
          <p:cNvSpPr/>
          <p:nvPr/>
        </p:nvSpPr>
        <p:spPr>
          <a:xfrm>
            <a:off x="7734300" y="4476750"/>
            <a:ext cx="2190750" cy="742950"/>
          </a:xfrm>
          <a:prstGeom prst="roundRect">
            <a:avLst/>
          </a:prstGeom>
          <a:solidFill>
            <a:srgbClr val="14181F"/>
          </a:solidFill>
          <a:ln w="19050">
            <a:solidFill>
              <a:srgbClr val="63E2B7"/>
            </a:solidFill>
          </a:ln>
        </p:spPr>
        <p:txBody>
          <a:bodyPr wrap="square" rtlCol="0"/>
          <a:lstStyle/>
          <a:p>
            <a:r>
              <a:rPr/>
              <a:t/>
            </a:r>
          </a:p>
        </p:txBody>
      </p:sp>
      <p:sp>
        <p:nvSpPr>
          <p:cNvPr id="17" name="TextBox 17">
            <a:extLst>
              <a:ext uri="{FF2B5EF4-FFF2-40B4-BE49-F238E27FC236}">
                <a16:creationId xmlns:a16="http://schemas.microsoft.com/office/drawing/2014/main" id="{D8DCBBEF-22A4-458B-BC3B-746EA0D3C582}"/>
              </a:ext>
            </a:extLst>
          </p:cNvPr>
          <p:cNvSpPr txBox="1"/>
          <p:nvPr/>
        </p:nvSpPr>
        <p:spPr>
          <a:xfrm>
            <a:off x="2552700" y="2438400"/>
            <a:ext cx="1905000" cy="247650"/>
          </a:xfrm>
        </p:spPr>
        <p:txBody>
          <a:bodyPr wrap="square" rtlCol="0" lIns="0" tIns="0" rIns="0" bIns="0" anchor="t"/>
          <a:lstStyle/>
          <a:p>
            <a:pPr algn="l">
              <a:lnSpc>
                <a:spcPct val="110000"/>
              </a:lnSpc>
            </a:pPr>
            <a:r>
              <a:rPr sz="1500" b="1">
                <a:solidFill>
                  <a:srgbClr val="E8EAED"/>
                </a:solidFill>
                <a:latin typeface="Arial"/>
                <a:ea typeface="Arial"/>
              </a:rPr>
              <a:t>TradingView</a:t>
            </a:r>
          </a:p>
        </p:txBody>
      </p:sp>
      <p:sp>
        <p:nvSpPr>
          <p:cNvPr id="18" name="TextBox 18">
            <a:extLst>
              <a:ext uri="{FF2B5EF4-FFF2-40B4-BE49-F238E27FC236}">
                <a16:creationId xmlns:a16="http://schemas.microsoft.com/office/drawing/2014/main" id="{9C066782-CAF1-436B-BEE1-C9B9CC51177A}"/>
              </a:ext>
            </a:extLst>
          </p:cNvPr>
          <p:cNvSpPr txBox="1"/>
          <p:nvPr/>
        </p:nvSpPr>
        <p:spPr>
          <a:xfrm>
            <a:off x="2552700" y="2705100"/>
            <a:ext cx="1905000" cy="455676"/>
          </a:xfrm>
        </p:spPr>
        <p:txBody>
          <a:bodyPr wrap="square" rtlCol="0" lIns="0" tIns="0" rIns="0" bIns="0" anchor="t"/>
          <a:lstStyle/>
          <a:p>
            <a:pPr algn="l">
              <a:lnSpc>
                <a:spcPct val="130000"/>
              </a:lnSpc>
            </a:pPr>
            <a:r>
              <a:rPr sz="1150">
                <a:solidFill>
                  <a:srgbClr val="9AA1AB"/>
                </a:solidFill>
                <a:latin typeface="Arial"/>
                <a:ea typeface="Arial"/>
              </a:rPr>
              <a:t>Chart leader · no execution · partial AI</a:t>
            </a:r>
          </a:p>
        </p:txBody>
      </p:sp>
      <p:sp>
        <p:nvSpPr>
          <p:cNvPr id="19" name="TextBox 19">
            <a:extLst>
              <a:ext uri="{FF2B5EF4-FFF2-40B4-BE49-F238E27FC236}">
                <a16:creationId xmlns:a16="http://schemas.microsoft.com/office/drawing/2014/main" id="{CC52DEC5-AF78-42DF-B076-8045F8E470DF}"/>
              </a:ext>
            </a:extLst>
          </p:cNvPr>
          <p:cNvSpPr txBox="1"/>
          <p:nvPr/>
        </p:nvSpPr>
        <p:spPr>
          <a:xfrm>
            <a:off x="2552700" y="4572000"/>
            <a:ext cx="1905000" cy="247650"/>
          </a:xfrm>
        </p:spPr>
        <p:txBody>
          <a:bodyPr wrap="square" rtlCol="0" lIns="0" tIns="0" rIns="0" bIns="0" anchor="t"/>
          <a:lstStyle/>
          <a:p>
            <a:pPr algn="l">
              <a:lnSpc>
                <a:spcPct val="110000"/>
              </a:lnSpc>
            </a:pPr>
            <a:r>
              <a:rPr sz="1500" b="1">
                <a:solidFill>
                  <a:srgbClr val="E8EAED"/>
                </a:solidFill>
                <a:latin typeface="Arial"/>
                <a:ea typeface="Arial"/>
              </a:rPr>
              <a:t>QuantConnect</a:t>
            </a:r>
          </a:p>
        </p:txBody>
      </p:sp>
      <p:sp>
        <p:nvSpPr>
          <p:cNvPr id="20" name="TextBox 20">
            <a:extLst>
              <a:ext uri="{FF2B5EF4-FFF2-40B4-BE49-F238E27FC236}">
                <a16:creationId xmlns:a16="http://schemas.microsoft.com/office/drawing/2014/main" id="{E2036B60-9A0E-464D-8A6A-FB8CA23184ED}"/>
              </a:ext>
            </a:extLst>
          </p:cNvPr>
          <p:cNvSpPr txBox="1"/>
          <p:nvPr/>
        </p:nvSpPr>
        <p:spPr>
          <a:xfrm>
            <a:off x="2552700" y="4838700"/>
            <a:ext cx="1905000" cy="455676"/>
          </a:xfrm>
        </p:spPr>
        <p:txBody>
          <a:bodyPr wrap="square" rtlCol="0" lIns="0" tIns="0" rIns="0" bIns="0" anchor="t"/>
          <a:lstStyle/>
          <a:p>
            <a:pPr algn="l">
              <a:lnSpc>
                <a:spcPct val="130000"/>
              </a:lnSpc>
            </a:pPr>
            <a:r>
              <a:rPr sz="1150">
                <a:solidFill>
                  <a:srgbClr val="9AA1AB"/>
                </a:solidFill>
                <a:latin typeface="Arial"/>
                <a:ea typeface="Arial"/>
              </a:rPr>
              <a:t>Institutional engine · engineer-grade · partial AI</a:t>
            </a:r>
          </a:p>
        </p:txBody>
      </p:sp>
      <p:sp>
        <p:nvSpPr>
          <p:cNvPr id="21" name="TextBox 21">
            <a:extLst>
              <a:ext uri="{FF2B5EF4-FFF2-40B4-BE49-F238E27FC236}">
                <a16:creationId xmlns:a16="http://schemas.microsoft.com/office/drawing/2014/main" id="{A705F9EF-9545-4AF3-AE6D-E89EF3FC96EC}"/>
              </a:ext>
            </a:extLst>
          </p:cNvPr>
          <p:cNvSpPr txBox="1"/>
          <p:nvPr/>
        </p:nvSpPr>
        <p:spPr>
          <a:xfrm>
            <a:off x="7905750" y="2457450"/>
            <a:ext cx="1962150" cy="247650"/>
          </a:xfrm>
        </p:spPr>
        <p:txBody>
          <a:bodyPr wrap="square" rtlCol="0" lIns="0" tIns="0" rIns="0" bIns="0" anchor="t"/>
          <a:lstStyle/>
          <a:p>
            <a:pPr algn="l">
              <a:lnSpc>
                <a:spcPct val="110000"/>
              </a:lnSpc>
            </a:pPr>
            <a:r>
              <a:rPr sz="1300" b="1">
                <a:solidFill>
                  <a:srgbClr val="E8EAED"/>
                </a:solidFill>
                <a:latin typeface="Arial"/>
                <a:ea typeface="Arial"/>
              </a:rPr>
              <a:t>3Commas / Composer</a:t>
            </a:r>
          </a:p>
        </p:txBody>
      </p:sp>
      <p:sp>
        <p:nvSpPr>
          <p:cNvPr id="22" name="TextBox 22">
            <a:extLst>
              <a:ext uri="{FF2B5EF4-FFF2-40B4-BE49-F238E27FC236}">
                <a16:creationId xmlns:a16="http://schemas.microsoft.com/office/drawing/2014/main" id="{1DF1365D-5EDD-439A-80C9-433E4DEFAA95}"/>
              </a:ext>
            </a:extLst>
          </p:cNvPr>
          <p:cNvSpPr txBox="1"/>
          <p:nvPr/>
        </p:nvSpPr>
        <p:spPr>
          <a:xfrm>
            <a:off x="7905750" y="2705100"/>
            <a:ext cx="1962150" cy="455676"/>
          </a:xfrm>
        </p:spPr>
        <p:txBody>
          <a:bodyPr wrap="square" rtlCol="0" lIns="0" tIns="0" rIns="0" bIns="0" anchor="t"/>
          <a:lstStyle/>
          <a:p>
            <a:pPr algn="l">
              <a:lnSpc>
                <a:spcPct val="130000"/>
              </a:lnSpc>
            </a:pPr>
            <a:r>
              <a:rPr sz="1150">
                <a:solidFill>
                  <a:srgbClr val="9AA1AB"/>
                </a:solidFill>
                <a:latin typeface="Arial"/>
                <a:ea typeface="Arial"/>
              </a:rPr>
              <a:t>Single-market automation · weak AI</a:t>
            </a:r>
          </a:p>
        </p:txBody>
      </p:sp>
      <p:sp>
        <p:nvSpPr>
          <p:cNvPr id="23" name="TextBox 23">
            <a:extLst>
              <a:ext uri="{FF2B5EF4-FFF2-40B4-BE49-F238E27FC236}">
                <a16:creationId xmlns:a16="http://schemas.microsoft.com/office/drawing/2014/main" id="{A58E7645-E60A-4DDA-93F5-7B3675279E21}"/>
              </a:ext>
            </a:extLst>
          </p:cNvPr>
          <p:cNvSpPr txBox="1"/>
          <p:nvPr/>
        </p:nvSpPr>
        <p:spPr>
          <a:xfrm>
            <a:off x="7905750" y="4572000"/>
            <a:ext cx="1905000" cy="247650"/>
          </a:xfrm>
        </p:spPr>
        <p:txBody>
          <a:bodyPr wrap="square" rtlCol="0" lIns="0" tIns="0" rIns="0" bIns="0" anchor="t"/>
          <a:lstStyle/>
          <a:p>
            <a:pPr algn="l">
              <a:lnSpc>
                <a:spcPct val="110000"/>
              </a:lnSpc>
            </a:pPr>
            <a:r>
              <a:rPr sz="1500" b="1">
                <a:solidFill>
                  <a:srgbClr val="63E2B7"/>
                </a:solidFill>
                <a:latin typeface="Arial"/>
                <a:ea typeface="Arial"/>
              </a:rPr>
              <a:t>SharkQuant</a:t>
            </a:r>
          </a:p>
        </p:txBody>
      </p:sp>
      <p:sp>
        <p:nvSpPr>
          <p:cNvPr id="24" name="TextBox 24">
            <a:extLst>
              <a:ext uri="{FF2B5EF4-FFF2-40B4-BE49-F238E27FC236}">
                <a16:creationId xmlns:a16="http://schemas.microsoft.com/office/drawing/2014/main" id="{88AD7123-213C-48E6-9856-60C2E169605F}"/>
              </a:ext>
            </a:extLst>
          </p:cNvPr>
          <p:cNvSpPr txBox="1"/>
          <p:nvPr/>
        </p:nvSpPr>
        <p:spPr>
          <a:xfrm>
            <a:off x="7905750" y="4838700"/>
            <a:ext cx="1905000" cy="455676"/>
          </a:xfrm>
        </p:spPr>
        <p:txBody>
          <a:bodyPr wrap="square" rtlCol="0" lIns="0" tIns="0" rIns="0" bIns="0" anchor="t"/>
          <a:lstStyle/>
          <a:p>
            <a:pPr algn="l">
              <a:lnSpc>
                <a:spcPct val="130000"/>
              </a:lnSpc>
            </a:pPr>
            <a:r>
              <a:rPr sz="1150">
                <a:solidFill>
                  <a:srgbClr val="9AA1AB"/>
                </a:solidFill>
                <a:latin typeface="Arial"/>
                <a:ea typeface="Arial"/>
              </a:rPr>
              <a:t>Full loop · AI-native · agent open</a:t>
            </a:r>
          </a:p>
        </p:txBody>
      </p:sp>
      <p:sp>
        <p:nvSpPr>
          <p:cNvPr id="25" name="TextBox 25">
            <a:extLst>
              <a:ext uri="{FF2B5EF4-FFF2-40B4-BE49-F238E27FC236}">
                <a16:creationId xmlns:a16="http://schemas.microsoft.com/office/drawing/2014/main" id="{1B235379-EFEB-44D8-ADA4-A13A24CFD260}"/>
              </a:ext>
            </a:extLst>
          </p:cNvPr>
          <p:cNvSpPr txBox="1"/>
          <p:nvPr/>
        </p:nvSpPr>
        <p:spPr>
          <a:xfrm>
            <a:off x="685800" y="6286500"/>
            <a:ext cx="10820400" cy="247650"/>
          </a:xfrm>
        </p:spPr>
        <p:txBody>
          <a:bodyPr wrap="square" rtlCol="0" lIns="0" tIns="0" rIns="0" bIns="0" anchor="t"/>
          <a:lstStyle/>
          <a:p>
            <a:pPr algn="l">
              <a:lnSpc>
                <a:spcPct val="110000"/>
              </a:lnSpc>
            </a:pPr>
            <a:r>
              <a:rPr sz="1300">
                <a:solidFill>
                  <a:srgbClr val="9AA1AB"/>
                </a:solidFill>
                <a:latin typeface="Arial"/>
                <a:ea typeface="Arial"/>
              </a:rPr>
              <a:t>Price check: TradingView $12.95–59.95/mo · 3Commas $15–60 · Composer $10–40 · SharkQuant from $19.9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FD47FE57-D09A-4465-A49E-E1B5D1634042}"/>
              </a:ext>
            </a:extLst>
          </p:cNvPr>
          <p:cNvSpPr txBox="1"/>
          <p:nvPr/>
        </p:nvSpPr>
        <p:spPr>
          <a:xfrm>
            <a:off x="685800" y="457200"/>
            <a:ext cx="10820400" cy="569976"/>
          </a:xfrm>
        </p:spPr>
        <p:txBody>
          <a:bodyPr wrap="square" rtlCol="0" lIns="0" tIns="0" rIns="0" bIns="0" anchor="t"/>
          <a:lstStyle/>
          <a:p>
            <a:pPr algn="l">
              <a:lnSpc>
                <a:spcPct val="110000"/>
              </a:lnSpc>
            </a:pPr>
            <a:r>
              <a:rPr sz="3400" b="1">
                <a:solidFill>
                  <a:srgbClr val="E8EAED"/>
                </a:solidFill>
                <a:latin typeface="Arial"/>
                <a:ea typeface="Arial"/>
              </a:rPr>
              <a:t>Business Model: Four Built-In Revenue Streams</a:t>
            </a:r>
          </a:p>
        </p:txBody>
      </p:sp>
      <p:sp>
        <p:nvSpPr>
          <p:cNvPr id="4" name="TextBox 4">
            <a:extLst>
              <a:ext uri="{FF2B5EF4-FFF2-40B4-BE49-F238E27FC236}">
                <a16:creationId xmlns:a16="http://schemas.microsoft.com/office/drawing/2014/main" id="{EE0B7C09-D029-4524-B01A-A9EDE6A5150E}"/>
              </a:ext>
            </a:extLst>
          </p:cNvPr>
          <p:cNvSpPr txBox="1"/>
          <p:nvPr/>
        </p:nvSpPr>
        <p:spPr>
          <a:xfrm>
            <a:off x="685800" y="2000250"/>
            <a:ext cx="4953000" cy="1341120"/>
          </a:xfrm>
        </p:spPr>
        <p:txBody>
          <a:bodyPr wrap="square" rtlCol="0" lIns="0" tIns="0" rIns="0" bIns="0" anchor="t"/>
          <a:lstStyle/>
          <a:p>
            <a:pPr algn="l">
              <a:lnSpc>
                <a:spcPct val="110000"/>
              </a:lnSpc>
            </a:pPr>
            <a:r>
              <a:rPr sz="8000" b="1">
                <a:solidFill>
                  <a:srgbClr val="63E2B7"/>
                </a:solidFill>
                <a:latin typeface="Arial"/>
                <a:ea typeface="Arial"/>
              </a:rPr>
              <a:t>$19.9</a:t>
            </a:r>
            <a:r>
              <a:rPr sz="2400" b="1">
                <a:solidFill>
                  <a:srgbClr val="9AA1AB"/>
                </a:solidFill>
                <a:latin typeface="Arial"/>
                <a:ea typeface="Arial"/>
              </a:rPr>
              <a:t> / month</a:t>
            </a:r>
          </a:p>
        </p:txBody>
      </p:sp>
      <p:sp>
        <p:nvSpPr>
          <p:cNvPr id="5" name="TextBox 5">
            <a:extLst>
              <a:ext uri="{FF2B5EF4-FFF2-40B4-BE49-F238E27FC236}">
                <a16:creationId xmlns:a16="http://schemas.microsoft.com/office/drawing/2014/main" id="{D2DC67E7-16D8-4E34-B4A6-E4FDCAC41F7E}"/>
              </a:ext>
            </a:extLst>
          </p:cNvPr>
          <p:cNvSpPr txBox="1"/>
          <p:nvPr/>
        </p:nvSpPr>
        <p:spPr>
          <a:xfrm>
            <a:off x="685800" y="3543300"/>
            <a:ext cx="4953000" cy="266700"/>
          </a:xfrm>
        </p:spPr>
        <p:txBody>
          <a:bodyPr wrap="square" rtlCol="0" lIns="0" tIns="0" rIns="0" bIns="0" anchor="t"/>
          <a:lstStyle/>
          <a:p>
            <a:pPr algn="l">
              <a:lnSpc>
                <a:spcPct val="110000"/>
              </a:lnSpc>
            </a:pPr>
            <a:r>
              <a:rPr sz="1500">
                <a:solidFill>
                  <a:srgbClr val="9AA1AB"/>
                </a:solidFill>
                <a:latin typeface="Arial"/>
                <a:ea typeface="Arial"/>
              </a:rPr>
              <a:t>Subscriptions + credits + marketplace take rate + referrals</a:t>
            </a:r>
          </a:p>
        </p:txBody>
      </p:sp>
      <p:sp>
        <p:nvSpPr>
          <p:cNvPr id="6" name="TextBox 6">
            <a:extLst>
              <a:ext uri="{FF2B5EF4-FFF2-40B4-BE49-F238E27FC236}">
                <a16:creationId xmlns:a16="http://schemas.microsoft.com/office/drawing/2014/main" id="{2AFE00C3-2A5A-4026-A5CD-D74BC6B8A3CC}"/>
              </a:ext>
            </a:extLst>
          </p:cNvPr>
          <p:cNvSpPr txBox="1"/>
          <p:nvPr/>
        </p:nvSpPr>
        <p:spPr>
          <a:xfrm>
            <a:off x="685800" y="3886200"/>
            <a:ext cx="4953000" cy="515112"/>
          </a:xfrm>
        </p:spPr>
        <p:txBody>
          <a:bodyPr wrap="square" rtlCol="0" lIns="0" tIns="0" rIns="0" bIns="0" anchor="t"/>
          <a:lstStyle/>
          <a:p>
            <a:pPr algn="l">
              <a:lnSpc>
                <a:spcPct val="130000"/>
              </a:lnSpc>
            </a:pPr>
            <a:r>
              <a:rPr sz="1300">
                <a:solidFill>
                  <a:srgbClr val="6B7280"/>
                </a:solidFill>
                <a:latin typeface="Arial"/>
                <a:ea typeface="Arial"/>
              </a:rPr>
              <a:t>For global retail &amp; semi-pro traders; 5 running strategies on the free tier, 10 on paid</a:t>
            </a:r>
          </a:p>
        </p:txBody>
      </p:sp>
      <p:sp>
        <p:nvSpPr>
          <p:cNvPr id="7" name="TextBox 7">
            <a:extLst>
              <a:ext uri="{FF2B5EF4-FFF2-40B4-BE49-F238E27FC236}">
                <a16:creationId xmlns:a16="http://schemas.microsoft.com/office/drawing/2014/main" id="{68DD5D34-ADC7-42E6-9178-0F6FABE79B8E}"/>
              </a:ext>
            </a:extLst>
          </p:cNvPr>
          <p:cNvSpPr txBox="1"/>
          <p:nvPr/>
        </p:nvSpPr>
        <p:spPr>
          <a:xfrm>
            <a:off x="6096000" y="1905000"/>
            <a:ext cx="5410200" cy="3143250"/>
          </a:xfrm>
        </p:spPr>
        <p:txBody>
          <a:bodyPr wrap="square" rtlCol="0" lIns="0" tIns="0" rIns="0" bIns="0" anchor="t"/>
          <a:lstStyle/>
          <a:p>
            <a:pPr algn="l">
              <a:lnSpc>
                <a:spcPct val="140000"/>
              </a:lnSpc>
              <a:spcAft>
                <a:spcPts val="1800"/>
              </a:spcAft>
            </a:pPr>
            <a:r>
              <a:rPr sz="1550" b="1">
                <a:solidFill>
                  <a:srgbClr val="E8EAED"/>
                </a:solidFill>
                <a:latin typeface="Arial"/>
                <a:ea typeface="Arial"/>
              </a:rPr>
              <a:t>Subscriptions</a:t>
            </a:r>
            <a:r>
              <a:rPr sz="1250">
                <a:solidFill>
                  <a:srgbClr val="9AA1AB"/>
                </a:solidFill>
                <a:latin typeface="Arial"/>
                <a:ea typeface="Arial"/>
              </a:rPr>
              <a:t> — $19.9/mo · $199/yr (hero tier) · $499 lifetime</a:t>
            </a:r>
          </a:p>
          <a:p>
            <a:pPr algn="l">
              <a:lnSpc>
                <a:spcPct val="140000"/>
              </a:lnSpc>
              <a:spcAft>
                <a:spcPts val="1800"/>
              </a:spcAft>
            </a:pPr>
            <a:r>
              <a:rPr sz="1550" b="1">
                <a:solidFill>
                  <a:srgbClr val="E8EAED"/>
                </a:solidFill>
                <a:latin typeface="Arial"/>
                <a:ea typeface="Arial"/>
              </a:rPr>
              <a:t>Usage credits</a:t>
            </a:r>
            <a:r>
              <a:rPr sz="1250">
                <a:solidFill>
                  <a:srgbClr val="9AA1AB"/>
                </a:solidFill>
                <a:latin typeface="Arial"/>
                <a:ea typeface="Arial"/>
              </a:rPr>
              <a:t> — AI and backtests metered (backtest 30, analysis 10, chat 5…)</a:t>
            </a:r>
          </a:p>
          <a:p>
            <a:pPr algn="l">
              <a:lnSpc>
                <a:spcPct val="140000"/>
              </a:lnSpc>
              <a:spcAft>
                <a:spcPts val="1800"/>
              </a:spcAft>
            </a:pPr>
            <a:r>
              <a:rPr sz="1550" b="1">
                <a:solidFill>
                  <a:srgbClr val="E8EAED"/>
                </a:solidFill>
                <a:latin typeface="Arial"/>
                <a:ea typeface="Arial"/>
              </a:rPr>
              <a:t>Indicator marketplace</a:t>
            </a:r>
            <a:r>
              <a:rPr sz="1250">
                <a:solidFill>
                  <a:srgbClr val="9AA1AB"/>
                </a:solidFill>
                <a:latin typeface="Arial"/>
                <a:ea typeface="Arial"/>
              </a:rPr>
              <a:t> — configurable take rate; creator ecosystem already live</a:t>
            </a:r>
          </a:p>
          <a:p>
            <a:pPr algn="l">
              <a:lnSpc>
                <a:spcPct val="140000"/>
              </a:lnSpc>
              <a:spcAft>
                <a:spcPts val="0"/>
              </a:spcAft>
            </a:pPr>
            <a:r>
              <a:rPr sz="1550" b="1">
                <a:solidFill>
                  <a:srgbClr val="E8EAED"/>
                </a:solidFill>
                <a:latin typeface="Arial"/>
                <a:ea typeface="Arial"/>
              </a:rPr>
              <a:t>Referrals</a:t>
            </a:r>
            <a:r>
              <a:rPr sz="1250">
                <a:solidFill>
                  <a:srgbClr val="9AA1AB"/>
                </a:solidFill>
                <a:latin typeface="Arial"/>
                <a:ea typeface="Arial"/>
              </a:rPr>
              <a:t> — 100 signup credits, 3-tier 10/5/3% commissions (built in)</a:t>
            </a:r>
          </a:p>
        </p:txBody>
      </p:sp>
      <p:sp>
        <p:nvSpPr>
          <p:cNvPr id="8" name="TextBox 8">
            <a:extLst>
              <a:ext uri="{FF2B5EF4-FFF2-40B4-BE49-F238E27FC236}">
                <a16:creationId xmlns:a16="http://schemas.microsoft.com/office/drawing/2014/main" id="{C1ED2AC9-625C-4BD6-BBFA-3EC92D048FB6}"/>
              </a:ext>
            </a:extLst>
          </p:cNvPr>
          <p:cNvSpPr txBox="1"/>
          <p:nvPr/>
        </p:nvSpPr>
        <p:spPr>
          <a:xfrm>
            <a:off x="685800" y="5638800"/>
            <a:ext cx="10820400" cy="266700"/>
          </a:xfrm>
        </p:spPr>
        <p:txBody>
          <a:bodyPr wrap="square" rtlCol="0" lIns="0" tIns="0" rIns="0" bIns="0" anchor="t"/>
          <a:lstStyle/>
          <a:p>
            <a:pPr algn="l">
              <a:lnSpc>
                <a:spcPct val="110000"/>
              </a:lnSpc>
            </a:pPr>
            <a:r>
              <a:rPr sz="1400">
                <a:solidFill>
                  <a:srgbClr val="8FB8FF"/>
                </a:solidFill>
                <a:latin typeface="Arial"/>
                <a:ea typeface="Arial"/>
              </a:rPr>
              <a:t>Payments (Stripe + stablecoins) built in — switch on to monetize at scale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73C7B028-7E9D-40E1-8A8F-411E9E727EAA}"/>
              </a:ext>
            </a:extLst>
          </p:cNvPr>
          <p:cNvSpPr txBox="1"/>
          <p:nvPr/>
        </p:nvSpPr>
        <p:spPr>
          <a:xfrm>
            <a:off x="685800" y="457200"/>
            <a:ext cx="10820400" cy="569976"/>
          </a:xfrm>
        </p:spPr>
        <p:txBody>
          <a:bodyPr wrap="square" rtlCol="0" lIns="0" tIns="0" rIns="0" bIns="0" anchor="t"/>
          <a:lstStyle/>
          <a:p>
            <a:pPr algn="l">
              <a:lnSpc>
                <a:spcPct val="110000"/>
              </a:lnSpc>
            </a:pPr>
            <a:r>
              <a:rPr sz="3400" b="1">
                <a:solidFill>
                  <a:srgbClr val="E8EAED"/>
                </a:solidFill>
                <a:latin typeface="Arial"/>
                <a:ea typeface="Arial"/>
              </a:rPr>
              <a:t>Engineering Moat: Trading-Grade Safety &amp; Scale</a:t>
            </a:r>
          </a:p>
        </p:txBody>
      </p:sp>
      <p:sp>
        <p:nvSpPr>
          <p:cNvPr id="4" name="TextBox 4">
            <a:extLst>
              <a:ext uri="{FF2B5EF4-FFF2-40B4-BE49-F238E27FC236}">
                <a16:creationId xmlns:a16="http://schemas.microsoft.com/office/drawing/2014/main" id="{A55E9C92-06BF-4410-9AAE-B9057661904E}"/>
              </a:ext>
            </a:extLst>
          </p:cNvPr>
          <p:cNvSpPr txBox="1"/>
          <p:nvPr/>
        </p:nvSpPr>
        <p:spPr>
          <a:xfrm>
            <a:off x="685800" y="1104900"/>
            <a:ext cx="10820400" cy="266700"/>
          </a:xfrm>
        </p:spPr>
        <p:txBody>
          <a:bodyPr wrap="square" rtlCol="0" lIns="0" tIns="0" rIns="0" bIns="0" anchor="t"/>
          <a:lstStyle/>
          <a:p>
            <a:pPr algn="l">
              <a:lnSpc>
                <a:spcPct val="110000"/>
              </a:lnSpc>
            </a:pPr>
            <a:r>
              <a:rPr sz="1500">
                <a:solidFill>
                  <a:srgbClr val="9AA1AB"/>
                </a:solidFill>
                <a:latin typeface="Arial"/>
                <a:ea typeface="Arial"/>
              </a:rPr>
              <a:t>The complexity of a full-loop product is the moat — every number is verifiable</a:t>
            </a:r>
          </a:p>
        </p:txBody>
      </p:sp>
      <p:sp>
        <p:nvSpPr>
          <p:cNvPr id="5" name="Shape 5">
            <a:extLst>
              <a:ext uri="{FF2B5EF4-FFF2-40B4-BE49-F238E27FC236}">
                <a16:creationId xmlns:a16="http://schemas.microsoft.com/office/drawing/2014/main" id="{1A1E9C94-EB25-44AB-B362-68E5BDA3F63E}"/>
              </a:ext>
            </a:extLst>
          </p:cNvPr>
          <p:cNvSpPr/>
          <p:nvPr/>
        </p:nvSpPr>
        <p:spPr>
          <a:xfrm>
            <a:off x="685800" y="1619250"/>
            <a:ext cx="3352800" cy="3429000"/>
          </a:xfrm>
          <a:prstGeom prst="roundRect">
            <a:avLst/>
          </a:prstGeom>
          <a:solidFill>
            <a:srgbClr val="14181F"/>
          </a:solidFill>
          <a:ln w="12700">
            <a:solidFill>
              <a:srgbClr val="232A33"/>
            </a:solidFill>
          </a:ln>
        </p:spPr>
        <p:txBody>
          <a:bodyPr wrap="square" rtlCol="0"/>
          <a:lstStyle/>
          <a:p>
            <a:r>
              <a:rPr/>
              <a:t/>
            </a:r>
          </a:p>
        </p:txBody>
      </p:sp>
      <p:sp>
        <p:nvSpPr>
          <p:cNvPr id="6" name="Shape 6">
            <a:extLst>
              <a:ext uri="{FF2B5EF4-FFF2-40B4-BE49-F238E27FC236}">
                <a16:creationId xmlns:a16="http://schemas.microsoft.com/office/drawing/2014/main" id="{7222A4F9-985A-461A-8704-C8DA60FA48E9}"/>
              </a:ext>
            </a:extLst>
          </p:cNvPr>
          <p:cNvSpPr/>
          <p:nvPr/>
        </p:nvSpPr>
        <p:spPr>
          <a:xfrm>
            <a:off x="4419600" y="1619250"/>
            <a:ext cx="3352800" cy="3429000"/>
          </a:xfrm>
          <a:prstGeom prst="roundRect">
            <a:avLst/>
          </a:prstGeom>
          <a:solidFill>
            <a:srgbClr val="14181F"/>
          </a:solidFill>
          <a:ln w="12700">
            <a:solidFill>
              <a:srgbClr val="232A33"/>
            </a:solidFill>
          </a:ln>
        </p:spPr>
        <p:txBody>
          <a:bodyPr wrap="square" rtlCol="0"/>
          <a:lstStyle/>
          <a:p>
            <a:r>
              <a:rPr/>
              <a:t/>
            </a:r>
          </a:p>
        </p:txBody>
      </p:sp>
      <p:sp>
        <p:nvSpPr>
          <p:cNvPr id="7" name="Shape 7">
            <a:extLst>
              <a:ext uri="{FF2B5EF4-FFF2-40B4-BE49-F238E27FC236}">
                <a16:creationId xmlns:a16="http://schemas.microsoft.com/office/drawing/2014/main" id="{7A104EFC-225E-44EA-B4EE-10D0DC7DE68F}"/>
              </a:ext>
            </a:extLst>
          </p:cNvPr>
          <p:cNvSpPr/>
          <p:nvPr/>
        </p:nvSpPr>
        <p:spPr>
          <a:xfrm>
            <a:off x="8153400" y="1619250"/>
            <a:ext cx="3352800" cy="3429000"/>
          </a:xfrm>
          <a:prstGeom prst="roundRect">
            <a:avLst/>
          </a:prstGeom>
          <a:solidFill>
            <a:srgbClr val="14181F"/>
          </a:solidFill>
          <a:ln w="12700">
            <a:solidFill>
              <a:srgbClr val="232A33"/>
            </a:solidFill>
          </a:ln>
        </p:spPr>
        <p:txBody>
          <a:bodyPr wrap="square" rtlCol="0"/>
          <a:lstStyle/>
          <a:p>
            <a:r>
              <a:rPr/>
              <a:t/>
            </a:r>
          </a:p>
        </p:txBody>
      </p:sp>
      <p:sp>
        <p:nvSpPr>
          <p:cNvPr id="8" name="TextBox 8">
            <a:extLst>
              <a:ext uri="{FF2B5EF4-FFF2-40B4-BE49-F238E27FC236}">
                <a16:creationId xmlns:a16="http://schemas.microsoft.com/office/drawing/2014/main" id="{A7D2535F-378B-47FB-8F5E-03B24D04BBF9}"/>
              </a:ext>
            </a:extLst>
          </p:cNvPr>
          <p:cNvSpPr txBox="1"/>
          <p:nvPr/>
        </p:nvSpPr>
        <p:spPr>
          <a:xfrm>
            <a:off x="952500" y="1924050"/>
            <a:ext cx="2819400" cy="419100"/>
          </a:xfrm>
        </p:spPr>
        <p:txBody>
          <a:bodyPr wrap="square" rtlCol="0" lIns="0" tIns="0" rIns="0" bIns="0" anchor="t"/>
          <a:lstStyle/>
          <a:p>
            <a:pPr algn="l">
              <a:lnSpc>
                <a:spcPct val="110000"/>
              </a:lnSpc>
            </a:pPr>
            <a:r>
              <a:rPr sz="1900" b="1">
                <a:solidFill>
                  <a:srgbClr val="E8EAED"/>
                </a:solidFill>
                <a:latin typeface="Arial"/>
                <a:ea typeface="Arial"/>
              </a:rPr>
              <a:t>Distributed runtime</a:t>
            </a:r>
          </a:p>
        </p:txBody>
      </p:sp>
      <p:sp>
        <p:nvSpPr>
          <p:cNvPr id="9" name="TextBox 9">
            <a:extLst>
              <a:ext uri="{FF2B5EF4-FFF2-40B4-BE49-F238E27FC236}">
                <a16:creationId xmlns:a16="http://schemas.microsoft.com/office/drawing/2014/main" id="{709EC203-F572-48E6-8B2D-FEBEB613BD67}"/>
              </a:ext>
            </a:extLst>
          </p:cNvPr>
          <p:cNvSpPr txBox="1"/>
          <p:nvPr/>
        </p:nvSpPr>
        <p:spPr>
          <a:xfrm>
            <a:off x="952500" y="2438400"/>
            <a:ext cx="2819400" cy="2381250"/>
          </a:xfrm>
        </p:spPr>
        <p:txBody>
          <a:bodyPr wrap="square" rtlCol="0" lIns="0" tIns="0" rIns="0" bIns="0" anchor="t"/>
          <a:lstStyle/>
          <a:p>
            <a:pPr algn="l">
              <a:lnSpc>
                <a:spcPct val="150000"/>
              </a:lnSpc>
            </a:pPr>
            <a:r>
              <a:rPr sz="1300">
                <a:solidFill>
                  <a:srgbClr val="9AA1AB"/>
                </a:solidFill>
                <a:latin typeface="Arial"/>
                <a:ea typeface="Arial"/>
              </a:rPr>
              <a:t>18 container services: PostgreSQL as the single source of truth · Kafka versioned events · strategy runtimes physically isolated from the API tier.</a:t>
            </a:r>
          </a:p>
        </p:txBody>
      </p:sp>
      <p:sp>
        <p:nvSpPr>
          <p:cNvPr id="10" name="TextBox 10">
            <a:extLst>
              <a:ext uri="{FF2B5EF4-FFF2-40B4-BE49-F238E27FC236}">
                <a16:creationId xmlns:a16="http://schemas.microsoft.com/office/drawing/2014/main" id="{DD3F3439-2FBF-40AB-A21F-05B499510E15}"/>
              </a:ext>
            </a:extLst>
          </p:cNvPr>
          <p:cNvSpPr txBox="1"/>
          <p:nvPr/>
        </p:nvSpPr>
        <p:spPr>
          <a:xfrm>
            <a:off x="4686300" y="1924050"/>
            <a:ext cx="2819400" cy="419100"/>
          </a:xfrm>
        </p:spPr>
        <p:txBody>
          <a:bodyPr wrap="square" rtlCol="0" lIns="0" tIns="0" rIns="0" bIns="0" anchor="t"/>
          <a:lstStyle/>
          <a:p>
            <a:pPr algn="l">
              <a:lnSpc>
                <a:spcPct val="110000"/>
              </a:lnSpc>
            </a:pPr>
            <a:r>
              <a:rPr sz="1900" b="1">
                <a:solidFill>
                  <a:srgbClr val="E8EAED"/>
                </a:solidFill>
                <a:latin typeface="Arial"/>
                <a:ea typeface="Arial"/>
              </a:rPr>
              <a:t>Fund-safety by design</a:t>
            </a:r>
          </a:p>
        </p:txBody>
      </p:sp>
      <p:sp>
        <p:nvSpPr>
          <p:cNvPr id="11" name="TextBox 11">
            <a:extLst>
              <a:ext uri="{FF2B5EF4-FFF2-40B4-BE49-F238E27FC236}">
                <a16:creationId xmlns:a16="http://schemas.microsoft.com/office/drawing/2014/main" id="{28F3326C-FB3C-455D-8C21-36497967A86E}"/>
              </a:ext>
            </a:extLst>
          </p:cNvPr>
          <p:cNvSpPr txBox="1"/>
          <p:nvPr/>
        </p:nvSpPr>
        <p:spPr>
          <a:xfrm>
            <a:off x="4686300" y="2438400"/>
            <a:ext cx="2819400" cy="2381250"/>
          </a:xfrm>
        </p:spPr>
        <p:txBody>
          <a:bodyPr wrap="square" rtlCol="0" lIns="0" tIns="0" rIns="0" bIns="0" anchor="t"/>
          <a:lstStyle/>
          <a:p>
            <a:pPr algn="l">
              <a:lnSpc>
                <a:spcPct val="150000"/>
              </a:lnSpc>
            </a:pPr>
            <a:r>
              <a:rPr sz="1300">
                <a:solidFill>
                  <a:srgbClr val="9AA1AB"/>
                </a:solidFill>
                <a:latin typeface="Arial"/>
                <a:ea typeface="Arial"/>
              </a:rPr>
              <a:t>Leases + heartbeats + fencing + idempotency keys prevent duplicate orders; a 4-condition gate for agent live trading; full audit trail.</a:t>
            </a:r>
          </a:p>
        </p:txBody>
      </p:sp>
      <p:sp>
        <p:nvSpPr>
          <p:cNvPr id="12" name="TextBox 12">
            <a:extLst>
              <a:ext uri="{FF2B5EF4-FFF2-40B4-BE49-F238E27FC236}">
                <a16:creationId xmlns:a16="http://schemas.microsoft.com/office/drawing/2014/main" id="{7FA36249-C1F7-4926-A9F9-8BF36F152135}"/>
              </a:ext>
            </a:extLst>
          </p:cNvPr>
          <p:cNvSpPr txBox="1"/>
          <p:nvPr/>
        </p:nvSpPr>
        <p:spPr>
          <a:xfrm>
            <a:off x="8420100" y="1924050"/>
            <a:ext cx="2819400" cy="419100"/>
          </a:xfrm>
        </p:spPr>
        <p:txBody>
          <a:bodyPr wrap="square" rtlCol="0" lIns="0" tIns="0" rIns="0" bIns="0" anchor="t"/>
          <a:lstStyle/>
          <a:p>
            <a:pPr algn="l">
              <a:lnSpc>
                <a:spcPct val="110000"/>
              </a:lnSpc>
            </a:pPr>
            <a:r>
              <a:rPr sz="1900" b="1">
                <a:solidFill>
                  <a:srgbClr val="E8EAED"/>
                </a:solidFill>
                <a:latin typeface="Arial"/>
                <a:ea typeface="Arial"/>
              </a:rPr>
              <a:t>Scale &amp; trust</a:t>
            </a:r>
          </a:p>
        </p:txBody>
      </p:sp>
      <p:sp>
        <p:nvSpPr>
          <p:cNvPr id="13" name="TextBox 13">
            <a:extLst>
              <a:ext uri="{FF2B5EF4-FFF2-40B4-BE49-F238E27FC236}">
                <a16:creationId xmlns:a16="http://schemas.microsoft.com/office/drawing/2014/main" id="{802648EA-92AE-4C1D-91ED-1B0E873AC774}"/>
              </a:ext>
            </a:extLst>
          </p:cNvPr>
          <p:cNvSpPr txBox="1"/>
          <p:nvPr/>
        </p:nvSpPr>
        <p:spPr>
          <a:xfrm>
            <a:off x="8420100" y="2438400"/>
            <a:ext cx="2819400" cy="2381250"/>
          </a:xfrm>
        </p:spPr>
        <p:txBody>
          <a:bodyPr wrap="square" rtlCol="0" lIns="0" tIns="0" rIns="0" bIns="0" anchor="t"/>
          <a:lstStyle/>
          <a:p>
            <a:pPr algn="l">
              <a:lnSpc>
                <a:spcPct val="150000"/>
              </a:lnSpc>
            </a:pPr>
            <a:r>
              <a:rPr sz="1300">
                <a:solidFill>
                  <a:srgbClr val="9AA1AB"/>
                </a:solidFill>
                <a:latin typeface="Arial"/>
                <a:ea typeface="Arial"/>
              </a:rPr>
              <a:t>0 known dependency vulnerabilities; 4-tier multi-tenancy; V6 target of 20k users / 100k concurrent strategies; private self-hosting supported.</a:t>
            </a:r>
          </a:p>
        </p:txBody>
      </p:sp>
      <p:sp>
        <p:nvSpPr>
          <p:cNvPr id="14" name="TextBox 14">
            <a:extLst>
              <a:ext uri="{FF2B5EF4-FFF2-40B4-BE49-F238E27FC236}">
                <a16:creationId xmlns:a16="http://schemas.microsoft.com/office/drawing/2014/main" id="{E005B612-63C4-48AA-92B0-75C23D4911E8}"/>
              </a:ext>
            </a:extLst>
          </p:cNvPr>
          <p:cNvSpPr txBox="1"/>
          <p:nvPr/>
        </p:nvSpPr>
        <p:spPr>
          <a:xfrm>
            <a:off x="685800" y="5524500"/>
            <a:ext cx="10820400" cy="266700"/>
          </a:xfrm>
        </p:spPr>
        <p:txBody>
          <a:bodyPr wrap="square" rtlCol="0" lIns="0" tIns="0" rIns="0" bIns="0" anchor="t"/>
          <a:lstStyle/>
          <a:p>
            <a:pPr algn="l">
              <a:lnSpc>
                <a:spcPct val="110000"/>
              </a:lnSpc>
            </a:pPr>
            <a:r>
              <a:rPr sz="1500">
                <a:solidFill>
                  <a:srgbClr val="9AA1AB"/>
                </a:solidFill>
                <a:latin typeface="Arial"/>
                <a:ea typeface="Arial"/>
              </a:rPr>
              <a:t>Self-hosting: </a:t>
            </a:r>
            <a:r>
              <a:rPr sz="1500" b="1">
                <a:solidFill>
                  <a:srgbClr val="63E2B7"/>
                </a:solidFill>
                <a:latin typeface="Arial"/>
                <a:ea typeface="Arial"/>
              </a:rPr>
              <a:t>one-command install for data-sovereignty-sensitive studios and institutions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DCF7CFE1-4CCB-444C-BBDE-B13FEC32E8C5}"/>
              </a:ext>
            </a:extLst>
          </p:cNvPr>
          <p:cNvSpPr txBox="1"/>
          <p:nvPr/>
        </p:nvSpPr>
        <p:spPr>
          <a:xfrm>
            <a:off x="685800" y="495300"/>
            <a:ext cx="10820400" cy="533400"/>
          </a:xfrm>
        </p:spPr>
        <p:txBody>
          <a:bodyPr wrap="square" rtlCol="0" lIns="0" tIns="0" rIns="0" bIns="0" anchor="t"/>
          <a:lstStyle/>
          <a:p>
            <a:pPr algn="l">
              <a:lnSpc>
                <a:spcPct val="110000"/>
              </a:lnSpc>
            </a:pPr>
            <a:r>
              <a:rPr sz="3000" b="1">
                <a:solidFill>
                  <a:srgbClr val="E8EAED"/>
                </a:solidFill>
                <a:latin typeface="Arial"/>
                <a:ea typeface="Arial"/>
              </a:rPr>
              <a:t>Three Months: From Architecture Upgrade to Production</a:t>
            </a:r>
          </a:p>
        </p:txBody>
      </p:sp>
      <p:sp>
        <p:nvSpPr>
          <p:cNvPr id="4" name="TextBox 4">
            <a:extLst>
              <a:ext uri="{FF2B5EF4-FFF2-40B4-BE49-F238E27FC236}">
                <a16:creationId xmlns:a16="http://schemas.microsoft.com/office/drawing/2014/main" id="{EF176525-3BDB-4384-A83A-C8254382DCDE}"/>
              </a:ext>
            </a:extLst>
          </p:cNvPr>
          <p:cNvSpPr txBox="1"/>
          <p:nvPr/>
        </p:nvSpPr>
        <p:spPr>
          <a:xfrm>
            <a:off x="685800" y="1123950"/>
            <a:ext cx="10820400" cy="266700"/>
          </a:xfrm>
        </p:spPr>
        <p:txBody>
          <a:bodyPr wrap="square" rtlCol="0" lIns="0" tIns="0" rIns="0" bIns="0" anchor="t"/>
          <a:lstStyle/>
          <a:p>
            <a:pPr algn="l">
              <a:lnSpc>
                <a:spcPct val="110000"/>
              </a:lnSpc>
            </a:pPr>
            <a:r>
              <a:rPr sz="1500">
                <a:solidFill>
                  <a:srgbClr val="9AA1AB"/>
                </a:solidFill>
                <a:latin typeface="Arial"/>
                <a:ea typeface="Arial"/>
              </a:rPr>
              <a:t>Jul–Oct 2026; every step verifiable in production and in the repository</a:t>
            </a:r>
          </a:p>
        </p:txBody>
      </p:sp>
      <p:sp>
        <p:nvSpPr>
          <p:cNvPr id="5" name="Shape 5">
            <a:extLst>
              <a:ext uri="{FF2B5EF4-FFF2-40B4-BE49-F238E27FC236}">
                <a16:creationId xmlns:a16="http://schemas.microsoft.com/office/drawing/2014/main" id="{473E71B0-10B6-43E8-86E3-C671D6CA0AB1}"/>
              </a:ext>
            </a:extLst>
          </p:cNvPr>
          <p:cNvSpPr/>
          <p:nvPr/>
        </p:nvSpPr>
        <p:spPr>
          <a:xfrm>
            <a:off x="1143000" y="3619500"/>
            <a:ext cx="9906000" cy="19050"/>
          </a:xfrm>
          <a:prstGeom prst="rect">
            <a:avLst/>
          </a:prstGeom>
          <a:solidFill>
            <a:srgbClr val="232A33"/>
          </a:solidFill>
        </p:spPr>
        <p:txBody>
          <a:bodyPr wrap="square" rtlCol="0"/>
          <a:lstStyle/>
          <a:p>
            <a:r>
              <a:rPr/>
              <a:t/>
            </a:r>
          </a:p>
        </p:txBody>
      </p:sp>
      <p:sp>
        <p:nvSpPr>
          <p:cNvPr id="6" name="Shape 6">
            <a:extLst>
              <a:ext uri="{FF2B5EF4-FFF2-40B4-BE49-F238E27FC236}">
                <a16:creationId xmlns:a16="http://schemas.microsoft.com/office/drawing/2014/main" id="{4512D04F-5F12-4186-B4B0-B8AEBF88CCB7}"/>
              </a:ext>
            </a:extLst>
          </p:cNvPr>
          <p:cNvSpPr/>
          <p:nvPr/>
        </p:nvSpPr>
        <p:spPr>
          <a:xfrm>
            <a:off x="2066925" y="3562350"/>
            <a:ext cx="133350" cy="133350"/>
          </a:xfrm>
          <a:prstGeom prst="ellipse">
            <a:avLst/>
          </a:prstGeom>
          <a:solidFill>
            <a:srgbClr val="63E2B7"/>
          </a:solidFill>
        </p:spPr>
        <p:txBody>
          <a:bodyPr wrap="square" rtlCol="0"/>
          <a:lstStyle/>
          <a:p>
            <a:r>
              <a:rPr/>
              <a:t/>
            </a:r>
          </a:p>
        </p:txBody>
      </p:sp>
      <p:sp>
        <p:nvSpPr>
          <p:cNvPr id="7" name="Shape 7">
            <a:extLst>
              <a:ext uri="{FF2B5EF4-FFF2-40B4-BE49-F238E27FC236}">
                <a16:creationId xmlns:a16="http://schemas.microsoft.com/office/drawing/2014/main" id="{174CF2FB-7315-4D34-9D34-A22ECFF2A3E3}"/>
              </a:ext>
            </a:extLst>
          </p:cNvPr>
          <p:cNvSpPr/>
          <p:nvPr/>
        </p:nvSpPr>
        <p:spPr>
          <a:xfrm>
            <a:off x="4048125" y="3562350"/>
            <a:ext cx="133350" cy="133350"/>
          </a:xfrm>
          <a:prstGeom prst="ellipse">
            <a:avLst/>
          </a:prstGeom>
          <a:solidFill>
            <a:srgbClr val="63E2B7"/>
          </a:solidFill>
        </p:spPr>
        <p:txBody>
          <a:bodyPr wrap="square" rtlCol="0"/>
          <a:lstStyle/>
          <a:p>
            <a:r>
              <a:rPr/>
              <a:t/>
            </a:r>
          </a:p>
        </p:txBody>
      </p:sp>
      <p:sp>
        <p:nvSpPr>
          <p:cNvPr id="8" name="Shape 8">
            <a:extLst>
              <a:ext uri="{FF2B5EF4-FFF2-40B4-BE49-F238E27FC236}">
                <a16:creationId xmlns:a16="http://schemas.microsoft.com/office/drawing/2014/main" id="{11581EA2-41C0-4976-8DB5-847C4DEA5222}"/>
              </a:ext>
            </a:extLst>
          </p:cNvPr>
          <p:cNvSpPr/>
          <p:nvPr/>
        </p:nvSpPr>
        <p:spPr>
          <a:xfrm>
            <a:off x="6029325" y="3562350"/>
            <a:ext cx="133350" cy="133350"/>
          </a:xfrm>
          <a:prstGeom prst="ellipse">
            <a:avLst/>
          </a:prstGeom>
          <a:solidFill>
            <a:srgbClr val="63E2B7"/>
          </a:solidFill>
        </p:spPr>
        <p:txBody>
          <a:bodyPr wrap="square" rtlCol="0"/>
          <a:lstStyle/>
          <a:p>
            <a:r>
              <a:rPr/>
              <a:t/>
            </a:r>
          </a:p>
        </p:txBody>
      </p:sp>
      <p:sp>
        <p:nvSpPr>
          <p:cNvPr id="9" name="Shape 9">
            <a:extLst>
              <a:ext uri="{FF2B5EF4-FFF2-40B4-BE49-F238E27FC236}">
                <a16:creationId xmlns:a16="http://schemas.microsoft.com/office/drawing/2014/main" id="{AA543AD8-0411-4CE7-A6C8-41981BA30927}"/>
              </a:ext>
            </a:extLst>
          </p:cNvPr>
          <p:cNvSpPr/>
          <p:nvPr/>
        </p:nvSpPr>
        <p:spPr>
          <a:xfrm>
            <a:off x="8010525" y="3562350"/>
            <a:ext cx="133350" cy="133350"/>
          </a:xfrm>
          <a:prstGeom prst="ellipse">
            <a:avLst/>
          </a:prstGeom>
          <a:solidFill>
            <a:srgbClr val="63E2B7"/>
          </a:solidFill>
        </p:spPr>
        <p:txBody>
          <a:bodyPr wrap="square" rtlCol="0"/>
          <a:lstStyle/>
          <a:p>
            <a:r>
              <a:rPr/>
              <a:t/>
            </a:r>
          </a:p>
        </p:txBody>
      </p:sp>
      <p:sp>
        <p:nvSpPr>
          <p:cNvPr id="10" name="Shape 10">
            <a:extLst>
              <a:ext uri="{FF2B5EF4-FFF2-40B4-BE49-F238E27FC236}">
                <a16:creationId xmlns:a16="http://schemas.microsoft.com/office/drawing/2014/main" id="{F71D67FE-5760-4259-8E92-FD814B968D1A}"/>
              </a:ext>
            </a:extLst>
          </p:cNvPr>
          <p:cNvSpPr/>
          <p:nvPr/>
        </p:nvSpPr>
        <p:spPr>
          <a:xfrm>
            <a:off x="9991725" y="3562350"/>
            <a:ext cx="133350" cy="133350"/>
          </a:xfrm>
          <a:prstGeom prst="ellipse">
            <a:avLst/>
          </a:prstGeom>
          <a:solidFill>
            <a:srgbClr val="63E2B7"/>
          </a:solidFill>
        </p:spPr>
        <p:txBody>
          <a:bodyPr wrap="square" rtlCol="0"/>
          <a:lstStyle/>
          <a:p>
            <a:r>
              <a:rPr/>
              <a:t/>
            </a:r>
          </a:p>
        </p:txBody>
      </p:sp>
      <p:sp>
        <p:nvSpPr>
          <p:cNvPr id="11" name="TextBox 11">
            <a:extLst>
              <a:ext uri="{FF2B5EF4-FFF2-40B4-BE49-F238E27FC236}">
                <a16:creationId xmlns:a16="http://schemas.microsoft.com/office/drawing/2014/main" id="{F8839F09-2C65-4B4D-9D89-6F379252D5F6}"/>
              </a:ext>
            </a:extLst>
          </p:cNvPr>
          <p:cNvSpPr txBox="1"/>
          <p:nvPr/>
        </p:nvSpPr>
        <p:spPr>
          <a:xfrm>
            <a:off x="1228725" y="3257550"/>
            <a:ext cx="1809750" cy="247650"/>
          </a:xfrm>
        </p:spPr>
        <p:txBody>
          <a:bodyPr wrap="square" rtlCol="0" lIns="0" tIns="0" rIns="0" bIns="0" anchor="t"/>
          <a:lstStyle/>
          <a:p>
            <a:pPr algn="ctr">
              <a:lnSpc>
                <a:spcPct val="110000"/>
              </a:lnSpc>
            </a:pPr>
            <a:r>
              <a:rPr sz="1300" b="1">
                <a:solidFill>
                  <a:srgbClr val="63E2B7"/>
                </a:solidFill>
                <a:latin typeface="Arial"/>
                <a:ea typeface="Arial"/>
              </a:rPr>
              <a:t>2026-07</a:t>
            </a:r>
          </a:p>
        </p:txBody>
      </p:sp>
      <p:sp>
        <p:nvSpPr>
          <p:cNvPr id="12" name="TextBox 12">
            <a:extLst>
              <a:ext uri="{FF2B5EF4-FFF2-40B4-BE49-F238E27FC236}">
                <a16:creationId xmlns:a16="http://schemas.microsoft.com/office/drawing/2014/main" id="{40A7AD23-72B9-46C8-9DB9-BA9A0BDD949F}"/>
              </a:ext>
            </a:extLst>
          </p:cNvPr>
          <p:cNvSpPr txBox="1"/>
          <p:nvPr/>
        </p:nvSpPr>
        <p:spPr>
          <a:xfrm>
            <a:off x="3209925" y="3257550"/>
            <a:ext cx="1809750" cy="247650"/>
          </a:xfrm>
        </p:spPr>
        <p:txBody>
          <a:bodyPr wrap="square" rtlCol="0" lIns="0" tIns="0" rIns="0" bIns="0" anchor="t"/>
          <a:lstStyle/>
          <a:p>
            <a:pPr algn="ctr">
              <a:lnSpc>
                <a:spcPct val="110000"/>
              </a:lnSpc>
            </a:pPr>
            <a:r>
              <a:rPr sz="1300" b="1">
                <a:solidFill>
                  <a:srgbClr val="63E2B7"/>
                </a:solidFill>
                <a:latin typeface="Arial"/>
                <a:ea typeface="Arial"/>
              </a:rPr>
              <a:t>2026-09-20</a:t>
            </a:r>
          </a:p>
        </p:txBody>
      </p:sp>
      <p:sp>
        <p:nvSpPr>
          <p:cNvPr id="13" name="TextBox 13">
            <a:extLst>
              <a:ext uri="{FF2B5EF4-FFF2-40B4-BE49-F238E27FC236}">
                <a16:creationId xmlns:a16="http://schemas.microsoft.com/office/drawing/2014/main" id="{DF69586A-F5D6-4348-906D-48F5B0980151}"/>
              </a:ext>
            </a:extLst>
          </p:cNvPr>
          <p:cNvSpPr txBox="1"/>
          <p:nvPr/>
        </p:nvSpPr>
        <p:spPr>
          <a:xfrm>
            <a:off x="5191125" y="3257550"/>
            <a:ext cx="1809750" cy="247650"/>
          </a:xfrm>
        </p:spPr>
        <p:txBody>
          <a:bodyPr wrap="square" rtlCol="0" lIns="0" tIns="0" rIns="0" bIns="0" anchor="t"/>
          <a:lstStyle/>
          <a:p>
            <a:pPr algn="ctr">
              <a:lnSpc>
                <a:spcPct val="110000"/>
              </a:lnSpc>
            </a:pPr>
            <a:r>
              <a:rPr sz="1300" b="1">
                <a:solidFill>
                  <a:srgbClr val="63E2B7"/>
                </a:solidFill>
                <a:latin typeface="Arial"/>
                <a:ea typeface="Arial"/>
              </a:rPr>
              <a:t>2026-10-08</a:t>
            </a:r>
          </a:p>
        </p:txBody>
      </p:sp>
      <p:sp>
        <p:nvSpPr>
          <p:cNvPr id="14" name="TextBox 14">
            <a:extLst>
              <a:ext uri="{FF2B5EF4-FFF2-40B4-BE49-F238E27FC236}">
                <a16:creationId xmlns:a16="http://schemas.microsoft.com/office/drawing/2014/main" id="{301B88AC-7564-4BDD-A337-84F7D4DF6236}"/>
              </a:ext>
            </a:extLst>
          </p:cNvPr>
          <p:cNvSpPr txBox="1"/>
          <p:nvPr/>
        </p:nvSpPr>
        <p:spPr>
          <a:xfrm>
            <a:off x="7172325" y="3257550"/>
            <a:ext cx="1809750" cy="247650"/>
          </a:xfrm>
        </p:spPr>
        <p:txBody>
          <a:bodyPr wrap="square" rtlCol="0" lIns="0" tIns="0" rIns="0" bIns="0" anchor="t"/>
          <a:lstStyle/>
          <a:p>
            <a:pPr algn="ctr">
              <a:lnSpc>
                <a:spcPct val="110000"/>
              </a:lnSpc>
            </a:pPr>
            <a:r>
              <a:rPr sz="1300" b="1">
                <a:solidFill>
                  <a:srgbClr val="63E2B7"/>
                </a:solidFill>
                <a:latin typeface="Arial"/>
                <a:ea typeface="Arial"/>
              </a:rPr>
              <a:t>2026-10-10</a:t>
            </a:r>
          </a:p>
        </p:txBody>
      </p:sp>
      <p:sp>
        <p:nvSpPr>
          <p:cNvPr id="15" name="TextBox 15">
            <a:extLst>
              <a:ext uri="{FF2B5EF4-FFF2-40B4-BE49-F238E27FC236}">
                <a16:creationId xmlns:a16="http://schemas.microsoft.com/office/drawing/2014/main" id="{F0746683-7DA1-4E62-BBF6-E7780F500957}"/>
              </a:ext>
            </a:extLst>
          </p:cNvPr>
          <p:cNvSpPr txBox="1"/>
          <p:nvPr/>
        </p:nvSpPr>
        <p:spPr>
          <a:xfrm>
            <a:off x="9153525" y="3257550"/>
            <a:ext cx="1809750" cy="247650"/>
          </a:xfrm>
        </p:spPr>
        <p:txBody>
          <a:bodyPr wrap="square" rtlCol="0" lIns="0" tIns="0" rIns="0" bIns="0" anchor="t"/>
          <a:lstStyle/>
          <a:p>
            <a:pPr algn="ctr">
              <a:lnSpc>
                <a:spcPct val="110000"/>
              </a:lnSpc>
            </a:pPr>
            <a:r>
              <a:rPr sz="1300" b="1">
                <a:solidFill>
                  <a:srgbClr val="63E2B7"/>
                </a:solidFill>
                <a:latin typeface="Arial"/>
                <a:ea typeface="Arial"/>
              </a:rPr>
              <a:t>2026-10-11</a:t>
            </a:r>
          </a:p>
        </p:txBody>
      </p:sp>
      <p:sp>
        <p:nvSpPr>
          <p:cNvPr id="16" name="TextBox 16">
            <a:extLst>
              <a:ext uri="{FF2B5EF4-FFF2-40B4-BE49-F238E27FC236}">
                <a16:creationId xmlns:a16="http://schemas.microsoft.com/office/drawing/2014/main" id="{FB545FB5-A765-4A72-8C09-5A0378E6CADD}"/>
              </a:ext>
            </a:extLst>
          </p:cNvPr>
          <p:cNvSpPr txBox="1"/>
          <p:nvPr/>
        </p:nvSpPr>
        <p:spPr>
          <a:xfrm>
            <a:off x="1228725" y="3848100"/>
            <a:ext cx="1809750" cy="533400"/>
          </a:xfrm>
        </p:spPr>
        <p:txBody>
          <a:bodyPr wrap="square" rtlCol="0" lIns="0" tIns="0" rIns="0" bIns="0" anchor="t"/>
          <a:lstStyle/>
          <a:p>
            <a:pPr algn="ctr">
              <a:lnSpc>
                <a:spcPct val="120000"/>
              </a:lnSpc>
            </a:pPr>
            <a:r>
              <a:rPr sz="1450" b="1">
                <a:solidFill>
                  <a:srgbClr val="E8EAED"/>
                </a:solidFill>
                <a:latin typeface="Arial"/>
                <a:ea typeface="Arial"/>
              </a:rPr>
              <a:t>v5.5 distributed upgrade</a:t>
            </a:r>
          </a:p>
        </p:txBody>
      </p:sp>
      <p:sp>
        <p:nvSpPr>
          <p:cNvPr id="17" name="TextBox 17">
            <a:extLst>
              <a:ext uri="{FF2B5EF4-FFF2-40B4-BE49-F238E27FC236}">
                <a16:creationId xmlns:a16="http://schemas.microsoft.com/office/drawing/2014/main" id="{90E243F5-355C-4EBA-ABF0-A1D47D2681ED}"/>
              </a:ext>
            </a:extLst>
          </p:cNvPr>
          <p:cNvSpPr txBox="1"/>
          <p:nvPr/>
        </p:nvSpPr>
        <p:spPr>
          <a:xfrm>
            <a:off x="1228725" y="4457700"/>
            <a:ext cx="1809750" cy="723900"/>
          </a:xfrm>
        </p:spPr>
        <p:txBody>
          <a:bodyPr wrap="square" rtlCol="0" lIns="0" tIns="0" rIns="0" bIns="0" anchor="t"/>
          <a:lstStyle/>
          <a:p>
            <a:pPr algn="ctr">
              <a:lnSpc>
                <a:spcPct val="135000"/>
              </a:lnSpc>
            </a:pPr>
            <a:r>
              <a:rPr sz="1150">
                <a:solidFill>
                  <a:srgbClr val="9AA1AB"/>
                </a:solidFill>
                <a:latin typeface="Arial"/>
                <a:ea typeface="Arial"/>
              </a:rPr>
              <a:t>Kafka pipeline · isolated strategy runtimes · native exchange clients</a:t>
            </a:r>
          </a:p>
        </p:txBody>
      </p:sp>
      <p:sp>
        <p:nvSpPr>
          <p:cNvPr id="18" name="TextBox 18">
            <a:extLst>
              <a:ext uri="{FF2B5EF4-FFF2-40B4-BE49-F238E27FC236}">
                <a16:creationId xmlns:a16="http://schemas.microsoft.com/office/drawing/2014/main" id="{42086875-2898-4CD5-8784-6D355E3C49BA}"/>
              </a:ext>
            </a:extLst>
          </p:cNvPr>
          <p:cNvSpPr txBox="1"/>
          <p:nvPr/>
        </p:nvSpPr>
        <p:spPr>
          <a:xfrm>
            <a:off x="3209925" y="3848100"/>
            <a:ext cx="1809750" cy="533400"/>
          </a:xfrm>
        </p:spPr>
        <p:txBody>
          <a:bodyPr wrap="square" rtlCol="0" lIns="0" tIns="0" rIns="0" bIns="0" anchor="t"/>
          <a:lstStyle/>
          <a:p>
            <a:pPr algn="ctr">
              <a:lnSpc>
                <a:spcPct val="120000"/>
              </a:lnSpc>
            </a:pPr>
            <a:r>
              <a:rPr sz="1450" b="1">
                <a:solidFill>
                  <a:srgbClr val="E8EAED"/>
                </a:solidFill>
                <a:latin typeface="Arial"/>
                <a:ea typeface="Arial"/>
              </a:rPr>
              <a:t>AI gate + billing</a:t>
            </a:r>
          </a:p>
        </p:txBody>
      </p:sp>
      <p:sp>
        <p:nvSpPr>
          <p:cNvPr id="19" name="TextBox 19">
            <a:extLst>
              <a:ext uri="{FF2B5EF4-FFF2-40B4-BE49-F238E27FC236}">
                <a16:creationId xmlns:a16="http://schemas.microsoft.com/office/drawing/2014/main" id="{CFE3B5E2-A108-47E6-BC28-975369FDA247}"/>
              </a:ext>
            </a:extLst>
          </p:cNvPr>
          <p:cNvSpPr txBox="1"/>
          <p:nvPr/>
        </p:nvSpPr>
        <p:spPr>
          <a:xfrm>
            <a:off x="3209925" y="4457700"/>
            <a:ext cx="1809750" cy="723900"/>
          </a:xfrm>
        </p:spPr>
        <p:txBody>
          <a:bodyPr wrap="square" rtlCol="0" lIns="0" tIns="0" rIns="0" bIns="0" anchor="t"/>
          <a:lstStyle/>
          <a:p>
            <a:pPr algn="ctr">
              <a:lnSpc>
                <a:spcPct val="135000"/>
              </a:lnSpc>
            </a:pPr>
            <a:r>
              <a:rPr sz="1150">
                <a:solidFill>
                  <a:srgbClr val="9AA1AB"/>
                </a:solidFill>
                <a:latin typeface="Arial"/>
                <a:ea typeface="Arial"/>
              </a:rPr>
              <a:t>Strategy evolution (TPE / grid / walk-forward) + virtual accounts</a:t>
            </a:r>
          </a:p>
        </p:txBody>
      </p:sp>
      <p:sp>
        <p:nvSpPr>
          <p:cNvPr id="20" name="TextBox 20">
            <a:extLst>
              <a:ext uri="{FF2B5EF4-FFF2-40B4-BE49-F238E27FC236}">
                <a16:creationId xmlns:a16="http://schemas.microsoft.com/office/drawing/2014/main" id="{B4746E7D-CCF5-4B42-A157-FC2A77DB1480}"/>
              </a:ext>
            </a:extLst>
          </p:cNvPr>
          <p:cNvSpPr txBox="1"/>
          <p:nvPr/>
        </p:nvSpPr>
        <p:spPr>
          <a:xfrm>
            <a:off x="5191125" y="3848100"/>
            <a:ext cx="1809750" cy="533400"/>
          </a:xfrm>
        </p:spPr>
        <p:txBody>
          <a:bodyPr wrap="square" rtlCol="0" lIns="0" tIns="0" rIns="0" bIns="0" anchor="t"/>
          <a:lstStyle/>
          <a:p>
            <a:pPr algn="ctr">
              <a:lnSpc>
                <a:spcPct val="120000"/>
              </a:lnSpc>
            </a:pPr>
            <a:r>
              <a:rPr sz="1450" b="1">
                <a:solidFill>
                  <a:srgbClr val="E8EAED"/>
                </a:solidFill>
                <a:latin typeface="Arial"/>
                <a:ea typeface="Arial"/>
              </a:rPr>
              <a:t>Self-built front end</a:t>
            </a:r>
          </a:p>
        </p:txBody>
      </p:sp>
      <p:sp>
        <p:nvSpPr>
          <p:cNvPr id="21" name="TextBox 21">
            <a:extLst>
              <a:ext uri="{FF2B5EF4-FFF2-40B4-BE49-F238E27FC236}">
                <a16:creationId xmlns:a16="http://schemas.microsoft.com/office/drawing/2014/main" id="{1170923C-5BDF-4E96-843E-31534F46E671}"/>
              </a:ext>
            </a:extLst>
          </p:cNvPr>
          <p:cNvSpPr txBox="1"/>
          <p:nvPr/>
        </p:nvSpPr>
        <p:spPr>
          <a:xfrm>
            <a:off x="5191125" y="4457700"/>
            <a:ext cx="1809750" cy="723900"/>
          </a:xfrm>
        </p:spPr>
        <p:txBody>
          <a:bodyPr wrap="square" rtlCol="0" lIns="0" tIns="0" rIns="0" bIns="0" anchor="t"/>
          <a:lstStyle/>
          <a:p>
            <a:pPr algn="ctr">
              <a:lnSpc>
                <a:spcPct val="135000"/>
              </a:lnSpc>
            </a:pPr>
            <a:r>
              <a:rPr sz="1150">
                <a:solidFill>
                  <a:srgbClr val="9AA1AB"/>
                </a:solidFill>
                <a:latin typeface="Arial"/>
                <a:ea typeface="Arial"/>
              </a:rPr>
              <a:t>P0–P2 shipped in one day, containerized for production</a:t>
            </a:r>
          </a:p>
        </p:txBody>
      </p:sp>
      <p:sp>
        <p:nvSpPr>
          <p:cNvPr id="22" name="TextBox 22">
            <a:extLst>
              <a:ext uri="{FF2B5EF4-FFF2-40B4-BE49-F238E27FC236}">
                <a16:creationId xmlns:a16="http://schemas.microsoft.com/office/drawing/2014/main" id="{D9DB6436-184A-4725-815A-C5FCF01C29F4}"/>
              </a:ext>
            </a:extLst>
          </p:cNvPr>
          <p:cNvSpPr txBox="1"/>
          <p:nvPr/>
        </p:nvSpPr>
        <p:spPr>
          <a:xfrm>
            <a:off x="7172325" y="3848100"/>
            <a:ext cx="1809750" cy="533400"/>
          </a:xfrm>
        </p:spPr>
        <p:txBody>
          <a:bodyPr wrap="square" rtlCol="0" lIns="0" tIns="0" rIns="0" bIns="0" anchor="t"/>
          <a:lstStyle/>
          <a:p>
            <a:pPr algn="ctr">
              <a:lnSpc>
                <a:spcPct val="120000"/>
              </a:lnSpc>
            </a:pPr>
            <a:r>
              <a:rPr sz="1450" b="1">
                <a:solidFill>
                  <a:srgbClr val="E8EAED"/>
                </a:solidFill>
                <a:latin typeface="Arial"/>
                <a:ea typeface="Arial"/>
              </a:rPr>
              <a:t>Rebrand · go live</a:t>
            </a:r>
          </a:p>
        </p:txBody>
      </p:sp>
      <p:sp>
        <p:nvSpPr>
          <p:cNvPr id="23" name="TextBox 23">
            <a:extLst>
              <a:ext uri="{FF2B5EF4-FFF2-40B4-BE49-F238E27FC236}">
                <a16:creationId xmlns:a16="http://schemas.microsoft.com/office/drawing/2014/main" id="{4194C9F6-765D-4AD4-8977-9A38A27D89BB}"/>
              </a:ext>
            </a:extLst>
          </p:cNvPr>
          <p:cNvSpPr txBox="1"/>
          <p:nvPr/>
        </p:nvSpPr>
        <p:spPr>
          <a:xfrm>
            <a:off x="7172325" y="4457700"/>
            <a:ext cx="1809750" cy="723900"/>
          </a:xfrm>
        </p:spPr>
        <p:txBody>
          <a:bodyPr wrap="square" rtlCol="0" lIns="0" tIns="0" rIns="0" bIns="0" anchor="t"/>
          <a:lstStyle/>
          <a:p>
            <a:pPr algn="ctr">
              <a:lnSpc>
                <a:spcPct val="135000"/>
              </a:lnSpc>
            </a:pPr>
            <a:r>
              <a:rPr sz="1150">
                <a:solidFill>
                  <a:srgbClr val="9AA1AB"/>
                </a:solidFill>
                <a:latin typeface="Arial"/>
                <a:ea typeface="Arial"/>
              </a:rPr>
              <a:t>Full i18n · prediction markets · wallet · shark.aiorz.cc</a:t>
            </a:r>
          </a:p>
        </p:txBody>
      </p:sp>
      <p:sp>
        <p:nvSpPr>
          <p:cNvPr id="24" name="TextBox 24">
            <a:extLst>
              <a:ext uri="{FF2B5EF4-FFF2-40B4-BE49-F238E27FC236}">
                <a16:creationId xmlns:a16="http://schemas.microsoft.com/office/drawing/2014/main" id="{69F71890-1E12-47DC-9080-0307F6BE28B4}"/>
              </a:ext>
            </a:extLst>
          </p:cNvPr>
          <p:cNvSpPr txBox="1"/>
          <p:nvPr/>
        </p:nvSpPr>
        <p:spPr>
          <a:xfrm>
            <a:off x="9153525" y="3848100"/>
            <a:ext cx="1809750" cy="533400"/>
          </a:xfrm>
        </p:spPr>
        <p:txBody>
          <a:bodyPr wrap="square" rtlCol="0" lIns="0" tIns="0" rIns="0" bIns="0" anchor="t"/>
          <a:lstStyle/>
          <a:p>
            <a:pPr algn="ctr">
              <a:lnSpc>
                <a:spcPct val="120000"/>
              </a:lnSpc>
            </a:pPr>
            <a:r>
              <a:rPr sz="1450" b="1">
                <a:solidFill>
                  <a:srgbClr val="E8EAED"/>
                </a:solidFill>
                <a:latin typeface="Arial"/>
                <a:ea typeface="Arial"/>
              </a:rPr>
              <a:t>QA + security audit</a:t>
            </a:r>
          </a:p>
        </p:txBody>
      </p:sp>
      <p:sp>
        <p:nvSpPr>
          <p:cNvPr id="25" name="TextBox 25">
            <a:extLst>
              <a:ext uri="{FF2B5EF4-FFF2-40B4-BE49-F238E27FC236}">
                <a16:creationId xmlns:a16="http://schemas.microsoft.com/office/drawing/2014/main" id="{825BD01C-33A9-4D3C-AEFC-42D74A3D29D6}"/>
              </a:ext>
            </a:extLst>
          </p:cNvPr>
          <p:cNvSpPr txBox="1"/>
          <p:nvPr/>
        </p:nvSpPr>
        <p:spPr>
          <a:xfrm>
            <a:off x="9153525" y="4457700"/>
            <a:ext cx="1809750" cy="723900"/>
          </a:xfrm>
        </p:spPr>
        <p:txBody>
          <a:bodyPr wrap="square" rtlCol="0" lIns="0" tIns="0" rIns="0" bIns="0" anchor="t"/>
          <a:lstStyle/>
          <a:p>
            <a:pPr algn="ctr">
              <a:lnSpc>
                <a:spcPct val="135000"/>
              </a:lnSpc>
            </a:pPr>
            <a:r>
              <a:rPr sz="1150">
                <a:solidFill>
                  <a:srgbClr val="9AA1AB"/>
                </a:solidFill>
                <a:latin typeface="Arial"/>
                <a:ea typeface="Arial"/>
              </a:rPr>
              <a:t>48-route bilingual sweep · 0 known dependency vulnerabilities</a:t>
            </a:r>
          </a:p>
        </p:txBody>
      </p:sp>
      <p:sp>
        <p:nvSpPr>
          <p:cNvPr id="26" name="TextBox 26">
            <a:extLst>
              <a:ext uri="{FF2B5EF4-FFF2-40B4-BE49-F238E27FC236}">
                <a16:creationId xmlns:a16="http://schemas.microsoft.com/office/drawing/2014/main" id="{2CDDB8DB-3810-42A7-946E-CE0F1D889CF9}"/>
              </a:ext>
            </a:extLst>
          </p:cNvPr>
          <p:cNvSpPr txBox="1"/>
          <p:nvPr/>
        </p:nvSpPr>
        <p:spPr>
          <a:xfrm>
            <a:off x="685800" y="5676900"/>
            <a:ext cx="10820400" cy="266700"/>
          </a:xfrm>
        </p:spPr>
        <p:txBody>
          <a:bodyPr wrap="square" rtlCol="0" lIns="0" tIns="0" rIns="0" bIns="0" anchor="t"/>
          <a:lstStyle/>
          <a:p>
            <a:pPr algn="l">
              <a:lnSpc>
                <a:spcPct val="110000"/>
              </a:lnSpc>
            </a:pPr>
            <a:r>
              <a:rPr sz="1500">
                <a:solidFill>
                  <a:srgbClr val="9AA1AB"/>
                </a:solidFill>
                <a:latin typeface="Arial"/>
                <a:ea typeface="Arial"/>
              </a:rPr>
              <a:t>Next: </a:t>
            </a:r>
            <a:r>
              <a:rPr sz="1500" b="1">
                <a:solidFill>
                  <a:srgbClr val="63E2B7"/>
                </a:solidFill>
                <a:latin typeface="Arial"/>
                <a:ea typeface="Arial"/>
              </a:rPr>
              <a:t>payment channels · marketplace settlement · V6 scale-out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4C97965-0935-4313-87C1-44F1B8362AAC}"/>
              </a:ext>
            </a:extLst>
          </p:cNvPr>
          <p:cNvSpPr txBox="1"/>
          <p:nvPr/>
        </p:nvSpPr>
        <p:spPr>
          <a:xfrm>
            <a:off x="685800" y="457200"/>
            <a:ext cx="10820400" cy="603504"/>
          </a:xfrm>
        </p:spPr>
        <p:txBody>
          <a:bodyPr wrap="square" rtlCol="0" lIns="0" tIns="0" rIns="0" bIns="0" anchor="t"/>
          <a:lstStyle/>
          <a:p>
            <a:pPr algn="l">
              <a:lnSpc>
                <a:spcPct val="110000"/>
              </a:lnSpc>
            </a:pPr>
            <a:r>
              <a:rPr sz="3600" b="1">
                <a:solidFill>
                  <a:srgbClr val="E8EAED"/>
                </a:solidFill>
                <a:latin typeface="Arial"/>
                <a:ea typeface="Arial"/>
              </a:rPr>
              <a:t>Team &amp; Raise</a:t>
            </a:r>
          </a:p>
        </p:txBody>
      </p:sp>
      <p:sp>
        <p:nvSpPr>
          <p:cNvPr id="4" name="Shape 4">
            <a:extLst>
              <a:ext uri="{FF2B5EF4-FFF2-40B4-BE49-F238E27FC236}">
                <a16:creationId xmlns:a16="http://schemas.microsoft.com/office/drawing/2014/main" id="{AB5D4EC6-5EB0-4080-A635-35B54E44B984}"/>
              </a:ext>
            </a:extLst>
          </p:cNvPr>
          <p:cNvSpPr/>
          <p:nvPr/>
        </p:nvSpPr>
        <p:spPr>
          <a:xfrm>
            <a:off x="685800" y="1428750"/>
            <a:ext cx="5219700" cy="4095750"/>
          </a:xfrm>
          <a:prstGeom prst="roundRect">
            <a:avLst/>
          </a:prstGeom>
          <a:solidFill>
            <a:srgbClr val="14181F"/>
          </a:solidFill>
          <a:ln w="12700">
            <a:solidFill>
              <a:srgbClr val="232A33"/>
            </a:solidFill>
          </a:ln>
        </p:spPr>
        <p:txBody>
          <a:bodyPr wrap="square" rtlCol="0"/>
          <a:lstStyle/>
          <a:p>
            <a:r>
              <a:rPr/>
              <a:t/>
            </a:r>
          </a:p>
        </p:txBody>
      </p:sp>
      <p:sp>
        <p:nvSpPr>
          <p:cNvPr id="5" name="Shape 5">
            <a:extLst>
              <a:ext uri="{FF2B5EF4-FFF2-40B4-BE49-F238E27FC236}">
                <a16:creationId xmlns:a16="http://schemas.microsoft.com/office/drawing/2014/main" id="{83860D5B-DE17-4B3C-B75F-3C5B36582519}"/>
              </a:ext>
            </a:extLst>
          </p:cNvPr>
          <p:cNvSpPr/>
          <p:nvPr/>
        </p:nvSpPr>
        <p:spPr>
          <a:xfrm>
            <a:off x="6286500" y="1428750"/>
            <a:ext cx="5219700" cy="4095750"/>
          </a:xfrm>
          <a:prstGeom prst="roundRect">
            <a:avLst/>
          </a:prstGeom>
          <a:solidFill>
            <a:srgbClr val="14181F"/>
          </a:solidFill>
          <a:ln w="12700">
            <a:solidFill>
              <a:srgbClr val="232A33"/>
            </a:solidFill>
          </a:ln>
        </p:spPr>
        <p:txBody>
          <a:bodyPr wrap="square" rtlCol="0"/>
          <a:lstStyle/>
          <a:p>
            <a:r>
              <a:rPr/>
              <a:t/>
            </a:r>
          </a:p>
        </p:txBody>
      </p:sp>
      <p:sp>
        <p:nvSpPr>
          <p:cNvPr id="6" name="TextBox 6">
            <a:extLst>
              <a:ext uri="{FF2B5EF4-FFF2-40B4-BE49-F238E27FC236}">
                <a16:creationId xmlns:a16="http://schemas.microsoft.com/office/drawing/2014/main" id="{85FDDB6C-5CED-483D-B660-0587F3DCDB0B}"/>
              </a:ext>
            </a:extLst>
          </p:cNvPr>
          <p:cNvSpPr txBox="1"/>
          <p:nvPr/>
        </p:nvSpPr>
        <p:spPr>
          <a:xfrm>
            <a:off x="990600" y="1695450"/>
            <a:ext cx="4572000" cy="342900"/>
          </a:xfrm>
        </p:spPr>
        <p:txBody>
          <a:bodyPr wrap="square" rtlCol="0" lIns="0" tIns="0" rIns="0" bIns="0" anchor="t"/>
          <a:lstStyle/>
          <a:p>
            <a:pPr algn="l">
              <a:lnSpc>
                <a:spcPct val="110000"/>
              </a:lnSpc>
            </a:pPr>
            <a:r>
              <a:rPr sz="2000" b="1">
                <a:solidFill>
                  <a:srgbClr val="8FB8FF"/>
                </a:solidFill>
                <a:latin typeface="Arial"/>
                <a:ea typeface="Arial"/>
              </a:rPr>
              <a:t>Team</a:t>
            </a:r>
          </a:p>
        </p:txBody>
      </p:sp>
      <p:sp>
        <p:nvSpPr>
          <p:cNvPr id="7" name="TextBox 7">
            <a:extLst>
              <a:ext uri="{FF2B5EF4-FFF2-40B4-BE49-F238E27FC236}">
                <a16:creationId xmlns:a16="http://schemas.microsoft.com/office/drawing/2014/main" id="{124ECA9B-B486-46AE-A220-69FF13C604B1}"/>
              </a:ext>
            </a:extLst>
          </p:cNvPr>
          <p:cNvSpPr txBox="1"/>
          <p:nvPr/>
        </p:nvSpPr>
        <p:spPr>
          <a:xfrm>
            <a:off x="990600" y="2228850"/>
            <a:ext cx="4610100" cy="2476500"/>
          </a:xfrm>
        </p:spPr>
        <p:txBody>
          <a:bodyPr wrap="square" rtlCol="0" lIns="0" tIns="0" rIns="0" bIns="0" anchor="t"/>
          <a:lstStyle/>
          <a:p>
            <a:pPr algn="l">
              <a:lnSpc>
                <a:spcPct val="130000"/>
              </a:lnSpc>
              <a:spcAft>
                <a:spcPts val="2400"/>
              </a:spcAft>
            </a:pPr>
            <a:r>
              <a:rPr sz="1400" b="1">
                <a:solidFill>
                  <a:srgbClr val="E8EAED"/>
                </a:solidFill>
                <a:latin typeface="Arial"/>
                <a:ea typeface="Arial"/>
              </a:rPr>
              <a:t>Founder / CEO: </a:t>
            </a:r>
            <a:r>
              <a:rPr sz="1300" i="1">
                <a:solidFill>
                  <a:srgbClr val="8FB8FF"/>
                </a:solidFill>
                <a:latin typeface="Arial"/>
                <a:ea typeface="Arial"/>
              </a:rPr>
              <a:t>[TBD: name · one-line background]</a:t>
            </a:r>
          </a:p>
          <a:p>
            <a:pPr algn="l">
              <a:lnSpc>
                <a:spcPct val="130000"/>
              </a:lnSpc>
              <a:spcAft>
                <a:spcPts val="2400"/>
              </a:spcAft>
            </a:pPr>
            <a:r>
              <a:rPr sz="1400" b="1">
                <a:solidFill>
                  <a:srgbClr val="E8EAED"/>
                </a:solidFill>
                <a:latin typeface="Arial"/>
                <a:ea typeface="Arial"/>
              </a:rPr>
              <a:t>CTO / Tech lead: </a:t>
            </a:r>
            <a:r>
              <a:rPr sz="1300" i="1">
                <a:solidFill>
                  <a:srgbClr val="8FB8FF"/>
                </a:solidFill>
                <a:latin typeface="Arial"/>
                <a:ea typeface="Arial"/>
              </a:rPr>
              <a:t>[TBD]</a:t>
            </a:r>
          </a:p>
          <a:p>
            <a:pPr algn="l">
              <a:lnSpc>
                <a:spcPct val="130000"/>
              </a:lnSpc>
              <a:spcAft>
                <a:spcPts val="2400"/>
              </a:spcAft>
            </a:pPr>
            <a:r>
              <a:rPr sz="1400" b="1">
                <a:solidFill>
                  <a:srgbClr val="E8EAED"/>
                </a:solidFill>
                <a:latin typeface="Arial"/>
                <a:ea typeface="Arial"/>
              </a:rPr>
              <a:t>Core members: </a:t>
            </a:r>
            <a:r>
              <a:rPr sz="1300" i="1">
                <a:solidFill>
                  <a:srgbClr val="8FB8FF"/>
                </a:solidFill>
                <a:latin typeface="Arial"/>
                <a:ea typeface="Arial"/>
              </a:rPr>
              <a:t>[TBD: product / quant research / growth]</a:t>
            </a:r>
          </a:p>
          <a:p>
            <a:pPr algn="l">
              <a:lnSpc>
                <a:spcPct val="130000"/>
              </a:lnSpc>
              <a:spcAft>
                <a:spcPts val="0"/>
              </a:spcAft>
            </a:pPr>
            <a:r>
              <a:rPr sz="1400" b="1">
                <a:solidFill>
                  <a:srgbClr val="E8EAED"/>
                </a:solidFill>
                <a:latin typeface="Arial"/>
                <a:ea typeface="Arial"/>
              </a:rPr>
              <a:t>Advisors: </a:t>
            </a:r>
            <a:r>
              <a:rPr sz="1300" i="1">
                <a:solidFill>
                  <a:srgbClr val="8FB8FF"/>
                </a:solidFill>
                <a:latin typeface="Arial"/>
                <a:ea typeface="Arial"/>
              </a:rPr>
              <a:t>[TBD, if any]</a:t>
            </a:r>
          </a:p>
        </p:txBody>
      </p:sp>
      <p:sp>
        <p:nvSpPr>
          <p:cNvPr id="8" name="TextBox 8">
            <a:extLst>
              <a:ext uri="{FF2B5EF4-FFF2-40B4-BE49-F238E27FC236}">
                <a16:creationId xmlns:a16="http://schemas.microsoft.com/office/drawing/2014/main" id="{A2DDB5E8-CA4A-49C1-B33B-053DE08B5B1F}"/>
              </a:ext>
            </a:extLst>
          </p:cNvPr>
          <p:cNvSpPr txBox="1"/>
          <p:nvPr/>
        </p:nvSpPr>
        <p:spPr>
          <a:xfrm>
            <a:off x="990600" y="4933950"/>
            <a:ext cx="4610100" cy="495300"/>
          </a:xfrm>
        </p:spPr>
        <p:txBody>
          <a:bodyPr wrap="square" rtlCol="0" lIns="0" tIns="0" rIns="0" bIns="0" anchor="t"/>
          <a:lstStyle/>
          <a:p>
            <a:pPr algn="l">
              <a:lnSpc>
                <a:spcPct val="130000"/>
              </a:lnSpc>
            </a:pPr>
            <a:r>
              <a:rPr sz="1250">
                <a:solidFill>
                  <a:srgbClr val="6B7280"/>
                </a:solidFill>
                <a:latin typeface="Arial"/>
                <a:ea typeface="Arial"/>
              </a:rPr>
              <a:t>Keywords: full-stack AI + financial engineering; three months from upgrade to production</a:t>
            </a:r>
          </a:p>
        </p:txBody>
      </p:sp>
      <p:sp>
        <p:nvSpPr>
          <p:cNvPr id="9" name="TextBox 9">
            <a:extLst>
              <a:ext uri="{FF2B5EF4-FFF2-40B4-BE49-F238E27FC236}">
                <a16:creationId xmlns:a16="http://schemas.microsoft.com/office/drawing/2014/main" id="{561C536A-1563-4F1F-ABE7-99BD306B1F58}"/>
              </a:ext>
            </a:extLst>
          </p:cNvPr>
          <p:cNvSpPr txBox="1"/>
          <p:nvPr/>
        </p:nvSpPr>
        <p:spPr>
          <a:xfrm>
            <a:off x="6591300" y="1695450"/>
            <a:ext cx="4572000" cy="342900"/>
          </a:xfrm>
        </p:spPr>
        <p:txBody>
          <a:bodyPr wrap="square" rtlCol="0" lIns="0" tIns="0" rIns="0" bIns="0" anchor="t"/>
          <a:lstStyle/>
          <a:p>
            <a:pPr algn="l">
              <a:lnSpc>
                <a:spcPct val="110000"/>
              </a:lnSpc>
            </a:pPr>
            <a:r>
              <a:rPr sz="2000" b="1">
                <a:solidFill>
                  <a:srgbClr val="63E2B7"/>
                </a:solidFill>
                <a:latin typeface="Arial"/>
                <a:ea typeface="Arial"/>
              </a:rPr>
              <a:t>The Raise</a:t>
            </a:r>
          </a:p>
        </p:txBody>
      </p:sp>
      <p:sp>
        <p:nvSpPr>
          <p:cNvPr id="10" name="TextBox 10">
            <a:extLst>
              <a:ext uri="{FF2B5EF4-FFF2-40B4-BE49-F238E27FC236}">
                <a16:creationId xmlns:a16="http://schemas.microsoft.com/office/drawing/2014/main" id="{6D638CB9-9D77-4420-BF25-0EF75B1FA294}"/>
              </a:ext>
            </a:extLst>
          </p:cNvPr>
          <p:cNvSpPr txBox="1"/>
          <p:nvPr/>
        </p:nvSpPr>
        <p:spPr>
          <a:xfrm>
            <a:off x="6591300" y="2228850"/>
            <a:ext cx="4610100" cy="285750"/>
          </a:xfrm>
        </p:spPr>
        <p:txBody>
          <a:bodyPr wrap="square" rtlCol="0" lIns="0" tIns="0" rIns="0" bIns="0" anchor="t"/>
          <a:lstStyle/>
          <a:p>
            <a:pPr algn="l">
              <a:lnSpc>
                <a:spcPct val="130000"/>
              </a:lnSpc>
            </a:pPr>
            <a:r>
              <a:rPr sz="1400" b="1">
                <a:solidFill>
                  <a:srgbClr val="E8EAED"/>
                </a:solidFill>
                <a:latin typeface="Arial"/>
                <a:ea typeface="Arial"/>
              </a:rPr>
              <a:t>Round / amount / valuation: </a:t>
            </a:r>
            <a:r>
              <a:rPr sz="1300" i="1">
                <a:solidFill>
                  <a:srgbClr val="8FB8FF"/>
                </a:solidFill>
                <a:latin typeface="Arial"/>
                <a:ea typeface="Arial"/>
              </a:rPr>
              <a:t>[TBD]</a:t>
            </a:r>
          </a:p>
        </p:txBody>
      </p:sp>
      <p:sp>
        <p:nvSpPr>
          <p:cNvPr id="11" name="TextBox 11">
            <a:extLst>
              <a:ext uri="{FF2B5EF4-FFF2-40B4-BE49-F238E27FC236}">
                <a16:creationId xmlns:a16="http://schemas.microsoft.com/office/drawing/2014/main" id="{7AD6F603-70F5-41AF-9533-FF8645CA2F73}"/>
              </a:ext>
            </a:extLst>
          </p:cNvPr>
          <p:cNvSpPr txBox="1"/>
          <p:nvPr/>
        </p:nvSpPr>
        <p:spPr>
          <a:xfrm>
            <a:off x="6591300" y="2724150"/>
            <a:ext cx="4610100" cy="285750"/>
          </a:xfrm>
        </p:spPr>
        <p:txBody>
          <a:bodyPr wrap="square" rtlCol="0" lIns="0" tIns="0" rIns="0" bIns="0" anchor="t"/>
          <a:lstStyle/>
          <a:p>
            <a:pPr algn="l">
              <a:lnSpc>
                <a:spcPct val="130000"/>
              </a:lnSpc>
            </a:pPr>
            <a:r>
              <a:rPr sz="1400" b="1">
                <a:solidFill>
                  <a:srgbClr val="E8EAED"/>
                </a:solidFill>
                <a:latin typeface="Arial"/>
                <a:ea typeface="Arial"/>
              </a:rPr>
              <a:t>Use of funds (suggested):</a:t>
            </a:r>
          </a:p>
        </p:txBody>
      </p:sp>
      <p:sp>
        <p:nvSpPr>
          <p:cNvPr id="12" name="TextBox 12">
            <a:extLst>
              <a:ext uri="{FF2B5EF4-FFF2-40B4-BE49-F238E27FC236}">
                <a16:creationId xmlns:a16="http://schemas.microsoft.com/office/drawing/2014/main" id="{4B5B83BD-7A92-47DA-A64C-A9BA7CDC4319}"/>
              </a:ext>
            </a:extLst>
          </p:cNvPr>
          <p:cNvSpPr txBox="1"/>
          <p:nvPr/>
        </p:nvSpPr>
        <p:spPr>
          <a:xfrm>
            <a:off x="6591300" y="3067050"/>
            <a:ext cx="2857500" cy="209550"/>
          </a:xfrm>
        </p:spPr>
        <p:txBody>
          <a:bodyPr wrap="square" rtlCol="0" lIns="0" tIns="0" rIns="0" bIns="0" anchor="t"/>
          <a:lstStyle/>
          <a:p>
            <a:pPr algn="l">
              <a:lnSpc>
                <a:spcPct val="110000"/>
              </a:lnSpc>
            </a:pPr>
            <a:r>
              <a:rPr sz="1150">
                <a:solidFill>
                  <a:srgbClr val="9AA1AB"/>
                </a:solidFill>
                <a:latin typeface="Arial"/>
                <a:ea typeface="Arial"/>
              </a:rPr>
              <a:t>R&amp;D (AI + scale) 45%</a:t>
            </a:r>
          </a:p>
        </p:txBody>
      </p:sp>
      <p:sp>
        <p:nvSpPr>
          <p:cNvPr id="13" name="Shape 13">
            <a:extLst>
              <a:ext uri="{FF2B5EF4-FFF2-40B4-BE49-F238E27FC236}">
                <a16:creationId xmlns:a16="http://schemas.microsoft.com/office/drawing/2014/main" id="{A86279C6-726C-49A8-9C39-A87AD816C6D0}"/>
              </a:ext>
            </a:extLst>
          </p:cNvPr>
          <p:cNvSpPr/>
          <p:nvPr/>
        </p:nvSpPr>
        <p:spPr>
          <a:xfrm>
            <a:off x="6591300" y="3276600"/>
            <a:ext cx="2076450" cy="133350"/>
          </a:xfrm>
          <a:prstGeom prst="rect">
            <a:avLst/>
          </a:prstGeom>
          <a:solidFill>
            <a:srgbClr val="63E2B7"/>
          </a:solidFill>
        </p:spPr>
        <p:txBody>
          <a:bodyPr wrap="square" rtlCol="0"/>
          <a:lstStyle/>
          <a:p>
            <a:r>
              <a:rPr/>
              <a:t/>
            </a:r>
          </a:p>
        </p:txBody>
      </p:sp>
      <p:sp>
        <p:nvSpPr>
          <p:cNvPr id="14" name="TextBox 14">
            <a:extLst>
              <a:ext uri="{FF2B5EF4-FFF2-40B4-BE49-F238E27FC236}">
                <a16:creationId xmlns:a16="http://schemas.microsoft.com/office/drawing/2014/main" id="{C89CC91D-92A8-4463-A4E1-EBAD6CDA3A9B}"/>
              </a:ext>
            </a:extLst>
          </p:cNvPr>
          <p:cNvSpPr txBox="1"/>
          <p:nvPr/>
        </p:nvSpPr>
        <p:spPr>
          <a:xfrm>
            <a:off x="6591300" y="3505200"/>
            <a:ext cx="2857500" cy="209550"/>
          </a:xfrm>
        </p:spPr>
        <p:txBody>
          <a:bodyPr wrap="square" rtlCol="0" lIns="0" tIns="0" rIns="0" bIns="0" anchor="t"/>
          <a:lstStyle/>
          <a:p>
            <a:pPr algn="l">
              <a:lnSpc>
                <a:spcPct val="110000"/>
              </a:lnSpc>
            </a:pPr>
            <a:r>
              <a:rPr sz="1150">
                <a:solidFill>
                  <a:srgbClr val="9AA1AB"/>
                </a:solidFill>
                <a:latin typeface="Arial"/>
                <a:ea typeface="Arial"/>
              </a:rPr>
              <a:t>Growth (content / community) 30%</a:t>
            </a:r>
          </a:p>
        </p:txBody>
      </p:sp>
      <p:sp>
        <p:nvSpPr>
          <p:cNvPr id="15" name="Shape 15">
            <a:extLst>
              <a:ext uri="{FF2B5EF4-FFF2-40B4-BE49-F238E27FC236}">
                <a16:creationId xmlns:a16="http://schemas.microsoft.com/office/drawing/2014/main" id="{0B9BCED8-8974-472B-90F9-BA3D51D86943}"/>
              </a:ext>
            </a:extLst>
          </p:cNvPr>
          <p:cNvSpPr/>
          <p:nvPr/>
        </p:nvSpPr>
        <p:spPr>
          <a:xfrm>
            <a:off x="6591300" y="3714750"/>
            <a:ext cx="1381125" cy="133350"/>
          </a:xfrm>
          <a:prstGeom prst="rect">
            <a:avLst/>
          </a:prstGeom>
          <a:solidFill>
            <a:srgbClr val="63E2B7"/>
          </a:solidFill>
        </p:spPr>
        <p:txBody>
          <a:bodyPr wrap="square" rtlCol="0"/>
          <a:lstStyle/>
          <a:p>
            <a:r>
              <a:rPr/>
              <a:t/>
            </a:r>
          </a:p>
        </p:txBody>
      </p:sp>
      <p:sp>
        <p:nvSpPr>
          <p:cNvPr id="16" name="TextBox 16">
            <a:extLst>
              <a:ext uri="{FF2B5EF4-FFF2-40B4-BE49-F238E27FC236}">
                <a16:creationId xmlns:a16="http://schemas.microsoft.com/office/drawing/2014/main" id="{9DF15344-B404-4810-BB7B-3808EFFA1878}"/>
              </a:ext>
            </a:extLst>
          </p:cNvPr>
          <p:cNvSpPr txBox="1"/>
          <p:nvPr/>
        </p:nvSpPr>
        <p:spPr>
          <a:xfrm>
            <a:off x="6591300" y="3943350"/>
            <a:ext cx="2857500" cy="209550"/>
          </a:xfrm>
        </p:spPr>
        <p:txBody>
          <a:bodyPr wrap="square" rtlCol="0" lIns="0" tIns="0" rIns="0" bIns="0" anchor="t"/>
          <a:lstStyle/>
          <a:p>
            <a:pPr algn="l">
              <a:lnSpc>
                <a:spcPct val="110000"/>
              </a:lnSpc>
            </a:pPr>
            <a:r>
              <a:rPr sz="1150">
                <a:solidFill>
                  <a:srgbClr val="9AA1AB"/>
                </a:solidFill>
                <a:latin typeface="Arial"/>
                <a:ea typeface="Arial"/>
              </a:rPr>
              <a:t>Security &amp; compliance 15%</a:t>
            </a:r>
          </a:p>
        </p:txBody>
      </p:sp>
      <p:sp>
        <p:nvSpPr>
          <p:cNvPr id="17" name="Shape 17">
            <a:extLst>
              <a:ext uri="{FF2B5EF4-FFF2-40B4-BE49-F238E27FC236}">
                <a16:creationId xmlns:a16="http://schemas.microsoft.com/office/drawing/2014/main" id="{348FB5C5-1947-4B59-BD67-5372AB2CB2FC}"/>
              </a:ext>
            </a:extLst>
          </p:cNvPr>
          <p:cNvSpPr/>
          <p:nvPr/>
        </p:nvSpPr>
        <p:spPr>
          <a:xfrm>
            <a:off x="6591300" y="4152900"/>
            <a:ext cx="695325" cy="133350"/>
          </a:xfrm>
          <a:prstGeom prst="rect">
            <a:avLst/>
          </a:prstGeom>
          <a:solidFill>
            <a:srgbClr val="63E2B7"/>
          </a:solidFill>
        </p:spPr>
        <p:txBody>
          <a:bodyPr wrap="square" rtlCol="0"/>
          <a:lstStyle/>
          <a:p>
            <a:r>
              <a:rPr/>
              <a:t/>
            </a:r>
          </a:p>
        </p:txBody>
      </p:sp>
      <p:sp>
        <p:nvSpPr>
          <p:cNvPr id="18" name="TextBox 18">
            <a:extLst>
              <a:ext uri="{FF2B5EF4-FFF2-40B4-BE49-F238E27FC236}">
                <a16:creationId xmlns:a16="http://schemas.microsoft.com/office/drawing/2014/main" id="{619C1E15-E7A8-4581-B424-1BD182B3D5EB}"/>
              </a:ext>
            </a:extLst>
          </p:cNvPr>
          <p:cNvSpPr txBox="1"/>
          <p:nvPr/>
        </p:nvSpPr>
        <p:spPr>
          <a:xfrm>
            <a:off x="6591300" y="4381500"/>
            <a:ext cx="2857500" cy="209550"/>
          </a:xfrm>
        </p:spPr>
        <p:txBody>
          <a:bodyPr wrap="square" rtlCol="0" lIns="0" tIns="0" rIns="0" bIns="0" anchor="t"/>
          <a:lstStyle/>
          <a:p>
            <a:pPr algn="l">
              <a:lnSpc>
                <a:spcPct val="110000"/>
              </a:lnSpc>
            </a:pPr>
            <a:r>
              <a:rPr sz="1150">
                <a:solidFill>
                  <a:srgbClr val="9AA1AB"/>
                </a:solidFill>
                <a:latin typeface="Arial"/>
                <a:ea typeface="Arial"/>
              </a:rPr>
              <a:t>Reserve 10%</a:t>
            </a:r>
          </a:p>
        </p:txBody>
      </p:sp>
      <p:sp>
        <p:nvSpPr>
          <p:cNvPr id="19" name="Shape 19">
            <a:extLst>
              <a:ext uri="{FF2B5EF4-FFF2-40B4-BE49-F238E27FC236}">
                <a16:creationId xmlns:a16="http://schemas.microsoft.com/office/drawing/2014/main" id="{0BEA3A21-BC65-4D37-90C5-DC1890DAED95}"/>
              </a:ext>
            </a:extLst>
          </p:cNvPr>
          <p:cNvSpPr/>
          <p:nvPr/>
        </p:nvSpPr>
        <p:spPr>
          <a:xfrm>
            <a:off x="6591300" y="4591050"/>
            <a:ext cx="457200" cy="133350"/>
          </a:xfrm>
          <a:prstGeom prst="rect">
            <a:avLst/>
          </a:prstGeom>
          <a:solidFill>
            <a:srgbClr val="63E2B7"/>
          </a:solidFill>
        </p:spPr>
        <p:txBody>
          <a:bodyPr wrap="square" rtlCol="0"/>
          <a:lstStyle/>
          <a:p>
            <a:r>
              <a:rPr/>
              <a:t/>
            </a:r>
          </a:p>
        </p:txBody>
      </p:sp>
      <p:sp>
        <p:nvSpPr>
          <p:cNvPr id="20" name="TextBox 20">
            <a:extLst>
              <a:ext uri="{FF2B5EF4-FFF2-40B4-BE49-F238E27FC236}">
                <a16:creationId xmlns:a16="http://schemas.microsoft.com/office/drawing/2014/main" id="{AE6518B9-F612-4352-A047-45CA339B6D5D}"/>
              </a:ext>
            </a:extLst>
          </p:cNvPr>
          <p:cNvSpPr txBox="1"/>
          <p:nvPr/>
        </p:nvSpPr>
        <p:spPr>
          <a:xfrm>
            <a:off x="6591300" y="4933950"/>
            <a:ext cx="4610100" cy="285750"/>
          </a:xfrm>
        </p:spPr>
        <p:txBody>
          <a:bodyPr wrap="square" rtlCol="0" lIns="0" tIns="0" rIns="0" bIns="0" anchor="t"/>
          <a:lstStyle/>
          <a:p>
            <a:pPr algn="l">
              <a:lnSpc>
                <a:spcPct val="130000"/>
              </a:lnSpc>
            </a:pPr>
            <a:r>
              <a:rPr sz="1400" b="1">
                <a:solidFill>
                  <a:srgbClr val="E8EAED"/>
                </a:solidFill>
                <a:latin typeface="Arial"/>
                <a:ea typeface="Arial"/>
              </a:rPr>
              <a:t>12-month milestones: </a:t>
            </a:r>
            <a:r>
              <a:rPr sz="1300" i="1">
                <a:solidFill>
                  <a:srgbClr val="8FB8FF"/>
                </a:solidFill>
                <a:latin typeface="Arial"/>
                <a:ea typeface="Arial"/>
              </a:rPr>
              <a:t>[TBD: paying users / MRR targets]</a:t>
            </a:r>
          </a:p>
        </p:txBody>
      </p:sp>
      <p:sp>
        <p:nvSpPr>
          <p:cNvPr id="21" name="TextBox 21">
            <a:extLst>
              <a:ext uri="{FF2B5EF4-FFF2-40B4-BE49-F238E27FC236}">
                <a16:creationId xmlns:a16="http://schemas.microsoft.com/office/drawing/2014/main" id="{A5F1071D-6146-4E02-834E-470BDDBD19DF}"/>
              </a:ext>
            </a:extLst>
          </p:cNvPr>
          <p:cNvSpPr txBox="1"/>
          <p:nvPr/>
        </p:nvSpPr>
        <p:spPr>
          <a:xfrm>
            <a:off x="685800" y="5772150"/>
            <a:ext cx="10820400" cy="247650"/>
          </a:xfrm>
        </p:spPr>
        <p:txBody>
          <a:bodyPr wrap="square" rtlCol="0" lIns="0" tIns="0" rIns="0" bIns="0" anchor="t"/>
          <a:lstStyle/>
          <a:p>
            <a:pPr algn="l">
              <a:lnSpc>
                <a:spcPct val="110000"/>
              </a:lnSpc>
            </a:pPr>
            <a:r>
              <a:rPr sz="1300">
                <a:solidFill>
                  <a:srgbClr val="6B7280"/>
                </a:solidFill>
                <a:latin typeface="Arial"/>
                <a:ea typeface="Arial"/>
              </a:rPr>
              <a:t>Unit economics (conversion / retention / ARPU / LTV / CAC) and the full financial model are in the DD pack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E13"/>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CC48A4C-2CBA-4647-8AB1-D73C05B8A889}"/>
              </a:ext>
            </a:extLst>
          </p:cNvPr>
          <p:cNvSpPr txBox="1"/>
          <p:nvPr/>
        </p:nvSpPr>
        <p:spPr>
          <a:xfrm>
            <a:off x="685800" y="457200"/>
            <a:ext cx="10820400" cy="569976"/>
          </a:xfrm>
        </p:spPr>
        <p:txBody>
          <a:bodyPr wrap="square" rtlCol="0" lIns="0" tIns="0" rIns="0" bIns="0" anchor="t"/>
          <a:lstStyle/>
          <a:p>
            <a:pPr algn="l">
              <a:lnSpc>
                <a:spcPct val="110000"/>
              </a:lnSpc>
            </a:pPr>
            <a:r>
              <a:rPr sz="3400" b="1">
                <a:solidFill>
                  <a:srgbClr val="E8EAED"/>
                </a:solidFill>
                <a:latin typeface="Arial"/>
                <a:ea typeface="Arial"/>
              </a:rPr>
              <a:t>A Governed AI Control Plane</a:t>
            </a:r>
          </a:p>
        </p:txBody>
      </p:sp>
      <p:sp>
        <p:nvSpPr>
          <p:cNvPr id="4" name="TextBox 4">
            <a:extLst>
              <a:ext uri="{FF2B5EF4-FFF2-40B4-BE49-F238E27FC236}">
                <a16:creationId xmlns:a16="http://schemas.microsoft.com/office/drawing/2014/main" id="{1A1A5F65-2CBE-44DE-8C82-7D699D357475}"/>
              </a:ext>
            </a:extLst>
          </p:cNvPr>
          <p:cNvSpPr txBox="1"/>
          <p:nvPr/>
        </p:nvSpPr>
        <p:spPr>
          <a:xfrm>
            <a:off x="685800" y="1047750"/>
            <a:ext cx="10820400" cy="266700"/>
          </a:xfrm>
        </p:spPr>
        <p:txBody>
          <a:bodyPr wrap="square" rtlCol="0" lIns="0" tIns="0" rIns="0" bIns="0" anchor="t"/>
          <a:lstStyle/>
          <a:p>
            <a:pPr algn="l">
              <a:lnSpc>
                <a:spcPct val="110000"/>
              </a:lnSpc>
            </a:pPr>
            <a:r>
              <a:rPr sz="1500">
                <a:solidFill>
                  <a:srgbClr val="9AA1AB"/>
                </a:solidFill>
                <a:latin typeface="Arial"/>
                <a:ea typeface="Arial"/>
              </a:rPr>
              <a:t>Admin view: visible, controllable, auditable AI capability (live product)</a:t>
            </a:r>
          </a:p>
        </p:txBody>
      </p:sp>
      <p:pic>
        <p:nvPicPr>
          <p:cNvPr id="5" name="Picture 5">
            <a:extLst>
              <a:ext uri="{FF2B5EF4-FFF2-40B4-BE49-F238E27FC236}">
                <a16:creationId xmlns:a16="http://schemas.microsoft.com/office/drawing/2014/main" id="{F563FE29-B33F-4D16-9890-7727D6B9C3B7}"/>
              </a:ext>
            </a:extLst>
          </p:cNvPr>
          <p:cNvPicPr/>
          <p:nvPr/>
        </p:nvPicPr>
        <p:blipFill>
          <a:blip r:embed="rId2"/>
          <a:stretch>
            <a:fillRect/>
          </a:stretch>
        </p:blipFill>
        <p:spPr>
          <a:xfrm>
            <a:off x="609600" y="1524000"/>
            <a:ext cx="6096000" cy="3810000"/>
          </a:xfrm>
          <a:prstGeom prst="rect">
            <a:avLst/>
          </a:prstGeom>
        </p:spPr>
      </p:pic>
      <p:sp>
        <p:nvSpPr>
          <p:cNvPr id="6" name="TextBox 6">
            <a:extLst>
              <a:ext uri="{FF2B5EF4-FFF2-40B4-BE49-F238E27FC236}">
                <a16:creationId xmlns:a16="http://schemas.microsoft.com/office/drawing/2014/main" id="{81C12E02-CBA9-4897-BF51-463AD07C6514}"/>
              </a:ext>
            </a:extLst>
          </p:cNvPr>
          <p:cNvSpPr txBox="1"/>
          <p:nvPr/>
        </p:nvSpPr>
        <p:spPr>
          <a:xfrm>
            <a:off x="609600" y="5410200"/>
            <a:ext cx="6286500" cy="228600"/>
          </a:xfrm>
        </p:spPr>
        <p:txBody>
          <a:bodyPr wrap="square" rtlCol="0" lIns="0" tIns="0" rIns="0" bIns="0" anchor="t"/>
          <a:lstStyle/>
          <a:p>
            <a:pPr algn="l">
              <a:lnSpc>
                <a:spcPct val="110000"/>
              </a:lnSpc>
            </a:pPr>
            <a:r>
              <a:rPr sz="1200">
                <a:solidFill>
                  <a:srgbClr val="6B7280"/>
                </a:solidFill>
                <a:latin typeface="Arial"/>
                <a:ea typeface="Arial"/>
              </a:rPr>
              <a:t>Admin view: full 66-tool table (risk level, read-only flag, enabled state)</a:t>
            </a:r>
          </a:p>
        </p:txBody>
      </p:sp>
      <p:sp>
        <p:nvSpPr>
          <p:cNvPr id="7" name="TextBox 7">
            <a:extLst>
              <a:ext uri="{FF2B5EF4-FFF2-40B4-BE49-F238E27FC236}">
                <a16:creationId xmlns:a16="http://schemas.microsoft.com/office/drawing/2014/main" id="{35DC3DD8-2854-48D0-9DE2-1C14C69ADC47}"/>
              </a:ext>
            </a:extLst>
          </p:cNvPr>
          <p:cNvSpPr txBox="1"/>
          <p:nvPr/>
        </p:nvSpPr>
        <p:spPr>
          <a:xfrm>
            <a:off x="7086600" y="1619250"/>
            <a:ext cx="4724400" cy="3810000"/>
          </a:xfrm>
        </p:spPr>
        <p:txBody>
          <a:bodyPr wrap="square" rtlCol="0" lIns="0" tIns="0" rIns="0" bIns="0" anchor="t"/>
          <a:lstStyle/>
          <a:p>
            <a:pPr algn="l">
              <a:lnSpc>
                <a:spcPct val="135000"/>
              </a:lnSpc>
              <a:spcAft>
                <a:spcPts val="1600"/>
              </a:spcAft>
            </a:pPr>
            <a:r>
              <a:rPr sz="1450" b="1">
                <a:solidFill>
                  <a:srgbClr val="E8EAED"/>
                </a:solidFill>
                <a:latin typeface="Arial"/>
                <a:ea typeface="Arial"/>
              </a:rPr>
              <a:t>31 skills · 66 tools</a:t>
            </a:r>
            <a:r>
              <a:rPr sz="1300">
                <a:solidFill>
                  <a:srgbClr val="9AA1AB"/>
                </a:solidFill>
                <a:latin typeface="Arial"/>
                <a:ea typeface="Arial"/>
              </a:rPr>
              <a:t> — all visible in-product; 58 exposed over MCP</a:t>
            </a:r>
          </a:p>
          <a:p>
            <a:pPr algn="l">
              <a:lnSpc>
                <a:spcPct val="135000"/>
              </a:lnSpc>
              <a:spcAft>
                <a:spcPts val="1600"/>
              </a:spcAft>
            </a:pPr>
            <a:r>
              <a:rPr sz="1450" b="1">
                <a:solidFill>
                  <a:srgbClr val="E8EAED"/>
                </a:solidFill>
                <a:latin typeface="Arial"/>
                <a:ea typeface="Arial"/>
              </a:rPr>
              <a:t>Toggle each on/off</a:t>
            </a:r>
            <a:r>
              <a:rPr sz="1300">
                <a:solidFill>
                  <a:srgbClr val="9AA1AB"/>
                </a:solidFill>
                <a:latin typeface="Arial"/>
                <a:ea typeface="Arial"/>
              </a:rPr>
              <a:t> — disabling removes it from the AI context instantly</a:t>
            </a:r>
          </a:p>
          <a:p>
            <a:pPr algn="l">
              <a:lnSpc>
                <a:spcPct val="135000"/>
              </a:lnSpc>
              <a:spcAft>
                <a:spcPts val="1600"/>
              </a:spcAft>
            </a:pPr>
            <a:r>
              <a:rPr sz="1450" b="1">
                <a:solidFill>
                  <a:srgbClr val="E8EAED"/>
                </a:solidFill>
                <a:latin typeface="Arial"/>
                <a:ea typeface="Arial"/>
              </a:rPr>
              <a:t>Risk levels</a:t>
            </a:r>
            <a:r>
              <a:rPr sz="1300">
                <a:solidFill>
                  <a:srgbClr val="9AA1AB"/>
                </a:solidFill>
                <a:latin typeface="Arial"/>
                <a:ea typeface="Arial"/>
              </a:rPr>
              <a:t> — read / write_draft / trading + read-only flags</a:t>
            </a:r>
          </a:p>
          <a:p>
            <a:pPr algn="l">
              <a:lnSpc>
                <a:spcPct val="135000"/>
              </a:lnSpc>
              <a:spcAft>
                <a:spcPts val="1600"/>
              </a:spcAft>
            </a:pPr>
            <a:r>
              <a:rPr sz="1450" b="1">
                <a:solidFill>
                  <a:srgbClr val="E8EAED"/>
                </a:solidFill>
                <a:latin typeface="Arial"/>
                <a:ea typeface="Arial"/>
              </a:rPr>
              <a:t>Prompts renderable &amp; auditable</a:t>
            </a:r>
            <a:r>
              <a:rPr sz="1300">
                <a:solidFill>
                  <a:srgbClr val="9AA1AB"/>
                </a:solidFill>
                <a:latin typeface="Arial"/>
                <a:ea typeface="Arial"/>
              </a:rPr>
              <a:t> — install/remove skills, one-click prompt copy</a:t>
            </a:r>
          </a:p>
          <a:p>
            <a:pPr algn="l">
              <a:lnSpc>
                <a:spcPct val="135000"/>
              </a:lnSpc>
              <a:spcAft>
                <a:spcPts val="0"/>
              </a:spcAft>
            </a:pPr>
            <a:r>
              <a:rPr sz="1450" b="1">
                <a:solidFill>
                  <a:srgbClr val="E8EAED"/>
                </a:solidFill>
                <a:latin typeface="Arial"/>
                <a:ea typeface="Arial"/>
              </a:rPr>
              <a:t>One-click preflight</a:t>
            </a:r>
            <a:r>
              <a:rPr sz="1300">
                <a:solidFill>
                  <a:srgbClr val="9AA1AB"/>
                </a:solidFill>
                <a:latin typeface="Arial"/>
                <a:ea typeface="Arial"/>
              </a:rPr>
              <a:t> — LLM · data sources · search · broker · credits</a:t>
            </a:r>
          </a:p>
        </p:txBody>
      </p:sp>
      <p:sp>
        <p:nvSpPr>
          <p:cNvPr id="8" name="TextBox 8">
            <a:extLst>
              <a:ext uri="{FF2B5EF4-FFF2-40B4-BE49-F238E27FC236}">
                <a16:creationId xmlns:a16="http://schemas.microsoft.com/office/drawing/2014/main" id="{E9271241-1EA1-4571-B24B-EA8EC353833F}"/>
              </a:ext>
            </a:extLst>
          </p:cNvPr>
          <p:cNvSpPr txBox="1"/>
          <p:nvPr/>
        </p:nvSpPr>
        <p:spPr>
          <a:xfrm>
            <a:off x="685800" y="5772150"/>
            <a:ext cx="10820400" cy="266700"/>
          </a:xfrm>
        </p:spPr>
        <p:txBody>
          <a:bodyPr wrap="square" rtlCol="0" lIns="0" tIns="0" rIns="0" bIns="0" anchor="t"/>
          <a:lstStyle/>
          <a:p>
            <a:pPr algn="l">
              <a:lnSpc>
                <a:spcPct val="110000"/>
              </a:lnSpc>
            </a:pPr>
            <a:r>
              <a:rPr sz="1500">
                <a:solidFill>
                  <a:srgbClr val="9AA1AB"/>
                </a:solidFill>
                <a:latin typeface="Arial"/>
                <a:ea typeface="Arial"/>
              </a:rPr>
              <a:t>For teams &amp; institutions: </a:t>
            </a:r>
            <a:r>
              <a:rPr sz="1500" b="1">
                <a:solidFill>
                  <a:srgbClr val="63E2B7"/>
                </a:solidFill>
                <a:latin typeface="Arial"/>
                <a:ea typeface="Arial"/>
              </a:rPr>
              <a:t>AI capability is a controlled asset, not a black box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90D"/>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B804E3B5-B689-48BD-9A75-0541208B7D33}"/>
              </a:ext>
            </a:extLst>
          </p:cNvPr>
          <p:cNvSpPr/>
          <p:nvPr/>
        </p:nvSpPr>
        <p:spPr>
          <a:xfrm>
            <a:off x="5619750" y="1981200"/>
            <a:ext cx="952500" cy="28575"/>
          </a:xfrm>
          <a:prstGeom prst="rect">
            <a:avLst/>
          </a:prstGeom>
          <a:solidFill>
            <a:srgbClr val="63E2B7"/>
          </a:solidFill>
        </p:spPr>
        <p:txBody>
          <a:bodyPr wrap="square" rtlCol="0"/>
          <a:lstStyle/>
          <a:p>
            <a:r>
              <a:rPr/>
              <a:t/>
            </a:r>
          </a:p>
        </p:txBody>
      </p:sp>
      <p:sp>
        <p:nvSpPr>
          <p:cNvPr id="4" name="TextBox 4">
            <a:extLst>
              <a:ext uri="{FF2B5EF4-FFF2-40B4-BE49-F238E27FC236}">
                <a16:creationId xmlns:a16="http://schemas.microsoft.com/office/drawing/2014/main" id="{37FD2B1E-DB4F-4E45-A095-EE4B4C392468}"/>
              </a:ext>
            </a:extLst>
          </p:cNvPr>
          <p:cNvSpPr txBox="1"/>
          <p:nvPr/>
        </p:nvSpPr>
        <p:spPr>
          <a:xfrm>
            <a:off x="1333500" y="2324100"/>
            <a:ext cx="9525000" cy="737616"/>
          </a:xfrm>
        </p:spPr>
        <p:txBody>
          <a:bodyPr wrap="square" rtlCol="0" lIns="0" tIns="0" rIns="0" bIns="0" anchor="t"/>
          <a:lstStyle/>
          <a:p>
            <a:pPr algn="ctr">
              <a:lnSpc>
                <a:spcPct val="110000"/>
              </a:lnSpc>
            </a:pPr>
            <a:r>
              <a:rPr sz="4400" b="1">
                <a:solidFill>
                  <a:srgbClr val="FFFFFF"/>
                </a:solidFill>
                <a:latin typeface="Arial"/>
                <a:ea typeface="Arial"/>
              </a:rPr>
              <a:t>One person = a quant team</a:t>
            </a:r>
          </a:p>
        </p:txBody>
      </p:sp>
      <p:sp>
        <p:nvSpPr>
          <p:cNvPr id="5" name="TextBox 5">
            <a:extLst>
              <a:ext uri="{FF2B5EF4-FFF2-40B4-BE49-F238E27FC236}">
                <a16:creationId xmlns:a16="http://schemas.microsoft.com/office/drawing/2014/main" id="{BDD1C64E-CF98-43E4-9F66-14207E3D7C5A}"/>
              </a:ext>
            </a:extLst>
          </p:cNvPr>
          <p:cNvSpPr txBox="1"/>
          <p:nvPr/>
        </p:nvSpPr>
        <p:spPr>
          <a:xfrm>
            <a:off x="1333500" y="3200400"/>
            <a:ext cx="9525000" cy="419100"/>
          </a:xfrm>
        </p:spPr>
        <p:txBody>
          <a:bodyPr wrap="square" rtlCol="0" lIns="0" tIns="0" rIns="0" bIns="0" anchor="t"/>
          <a:lstStyle/>
          <a:p>
            <a:pPr algn="ctr">
              <a:lnSpc>
                <a:spcPct val="110000"/>
              </a:lnSpc>
            </a:pPr>
            <a:r>
              <a:rPr sz="2400" b="1">
                <a:solidFill>
                  <a:srgbClr val="63E2B7"/>
                </a:solidFill>
                <a:latin typeface="Arial"/>
                <a:ea typeface="Arial"/>
              </a:rPr>
              <a:t>SharkQuant</a:t>
            </a:r>
          </a:p>
        </p:txBody>
      </p:sp>
      <p:sp>
        <p:nvSpPr>
          <p:cNvPr id="6" name="TextBox 6">
            <a:extLst>
              <a:ext uri="{FF2B5EF4-FFF2-40B4-BE49-F238E27FC236}">
                <a16:creationId xmlns:a16="http://schemas.microsoft.com/office/drawing/2014/main" id="{522F188A-60C6-4824-B58D-903303A252A1}"/>
              </a:ext>
            </a:extLst>
          </p:cNvPr>
          <p:cNvSpPr txBox="1"/>
          <p:nvPr/>
        </p:nvSpPr>
        <p:spPr>
          <a:xfrm>
            <a:off x="1333500" y="3810000"/>
            <a:ext cx="9525000" cy="285750"/>
          </a:xfrm>
        </p:spPr>
        <p:txBody>
          <a:bodyPr wrap="square" rtlCol="0" lIns="0" tIns="0" rIns="0" bIns="0" anchor="t"/>
          <a:lstStyle/>
          <a:p>
            <a:pPr algn="ctr">
              <a:lnSpc>
                <a:spcPct val="110000"/>
              </a:lnSpc>
            </a:pPr>
            <a:r>
              <a:rPr sz="1500">
                <a:solidFill>
                  <a:srgbClr val="9AA1AB"/>
                </a:solidFill>
                <a:latin typeface="Arial"/>
                <a:ea typeface="Arial"/>
              </a:rPr>
              <a:t>Contact: [TBD: email / WeChat / phone] · shark.aiorz.cc</a:t>
            </a:r>
          </a:p>
        </p:txBody>
      </p:sp>
      <p:sp>
        <p:nvSpPr>
          <p:cNvPr id="7" name="TextBox 7">
            <a:extLst>
              <a:ext uri="{FF2B5EF4-FFF2-40B4-BE49-F238E27FC236}">
                <a16:creationId xmlns:a16="http://schemas.microsoft.com/office/drawing/2014/main" id="{5BFF94E9-48D1-45B2-A2DF-28889F761784}"/>
              </a:ext>
            </a:extLst>
          </p:cNvPr>
          <p:cNvSpPr txBox="1"/>
          <p:nvPr/>
        </p:nvSpPr>
        <p:spPr>
          <a:xfrm>
            <a:off x="1333500" y="5295900"/>
            <a:ext cx="9525000" cy="571500"/>
          </a:xfrm>
        </p:spPr>
        <p:txBody>
          <a:bodyPr wrap="square" rtlCol="0" lIns="0" tIns="0" rIns="0" bIns="0" anchor="t"/>
          <a:lstStyle/>
          <a:p>
            <a:pPr algn="ctr">
              <a:lnSpc>
                <a:spcPct val="140000"/>
              </a:lnSpc>
            </a:pPr>
            <a:r>
              <a:rPr sz="1200">
                <a:solidFill>
                  <a:srgbClr val="6B7280"/>
                </a:solidFill>
                <a:latin typeface="Arial"/>
                <a:ea typeface="Arial"/>
              </a:rPr>
              <a:t>For investor evaluation only; not an offer or investment advice. Backtests are historical simulations and do not indicate future results. Crypto assets and leverage carry high risk. All product claims are verifiable in the live environment.</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