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0"/>
    <p:sldId id="266" r:id="rId12"/>
    <p:sldId id="267" r:id="rId13"/>
    <p:sldId id="268" r:id="rId14"/>
    <p:sldId id="269" r:id="rId15"/>
    <p:sldId id="270" r:id="rId16"/>
    <p:sldId id="272" r:id="rId18"/>
    <p:sldId id="273" r:id="rId19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6F13AA4-690E-4E00-866A-078E686AE711}"/>
              </a:ext>
            </a:extLst>
          </p:cNvPr>
          <p:cNvSpPr/>
          <p:nvPr/>
        </p:nvSpPr>
        <p:spPr>
          <a:xfrm>
            <a:off x="914400" y="2171700"/>
            <a:ext cx="838200" cy="38100"/>
          </a:xfrm>
          <a:prstGeom prst="rect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847D0D-B5F6-4B5F-9664-3D291860E7BB}"/>
              </a:ext>
            </a:extLst>
          </p:cNvPr>
          <p:cNvSpPr txBox="1"/>
          <p:nvPr/>
        </p:nvSpPr>
        <p:spPr>
          <a:xfrm>
            <a:off x="914400" y="2400300"/>
            <a:ext cx="5905500" cy="9723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5800" b="1">
                <a:solidFill>
                  <a:srgbClr val="FFFFFF"/>
                </a:solidFill>
                <a:latin typeface="Arial"/>
                <a:ea typeface="Arial"/>
              </a:rPr>
              <a:t>SharkQuant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B7E913-1F54-4934-8FE8-2D99FC1FFBBA}"/>
              </a:ext>
            </a:extLst>
          </p:cNvPr>
          <p:cNvSpPr txBox="1"/>
          <p:nvPr/>
        </p:nvSpPr>
        <p:spPr>
          <a:xfrm>
            <a:off x="914400" y="3543300"/>
            <a:ext cx="59055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63E2B7"/>
                </a:solidFill>
                <a:latin typeface="Microsoft YaHei"/>
                <a:ea typeface="Microsoft YaHei"/>
              </a:rPr>
              <a:t>AI 原生的一体化量化交易平台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ED60C72-4018-4247-A4D9-829F8EEF9BBC}"/>
              </a:ext>
            </a:extLst>
          </p:cNvPr>
          <p:cNvSpPr txBox="1"/>
          <p:nvPr/>
        </p:nvSpPr>
        <p:spPr>
          <a:xfrm>
            <a:off x="914400" y="4191000"/>
            <a:ext cx="59055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让一个人 = 一支量化团队</a:t>
            </a:r>
            <a:br/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行情 · AI 研究 · 策略 · 回测 · 自动执行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217E1B3-496F-4957-809D-D13536E9D20C}"/>
              </a:ext>
            </a:extLst>
          </p:cNvPr>
          <p:cNvSpPr txBox="1"/>
          <p:nvPr/>
        </p:nvSpPr>
        <p:spPr>
          <a:xfrm>
            <a:off x="914400" y="5981700"/>
            <a:ext cx="5334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6B7280"/>
                </a:solidFill>
                <a:latin typeface="Microsoft YaHei"/>
                <a:ea typeface="Microsoft YaHei"/>
              </a:rPr>
              <a:t>投资路演材料 · 2026 年 10 月 · 商业机密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42E09045-457E-4CFF-B50E-D994A42068F1}"/>
              </a:ext>
            </a:extLst>
          </p:cNvPr>
          <p:cNvPicPr/>
          <p:nvPr/>
        </p:nvPicPr>
        <p:blipFill>
          <a:blip r:embed="rId2"/>
          <a:srcRect l="23958" r="23958"/>
          <a:stretch>
            <a:fillRect/>
          </a:stretch>
        </p:blipFill>
        <p:spPr>
          <a:xfrm>
            <a:off x="6477000" y="0"/>
            <a:ext cx="5715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9DCECFA-80C2-498B-8C86-BE2736021369}"/>
              </a:ext>
            </a:extLst>
          </p:cNvPr>
          <p:cNvSpPr txBox="1"/>
          <p:nvPr/>
        </p:nvSpPr>
        <p:spPr>
          <a:xfrm>
            <a:off x="685800" y="457200"/>
            <a:ext cx="76200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散户量化的三重门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F35F8AB-099F-47E2-8DB8-E732476ACFB6}"/>
              </a:ext>
            </a:extLst>
          </p:cNvPr>
          <p:cNvSpPr txBox="1"/>
          <p:nvPr/>
        </p:nvSpPr>
        <p:spPr>
          <a:xfrm>
            <a:off x="685800" y="1047750"/>
            <a:ext cx="9525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工具碎片化、链路断裂——大多数人写得出策略，却跑不起来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1C740B0-9372-4759-A81E-7A4F53877C90}"/>
              </a:ext>
            </a:extLst>
          </p:cNvPr>
          <p:cNvSpPr/>
          <p:nvPr/>
        </p:nvSpPr>
        <p:spPr>
          <a:xfrm>
            <a:off x="685800" y="1714500"/>
            <a:ext cx="3352800" cy="323850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F6066A0-93CC-419C-9550-27A0BBEBFF0B}"/>
              </a:ext>
            </a:extLst>
          </p:cNvPr>
          <p:cNvSpPr/>
          <p:nvPr/>
        </p:nvSpPr>
        <p:spPr>
          <a:xfrm>
            <a:off x="4419600" y="1714500"/>
            <a:ext cx="3352800" cy="323850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D0008EF-D7A9-4719-BFFD-3A89704C391E}"/>
              </a:ext>
            </a:extLst>
          </p:cNvPr>
          <p:cNvSpPr/>
          <p:nvPr/>
        </p:nvSpPr>
        <p:spPr>
          <a:xfrm>
            <a:off x="8153400" y="1714500"/>
            <a:ext cx="3352800" cy="323850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AADCA48-3064-42CA-8DB4-D955565CA697}"/>
              </a:ext>
            </a:extLst>
          </p:cNvPr>
          <p:cNvSpPr txBox="1"/>
          <p:nvPr/>
        </p:nvSpPr>
        <p:spPr>
          <a:xfrm>
            <a:off x="952500" y="2019300"/>
            <a:ext cx="1333500" cy="63703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63E2B7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D7F9D93-B374-44D7-81BC-2B553D4AA826}"/>
              </a:ext>
            </a:extLst>
          </p:cNvPr>
          <p:cNvSpPr txBox="1"/>
          <p:nvPr/>
        </p:nvSpPr>
        <p:spPr>
          <a:xfrm>
            <a:off x="952500" y="2724150"/>
            <a:ext cx="28194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E8EAED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EDFBB79-443A-48E0-8B93-715AF9717B74}"/>
              </a:ext>
            </a:extLst>
          </p:cNvPr>
          <p:cNvSpPr txBox="1"/>
          <p:nvPr/>
        </p:nvSpPr>
        <p:spPr>
          <a:xfrm>
            <a:off x="952500" y="3276600"/>
            <a:ext cx="28194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9AA1AB"/>
                </a:solidFill>
                <a:latin typeface="Microsoft YaHei"/>
                <a:ea typeface="Microsoft YaHei"/>
              </a:rPr>
              <a:t>看盘、宏观、新闻、情绪散落在 4+ 个工具里；跨市场对比几乎做不到，信息永远慢一步。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921AEEB-0AEB-4C63-8163-1AE121F6BD53}"/>
              </a:ext>
            </a:extLst>
          </p:cNvPr>
          <p:cNvSpPr txBox="1"/>
          <p:nvPr/>
        </p:nvSpPr>
        <p:spPr>
          <a:xfrm>
            <a:off x="4686300" y="2019300"/>
            <a:ext cx="1333500" cy="63703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63E2B7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16FE75F-9D02-4BF9-B5CF-2BAF0E4A0F07}"/>
              </a:ext>
            </a:extLst>
          </p:cNvPr>
          <p:cNvSpPr txBox="1"/>
          <p:nvPr/>
        </p:nvSpPr>
        <p:spPr>
          <a:xfrm>
            <a:off x="4686300" y="2724150"/>
            <a:ext cx="28194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E8EAED"/>
                </a:solidFill>
                <a:latin typeface="Microsoft YaHei"/>
                <a:ea typeface="Microsoft YaHei"/>
              </a:rPr>
              <a:t>研究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9C429F5-A13E-4804-A4CD-B200A0002290}"/>
              </a:ext>
            </a:extLst>
          </p:cNvPr>
          <p:cNvSpPr txBox="1"/>
          <p:nvPr/>
        </p:nvSpPr>
        <p:spPr>
          <a:xfrm>
            <a:off x="4686300" y="3276600"/>
            <a:ext cx="28194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9AA1AB"/>
                </a:solidFill>
                <a:latin typeface="Microsoft YaHei"/>
                <a:ea typeface="Microsoft YaHei"/>
              </a:rPr>
              <a:t>写策略 = Python + 框架 + 自建数据管道；回测平台与实盘平台彼此割裂，链路断在中间。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F767CE7-F183-4C3B-89B2-619044C82253}"/>
              </a:ext>
            </a:extLst>
          </p:cNvPr>
          <p:cNvSpPr txBox="1"/>
          <p:nvPr/>
        </p:nvSpPr>
        <p:spPr>
          <a:xfrm>
            <a:off x="8420100" y="2019300"/>
            <a:ext cx="1333500" cy="63703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63E2B7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9C2D2E-FCCC-4DB0-A6EB-D60BB95A5B2C}"/>
              </a:ext>
            </a:extLst>
          </p:cNvPr>
          <p:cNvSpPr txBox="1"/>
          <p:nvPr/>
        </p:nvSpPr>
        <p:spPr>
          <a:xfrm>
            <a:off x="8420100" y="2724150"/>
            <a:ext cx="28194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E8EAED"/>
                </a:solidFill>
                <a:latin typeface="Microsoft YaHei"/>
                <a:ea typeface="Microsoft YaHei"/>
              </a:rPr>
              <a:t>执行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227CE36-2E42-4029-8B04-4D75E55D3D02}"/>
              </a:ext>
            </a:extLst>
          </p:cNvPr>
          <p:cNvSpPr txBox="1"/>
          <p:nvPr/>
        </p:nvSpPr>
        <p:spPr>
          <a:xfrm>
            <a:off x="8420100" y="3276600"/>
            <a:ext cx="28194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50">
                <a:solidFill>
                  <a:srgbClr val="9AA1AB"/>
                </a:solidFill>
                <a:latin typeface="Microsoft YaHei"/>
                <a:ea typeface="Microsoft YaHei"/>
              </a:rPr>
              <a:t>盯盘手动下单、情绪化交易；自动化工具只覆盖单一市场（要么加密、要么美股）。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937ACED-31A1-4A5C-8819-5D628872E3B7}"/>
              </a:ext>
            </a:extLst>
          </p:cNvPr>
          <p:cNvSpPr txBox="1"/>
          <p:nvPr/>
        </p:nvSpPr>
        <p:spPr>
          <a:xfrm>
            <a:off x="685800" y="535305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现有工具各占一段：</a:t>
            </a:r>
            <a:r>
              <a:rPr sz="1500" b="1">
                <a:solidFill>
                  <a:srgbClr val="E8EAED"/>
                </a:solidFill>
                <a:latin typeface="Microsoft YaHei"/>
                <a:ea typeface="Microsoft YaHei"/>
              </a:rPr>
              <a:t>图表、引擎、自动化</a:t>
            </a:r>
            <a:r>
              <a:rPr sz="1500" b="1">
                <a:solidFill>
                  <a:srgbClr val="63E2B7"/>
                </a:solidFill>
                <a:latin typeface="Microsoft YaHei"/>
                <a:ea typeface="Microsoft YaHei"/>
              </a:rPr>
              <a:t>——没有人做「散户视角的全链路」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01CA9B9-9C95-4C3D-B521-C46AE019B858}"/>
              </a:ext>
            </a:extLst>
          </p:cNvPr>
          <p:cNvSpPr txBox="1"/>
          <p:nvPr/>
        </p:nvSpPr>
        <p:spPr>
          <a:xfrm>
            <a:off x="685800" y="457200"/>
            <a:ext cx="76200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一个产品，一条闭环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CB99CFF-4701-424E-9F80-4BC0579D9AA6}"/>
              </a:ext>
            </a:extLst>
          </p:cNvPr>
          <p:cNvSpPr txBox="1"/>
          <p:nvPr/>
        </p:nvSpPr>
        <p:spPr>
          <a:xfrm>
            <a:off x="685800" y="1047750"/>
            <a:ext cx="85725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从「写得出」到「跑得起来」，不再换平台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BCC7FAC-54D4-475D-8147-CD79CD4D2B73}"/>
              </a:ext>
            </a:extLst>
          </p:cNvPr>
          <p:cNvSpPr/>
          <p:nvPr/>
        </p:nvSpPr>
        <p:spPr>
          <a:xfrm>
            <a:off x="904875" y="3143250"/>
            <a:ext cx="10382250" cy="19050"/>
          </a:xfrm>
          <a:prstGeom prst="rect">
            <a:avLst/>
          </a:prstGeom>
          <a:solidFill>
            <a:srgbClr val="232A3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45E6AFD-E336-44A4-AACD-13435CB66819}"/>
              </a:ext>
            </a:extLst>
          </p:cNvPr>
          <p:cNvSpPr/>
          <p:nvPr/>
        </p:nvSpPr>
        <p:spPr>
          <a:xfrm>
            <a:off x="1524000" y="308610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A327C74-0856-4E86-B1CD-0ABADE4ED010}"/>
              </a:ext>
            </a:extLst>
          </p:cNvPr>
          <p:cNvSpPr/>
          <p:nvPr/>
        </p:nvSpPr>
        <p:spPr>
          <a:xfrm>
            <a:off x="3324225" y="308610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D302884-9318-41EA-9A8F-9A1610480E82}"/>
              </a:ext>
            </a:extLst>
          </p:cNvPr>
          <p:cNvSpPr/>
          <p:nvPr/>
        </p:nvSpPr>
        <p:spPr>
          <a:xfrm>
            <a:off x="5124450" y="308610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8528E13-E459-49C8-90EB-D74275717E33}"/>
              </a:ext>
            </a:extLst>
          </p:cNvPr>
          <p:cNvSpPr/>
          <p:nvPr/>
        </p:nvSpPr>
        <p:spPr>
          <a:xfrm>
            <a:off x="6934200" y="308610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BF78749-2369-4E12-935E-81CB95E089A0}"/>
              </a:ext>
            </a:extLst>
          </p:cNvPr>
          <p:cNvSpPr/>
          <p:nvPr/>
        </p:nvSpPr>
        <p:spPr>
          <a:xfrm>
            <a:off x="8734425" y="308610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1D78DA9-EBD0-4842-9562-2A8DD5073910}"/>
              </a:ext>
            </a:extLst>
          </p:cNvPr>
          <p:cNvSpPr/>
          <p:nvPr/>
        </p:nvSpPr>
        <p:spPr>
          <a:xfrm>
            <a:off x="10534650" y="308610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10138F3-DA5B-46C7-9602-B4FE92DD4FD2}"/>
              </a:ext>
            </a:extLst>
          </p:cNvPr>
          <p:cNvSpPr txBox="1"/>
          <p:nvPr/>
        </p:nvSpPr>
        <p:spPr>
          <a:xfrm>
            <a:off x="733425" y="2628900"/>
            <a:ext cx="1714500" cy="268224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  <a:ea typeface="Microsoft YaHei"/>
              </a:rPr>
              <a:t>01 看盘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CD95F79-00BB-4D71-B5B7-78FCBC9259C7}"/>
              </a:ext>
            </a:extLst>
          </p:cNvPr>
          <p:cNvSpPr txBox="1"/>
          <p:nvPr/>
        </p:nvSpPr>
        <p:spPr>
          <a:xfrm>
            <a:off x="704850" y="3352800"/>
            <a:ext cx="1771650" cy="628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多市场实时行情、情绪与机会雷达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011878F-6380-47CA-BD1C-5A87F8515B43}"/>
              </a:ext>
            </a:extLst>
          </p:cNvPr>
          <p:cNvSpPr txBox="1"/>
          <p:nvPr/>
        </p:nvSpPr>
        <p:spPr>
          <a:xfrm>
            <a:off x="2533650" y="2628900"/>
            <a:ext cx="1714500" cy="268224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  <a:ea typeface="Microsoft YaHei"/>
              </a:rPr>
              <a:t>02 AI 研究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26DC9CC-664A-4F57-9EA6-E3321F4F4F46}"/>
              </a:ext>
            </a:extLst>
          </p:cNvPr>
          <p:cNvSpPr txBox="1"/>
          <p:nvPr/>
        </p:nvSpPr>
        <p:spPr>
          <a:xfrm>
            <a:off x="2505075" y="3352800"/>
            <a:ext cx="1771650" cy="628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对话、快速分析、事件雷达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BEE29E4-139D-46A2-8936-44C15178452F}"/>
              </a:ext>
            </a:extLst>
          </p:cNvPr>
          <p:cNvSpPr txBox="1"/>
          <p:nvPr/>
        </p:nvSpPr>
        <p:spPr>
          <a:xfrm>
            <a:off x="4333875" y="2628900"/>
            <a:ext cx="1714500" cy="268224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  <a:ea typeface="Microsoft YaHei"/>
              </a:rPr>
              <a:t>03 策略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9DDF21E-3FB0-463D-8902-BD759343407E}"/>
              </a:ext>
            </a:extLst>
          </p:cNvPr>
          <p:cNvSpPr txBox="1"/>
          <p:nvPr/>
        </p:nvSpPr>
        <p:spPr>
          <a:xfrm>
            <a:off x="4305300" y="3352800"/>
            <a:ext cx="1771650" cy="628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AI 生成 + 222 因子库与在线 IDE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DB61A1A-F3CD-4F2B-ACA3-63778DB9AB3B}"/>
              </a:ext>
            </a:extLst>
          </p:cNvPr>
          <p:cNvSpPr txBox="1"/>
          <p:nvPr/>
        </p:nvSpPr>
        <p:spPr>
          <a:xfrm>
            <a:off x="6143625" y="2628900"/>
            <a:ext cx="1714500" cy="268224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  <a:ea typeface="Microsoft YaHei"/>
              </a:rPr>
              <a:t>04 回测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9D51E0D-56FE-43CD-8136-DD883ACBE9F5}"/>
              </a:ext>
            </a:extLst>
          </p:cNvPr>
          <p:cNvSpPr txBox="1"/>
          <p:nvPr/>
        </p:nvSpPr>
        <p:spPr>
          <a:xfrm>
            <a:off x="6115050" y="3352800"/>
            <a:ext cx="1771650" cy="628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真实数据、完整交易记录与指标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062CF9E-8BD2-4EE9-B043-8322363534F2}"/>
              </a:ext>
            </a:extLst>
          </p:cNvPr>
          <p:cNvSpPr txBox="1"/>
          <p:nvPr/>
        </p:nvSpPr>
        <p:spPr>
          <a:xfrm>
            <a:off x="7943850" y="2628900"/>
            <a:ext cx="1714500" cy="268224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  <a:ea typeface="Microsoft YaHei"/>
              </a:rPr>
              <a:t>05 执行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03472DD-2EC0-4C2D-8440-1E1567B17734}"/>
              </a:ext>
            </a:extLst>
          </p:cNvPr>
          <p:cNvSpPr txBox="1"/>
          <p:nvPr/>
        </p:nvSpPr>
        <p:spPr>
          <a:xfrm>
            <a:off x="7915275" y="3352800"/>
            <a:ext cx="1771650" cy="628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24×7 机器人 + 人工交易终端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B1A3F34-C8CC-4AF6-9A19-3A39A586FD8A}"/>
              </a:ext>
            </a:extLst>
          </p:cNvPr>
          <p:cNvSpPr txBox="1"/>
          <p:nvPr/>
        </p:nvSpPr>
        <p:spPr>
          <a:xfrm>
            <a:off x="9744075" y="2628900"/>
            <a:ext cx="1714500" cy="268224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E8EAED"/>
                </a:solidFill>
                <a:latin typeface="Microsoft YaHei"/>
                <a:ea typeface="Microsoft YaHei"/>
              </a:rPr>
              <a:t>06 连接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9F2F96B-FE17-46CB-9E9C-F7EA93DC9BB4}"/>
              </a:ext>
            </a:extLst>
          </p:cNvPr>
          <p:cNvSpPr txBox="1"/>
          <p:nvPr/>
        </p:nvSpPr>
        <p:spPr>
          <a:xfrm>
            <a:off x="9715500" y="3352800"/>
            <a:ext cx="1771650" cy="628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8 家交易通道 + Agent Gateway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F2C342A-3D50-47F9-B7A2-0259F2769CCF}"/>
              </a:ext>
            </a:extLst>
          </p:cNvPr>
          <p:cNvSpPr txBox="1"/>
          <p:nvPr/>
        </p:nvSpPr>
        <p:spPr>
          <a:xfrm>
            <a:off x="685800" y="533400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同一账号、同一份数据、同一套风控——</a:t>
            </a:r>
            <a:r>
              <a:rPr sz="1500" b="1">
                <a:solidFill>
                  <a:srgbClr val="63E2B7"/>
                </a:solidFill>
                <a:latin typeface="Microsoft YaHei"/>
                <a:ea typeface="Microsoft YaHei"/>
              </a:rPr>
              <a:t>全流程不离开一个产品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9740C0EF-CC5F-4D6C-BE0F-964521FFF9AC}"/>
              </a:ext>
            </a:extLst>
          </p:cNvPr>
          <p:cNvPicPr/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7A9C9F3D-83DB-4A90-ACE8-68253770FC2C}"/>
              </a:ext>
            </a:extLst>
          </p:cNvPr>
          <p:cNvSpPr/>
          <p:nvPr/>
        </p:nvSpPr>
        <p:spPr>
          <a:xfrm>
            <a:off x="0" y="4191000"/>
            <a:ext cx="12192000" cy="2667000"/>
          </a:xfrm>
          <a:prstGeom prst="rect">
            <a:avLst/>
          </a:prstGeom>
          <a:solidFill>
            <a:srgbClr val="07090D">
              <a:alpha val="87843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559B51-251A-4170-B9C2-EE7055398BDC}"/>
              </a:ext>
            </a:extLst>
          </p:cNvPr>
          <p:cNvSpPr txBox="1"/>
          <p:nvPr/>
        </p:nvSpPr>
        <p:spPr>
          <a:xfrm>
            <a:off x="685800" y="4686300"/>
            <a:ext cx="8572500" cy="53644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已经在生产环境运行的产品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56F71D-CFC7-42AA-8149-BE946A2FA104}"/>
              </a:ext>
            </a:extLst>
          </p:cNvPr>
          <p:cNvSpPr txBox="1"/>
          <p:nvPr/>
        </p:nvSpPr>
        <p:spPr>
          <a:xfrm>
            <a:off x="685800" y="5295900"/>
            <a:ext cx="10096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63E2B7"/>
                </a:solidFill>
                <a:latin typeface="Microsoft YaHei"/>
                <a:ea typeface="Microsoft YaHei"/>
              </a:rPr>
              <a:t>39 个功能页面 · 7 类市场 · 8 家交易通道 · WebSocket 实时推送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D1CDACE-29E8-432D-BC51-E33DCF0D29C8}"/>
              </a:ext>
            </a:extLst>
          </p:cNvPr>
          <p:cNvSpPr txBox="1"/>
          <p:nvPr/>
        </p:nvSpPr>
        <p:spPr>
          <a:xfrm>
            <a:off x="685800" y="5695950"/>
            <a:ext cx="8572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9AA1AB"/>
                </a:solidFill>
                <a:latin typeface="Microsoft YaHei"/>
                <a:ea typeface="Microsoft YaHei"/>
              </a:rPr>
              <a:t>shark.aiorz.cc · 以下截图与数据均来自真实运行环境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DB81CA2-31B5-4EFA-A611-2BDB1C3A5574}"/>
              </a:ext>
            </a:extLst>
          </p:cNvPr>
          <p:cNvSpPr txBox="1"/>
          <p:nvPr/>
        </p:nvSpPr>
        <p:spPr>
          <a:xfrm>
            <a:off x="685800" y="457200"/>
            <a:ext cx="76200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平台能力盘点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52E790-0EBC-4A50-820A-C2848D4830CE}"/>
              </a:ext>
            </a:extLst>
          </p:cNvPr>
          <p:cNvSpPr txBox="1"/>
          <p:nvPr/>
        </p:nvSpPr>
        <p:spPr>
          <a:xfrm>
            <a:off x="685800" y="1047750"/>
            <a:ext cx="85725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每一项都能在生产环境逐条验证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AA2C60A-F6B4-4FE0-934C-21BDBEC1A6D9}"/>
              </a:ext>
            </a:extLst>
          </p:cNvPr>
          <p:cNvSpPr/>
          <p:nvPr/>
        </p:nvSpPr>
        <p:spPr>
          <a:xfrm>
            <a:off x="685800" y="2000250"/>
            <a:ext cx="1676400" cy="18097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E3E61ED-0EB6-472D-B90C-B7679A48255A}"/>
              </a:ext>
            </a:extLst>
          </p:cNvPr>
          <p:cNvSpPr/>
          <p:nvPr/>
        </p:nvSpPr>
        <p:spPr>
          <a:xfrm>
            <a:off x="2514600" y="2000250"/>
            <a:ext cx="1676400" cy="18097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D9FA265-B8CE-4A1F-B3A4-38C995F05F0C}"/>
              </a:ext>
            </a:extLst>
          </p:cNvPr>
          <p:cNvSpPr/>
          <p:nvPr/>
        </p:nvSpPr>
        <p:spPr>
          <a:xfrm>
            <a:off x="4343400" y="2000250"/>
            <a:ext cx="1676400" cy="18097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62835D3-4F7E-4894-B9D4-4DD34A52FEEF}"/>
              </a:ext>
            </a:extLst>
          </p:cNvPr>
          <p:cNvSpPr/>
          <p:nvPr/>
        </p:nvSpPr>
        <p:spPr>
          <a:xfrm>
            <a:off x="6172200" y="2000250"/>
            <a:ext cx="1676400" cy="18097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3A46F73-6340-49BE-91EC-1723560B7593}"/>
              </a:ext>
            </a:extLst>
          </p:cNvPr>
          <p:cNvSpPr/>
          <p:nvPr/>
        </p:nvSpPr>
        <p:spPr>
          <a:xfrm>
            <a:off x="8001000" y="2000250"/>
            <a:ext cx="1676400" cy="18097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877DC0C-B22B-434E-9333-50BA58101FF1}"/>
              </a:ext>
            </a:extLst>
          </p:cNvPr>
          <p:cNvSpPr/>
          <p:nvPr/>
        </p:nvSpPr>
        <p:spPr>
          <a:xfrm>
            <a:off x="9829800" y="2000250"/>
            <a:ext cx="1676400" cy="18097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A56B90F-90EF-441D-9E3F-135615C72351}"/>
              </a:ext>
            </a:extLst>
          </p:cNvPr>
          <p:cNvSpPr txBox="1"/>
          <p:nvPr/>
        </p:nvSpPr>
        <p:spPr>
          <a:xfrm>
            <a:off x="838200" y="2228850"/>
            <a:ext cx="13716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E2B7"/>
                </a:solidFill>
                <a:latin typeface="Arial"/>
                <a:ea typeface="Arial"/>
              </a:rPr>
              <a:t>39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50327AF-52D1-4DAC-B24E-76D0C472F50C}"/>
              </a:ext>
            </a:extLst>
          </p:cNvPr>
          <p:cNvSpPr txBox="1"/>
          <p:nvPr/>
        </p:nvSpPr>
        <p:spPr>
          <a:xfrm>
            <a:off x="838200" y="2933700"/>
            <a:ext cx="13716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功能页面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2BB358-79C1-4271-A04C-37A6B0EF4852}"/>
              </a:ext>
            </a:extLst>
          </p:cNvPr>
          <p:cNvSpPr txBox="1"/>
          <p:nvPr/>
        </p:nvSpPr>
        <p:spPr>
          <a:xfrm>
            <a:off x="838200" y="3238500"/>
            <a:ext cx="13716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从行情看盘到运营管理后台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497577A-E41B-45E4-8B2D-94CBEED4EC7B}"/>
              </a:ext>
            </a:extLst>
          </p:cNvPr>
          <p:cNvSpPr txBox="1"/>
          <p:nvPr/>
        </p:nvSpPr>
        <p:spPr>
          <a:xfrm>
            <a:off x="2667000" y="2228850"/>
            <a:ext cx="13716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E2B7"/>
                </a:solidFill>
                <a:latin typeface="Arial"/>
                <a:ea typeface="Arial"/>
              </a:rPr>
              <a:t>7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C5E07FC-7F50-4D70-9F79-C81171816583}"/>
              </a:ext>
            </a:extLst>
          </p:cNvPr>
          <p:cNvSpPr txBox="1"/>
          <p:nvPr/>
        </p:nvSpPr>
        <p:spPr>
          <a:xfrm>
            <a:off x="2667000" y="2933700"/>
            <a:ext cx="13716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类市场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BCB2541-5EF4-4DB5-84FF-126A7D9368EA}"/>
              </a:ext>
            </a:extLst>
          </p:cNvPr>
          <p:cNvSpPr txBox="1"/>
          <p:nvPr/>
        </p:nvSpPr>
        <p:spPr>
          <a:xfrm>
            <a:off x="2667000" y="3238500"/>
            <a:ext cx="13716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加密·美股·港股·外汇·期货…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E69888B-03C9-40F9-A8F1-0AC5B9ED48AE}"/>
              </a:ext>
            </a:extLst>
          </p:cNvPr>
          <p:cNvSpPr txBox="1"/>
          <p:nvPr/>
        </p:nvSpPr>
        <p:spPr>
          <a:xfrm>
            <a:off x="4495800" y="2228850"/>
            <a:ext cx="13716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E2B7"/>
                </a:solidFill>
                <a:latin typeface="Arial"/>
                <a:ea typeface="Arial"/>
              </a:rPr>
              <a:t>8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E3E2AFE-4C79-4978-BB93-705BCDEA7309}"/>
              </a:ext>
            </a:extLst>
          </p:cNvPr>
          <p:cNvSpPr txBox="1"/>
          <p:nvPr/>
        </p:nvSpPr>
        <p:spPr>
          <a:xfrm>
            <a:off x="4495800" y="2933700"/>
            <a:ext cx="13716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交易通道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CC12CB5-A5A3-4557-9C02-D9E14111D066}"/>
              </a:ext>
            </a:extLst>
          </p:cNvPr>
          <p:cNvSpPr txBox="1"/>
          <p:nvPr/>
        </p:nvSpPr>
        <p:spPr>
          <a:xfrm>
            <a:off x="4495800" y="3238500"/>
            <a:ext cx="13716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6 家加密交易所 + IBKR / Alpaca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8892178-B59A-4085-B10A-4B93B64D35F9}"/>
              </a:ext>
            </a:extLst>
          </p:cNvPr>
          <p:cNvSpPr txBox="1"/>
          <p:nvPr/>
        </p:nvSpPr>
        <p:spPr>
          <a:xfrm>
            <a:off x="6324600" y="2228850"/>
            <a:ext cx="13716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E2B7"/>
                </a:solidFill>
                <a:latin typeface="Arial"/>
                <a:ea typeface="Arial"/>
              </a:rPr>
              <a:t>222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1DEE48B-1E7B-4694-8445-C91FD1613B95}"/>
              </a:ext>
            </a:extLst>
          </p:cNvPr>
          <p:cNvSpPr txBox="1"/>
          <p:nvPr/>
        </p:nvSpPr>
        <p:spPr>
          <a:xfrm>
            <a:off x="6324600" y="2933700"/>
            <a:ext cx="13716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量化因子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FB664DC-5310-4227-B336-109C40F5E2AF}"/>
              </a:ext>
            </a:extLst>
          </p:cNvPr>
          <p:cNvSpPr txBox="1"/>
          <p:nvPr/>
        </p:nvSpPr>
        <p:spPr>
          <a:xfrm>
            <a:off x="6324600" y="3238500"/>
            <a:ext cx="13716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因子库 + 因子研究，可直接进策略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10CDC5F-970F-4215-8219-56394F6CF3F0}"/>
              </a:ext>
            </a:extLst>
          </p:cNvPr>
          <p:cNvSpPr txBox="1"/>
          <p:nvPr/>
        </p:nvSpPr>
        <p:spPr>
          <a:xfrm>
            <a:off x="8153400" y="2228850"/>
            <a:ext cx="13716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E2B7"/>
                </a:solidFill>
                <a:latin typeface="Arial"/>
                <a:ea typeface="Arial"/>
              </a:rPr>
              <a:t>58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1BEDA0C-49F6-445B-8EFA-44721ED49231}"/>
              </a:ext>
            </a:extLst>
          </p:cNvPr>
          <p:cNvSpPr txBox="1"/>
          <p:nvPr/>
        </p:nvSpPr>
        <p:spPr>
          <a:xfrm>
            <a:off x="8153400" y="2933700"/>
            <a:ext cx="13716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MCP 工具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31BAC50-9882-4144-806E-0E211B29868F}"/>
              </a:ext>
            </a:extLst>
          </p:cNvPr>
          <p:cNvSpPr txBox="1"/>
          <p:nvPr/>
        </p:nvSpPr>
        <p:spPr>
          <a:xfrm>
            <a:off x="8153400" y="3238500"/>
            <a:ext cx="13716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开放给 Cursor / Claude / Codex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D8C6316-C30B-4465-A4CF-CE23604BDD5A}"/>
              </a:ext>
            </a:extLst>
          </p:cNvPr>
          <p:cNvSpPr txBox="1"/>
          <p:nvPr/>
        </p:nvSpPr>
        <p:spPr>
          <a:xfrm>
            <a:off x="9982200" y="2228850"/>
            <a:ext cx="13716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E2B7"/>
                </a:solidFill>
                <a:latin typeface="Arial"/>
                <a:ea typeface="Arial"/>
              </a:rPr>
              <a:t>18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4F60930-0A8E-4F98-81FC-CB778B866932}"/>
              </a:ext>
            </a:extLst>
          </p:cNvPr>
          <p:cNvSpPr txBox="1"/>
          <p:nvPr/>
        </p:nvSpPr>
        <p:spPr>
          <a:xfrm>
            <a:off x="9982200" y="2933700"/>
            <a:ext cx="13716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容器服务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686D2D3-79FF-4C42-A8EA-F7AC4B3B5030}"/>
              </a:ext>
            </a:extLst>
          </p:cNvPr>
          <p:cNvSpPr txBox="1"/>
          <p:nvPr/>
        </p:nvSpPr>
        <p:spPr>
          <a:xfrm>
            <a:off x="9982200" y="3238500"/>
            <a:ext cx="13716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交易级分布式架构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7DC07CC-0A34-4E01-B541-F8AE9869ACD3}"/>
              </a:ext>
            </a:extLst>
          </p:cNvPr>
          <p:cNvSpPr txBox="1"/>
          <p:nvPr/>
        </p:nvSpPr>
        <p:spPr>
          <a:xfrm>
            <a:off x="685800" y="533400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11 种语言 AI 输出 · 中英双语界面 · 48 路由 × 双语生产 QA 回归 · 依赖 </a:t>
            </a:r>
            <a:r>
              <a:rPr sz="1500" b="1">
                <a:solidFill>
                  <a:srgbClr val="63E2B7"/>
                </a:solidFill>
                <a:latin typeface="Microsoft YaHei"/>
                <a:ea typeface="Microsoft YaHei"/>
              </a:rPr>
              <a:t>0 已知漏洞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F422428-50DB-43B1-8A8C-68492E6AEFE9}"/>
              </a:ext>
            </a:extLst>
          </p:cNvPr>
          <p:cNvSpPr txBox="1"/>
          <p:nvPr/>
        </p:nvSpPr>
        <p:spPr>
          <a:xfrm>
            <a:off x="685800" y="457200"/>
            <a:ext cx="81915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AI 原生：不是加一个按钮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F545C6D-E057-4A5F-B31B-37F04C5169FA}"/>
              </a:ext>
            </a:extLst>
          </p:cNvPr>
          <p:cNvSpPr txBox="1"/>
          <p:nvPr/>
        </p:nvSpPr>
        <p:spPr>
          <a:xfrm>
            <a:off x="685800" y="1390650"/>
            <a:ext cx="4953000" cy="409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63E2B7"/>
                </a:solidFill>
                <a:latin typeface="Microsoft YaHei"/>
                <a:ea typeface="Microsoft YaHei"/>
              </a:rPr>
              <a:t>对话式研究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——流式回答、可传附件；围绕你的持仓与自选作答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63E2B7"/>
                </a:solidFill>
                <a:latin typeface="Microsoft YaHei"/>
                <a:ea typeface="Microsoft YaHei"/>
              </a:rPr>
              <a:t>自然语言生成策略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——一句话到可回测代码，再一键建机器人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63E2B7"/>
                </a:solidFill>
                <a:latin typeface="Microsoft YaHei"/>
                <a:ea typeface="Microsoft YaHei"/>
              </a:rPr>
              <a:t>AI 评审报告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——策略上线前自动体检（回测 30 额度/次、评审 10）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63E2B7"/>
                </a:solidFill>
                <a:latin typeface="Microsoft YaHei"/>
                <a:ea typeface="Microsoft YaHei"/>
              </a:rPr>
              <a:t>事件雷达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——AI 评估全球新闻对你持仓标的的影响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1">
                <a:solidFill>
                  <a:srgbClr val="63E2B7"/>
                </a:solidFill>
                <a:latin typeface="Microsoft YaHei"/>
                <a:ea typeface="Microsoft YaHei"/>
              </a:rPr>
              <a:t>11 种语言输出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——中英双语界面，面向全球用户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070E6E6-CFA4-4F10-959F-747984715F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48400" y="1428750"/>
            <a:ext cx="5257800" cy="3286125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652593C-9D67-4035-A0C5-80DB49713B9C}"/>
              </a:ext>
            </a:extLst>
          </p:cNvPr>
          <p:cNvSpPr txBox="1"/>
          <p:nvPr/>
        </p:nvSpPr>
        <p:spPr>
          <a:xfrm>
            <a:off x="6248400" y="4838700"/>
            <a:ext cx="5257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</a:rPr>
              <a:t>AI 对话（生产环境真实界面）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70DAA57-A881-4F14-9AAD-8A97BD039F0E}"/>
              </a:ext>
            </a:extLst>
          </p:cNvPr>
          <p:cNvSpPr txBox="1"/>
          <p:nvPr/>
        </p:nvSpPr>
        <p:spPr>
          <a:xfrm>
            <a:off x="685800" y="5676900"/>
            <a:ext cx="4953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63E2B7"/>
                </a:solidFill>
                <a:latin typeface="Microsoft YaHei"/>
                <a:ea typeface="Microsoft YaHei"/>
              </a:rPr>
              <a:t>从提问到下单，AI 全程在场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F800D16-DD9C-4736-9F44-31D8787765F4}"/>
              </a:ext>
            </a:extLst>
          </p:cNvPr>
          <p:cNvSpPr txBox="1"/>
          <p:nvPr/>
        </p:nvSpPr>
        <p:spPr>
          <a:xfrm>
            <a:off x="685800" y="457200"/>
            <a:ext cx="100965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真实回测示例：BTC 4h 双均线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A03CC66-D03C-4A06-A1C3-292998B0F7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1428750"/>
            <a:ext cx="7239000" cy="2943225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D221FED-E257-405F-8AB6-11AA3EAD189B}"/>
              </a:ext>
            </a:extLst>
          </p:cNvPr>
          <p:cNvSpPr txBox="1"/>
          <p:nvPr/>
        </p:nvSpPr>
        <p:spPr>
          <a:xfrm>
            <a:off x="609600" y="4629150"/>
            <a:ext cx="7429500" cy="23774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</a:rPr>
              <a:t>初始资金 10,000 USDT · 2025-10-11 → 2026-10-11 · 平台内置引擎实跑；历史回测不代表未来表现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297DBD1-2107-4884-8A4B-9EF4F52F924E}"/>
              </a:ext>
            </a:extLst>
          </p:cNvPr>
          <p:cNvSpPr txBox="1"/>
          <p:nvPr/>
        </p:nvSpPr>
        <p:spPr>
          <a:xfrm>
            <a:off x="8305800" y="161925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9AA1AB"/>
                </a:solidFill>
                <a:latin typeface="Microsoft YaHei"/>
                <a:ea typeface="Microsoft YaHei"/>
              </a:rPr>
              <a:t>总收益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4A7ED60-52EF-410B-8F48-83DF054A8B53}"/>
              </a:ext>
            </a:extLst>
          </p:cNvPr>
          <p:cNvSpPr txBox="1"/>
          <p:nvPr/>
        </p:nvSpPr>
        <p:spPr>
          <a:xfrm>
            <a:off x="8305800" y="1847850"/>
            <a:ext cx="3200400" cy="4000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63E2B7"/>
                </a:solidFill>
                <a:latin typeface="Arial"/>
                <a:ea typeface="Arial"/>
              </a:rPr>
              <a:t>+46.31%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2641F53-3B62-4591-8E3B-F834241F16CE}"/>
              </a:ext>
            </a:extLst>
          </p:cNvPr>
          <p:cNvSpPr txBox="1"/>
          <p:nvPr/>
        </p:nvSpPr>
        <p:spPr>
          <a:xfrm>
            <a:off x="8305800" y="240030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9AA1AB"/>
                </a:solidFill>
                <a:latin typeface="Microsoft YaHei"/>
                <a:ea typeface="Microsoft YaHei"/>
              </a:rPr>
              <a:t>相对基准（BTC 现货）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153D9EA-79D6-4836-A866-147FD50668A4}"/>
              </a:ext>
            </a:extLst>
          </p:cNvPr>
          <p:cNvSpPr txBox="1"/>
          <p:nvPr/>
        </p:nvSpPr>
        <p:spPr>
          <a:xfrm>
            <a:off x="8305800" y="2628900"/>
            <a:ext cx="32004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63E2B7"/>
                </a:solidFill>
                <a:latin typeface="Arial"/>
                <a:ea typeface="Arial"/>
              </a:rPr>
              <a:t>+72.54%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1945338-F287-41E6-B8B4-8B13B10CA3EC}"/>
              </a:ext>
            </a:extLst>
          </p:cNvPr>
          <p:cNvSpPr txBox="1"/>
          <p:nvPr/>
        </p:nvSpPr>
        <p:spPr>
          <a:xfrm>
            <a:off x="8305800" y="318135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9AA1AB"/>
                </a:solidFill>
                <a:latin typeface="Microsoft YaHei"/>
                <a:ea typeface="Microsoft YaHei"/>
              </a:rPr>
              <a:t>最大回撤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E743311-6449-49F1-8E6A-8A74CEA3A57B}"/>
              </a:ext>
            </a:extLst>
          </p:cNvPr>
          <p:cNvSpPr txBox="1"/>
          <p:nvPr/>
        </p:nvSpPr>
        <p:spPr>
          <a:xfrm>
            <a:off x="8305800" y="3409950"/>
            <a:ext cx="32004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8EAED"/>
                </a:solidFill>
                <a:latin typeface="Arial"/>
                <a:ea typeface="Arial"/>
              </a:rPr>
              <a:t>-22.81%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7AC30ED-7569-487C-BE69-3A15BC6105FD}"/>
              </a:ext>
            </a:extLst>
          </p:cNvPr>
          <p:cNvSpPr txBox="1"/>
          <p:nvPr/>
        </p:nvSpPr>
        <p:spPr>
          <a:xfrm>
            <a:off x="8305800" y="396240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9AA1AB"/>
                </a:solidFill>
                <a:latin typeface="Microsoft YaHei"/>
                <a:ea typeface="Microsoft YaHei"/>
              </a:rPr>
              <a:t>夏普比率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3FC4572-7B34-46FB-A958-F8F81165D44F}"/>
              </a:ext>
            </a:extLst>
          </p:cNvPr>
          <p:cNvSpPr txBox="1"/>
          <p:nvPr/>
        </p:nvSpPr>
        <p:spPr>
          <a:xfrm>
            <a:off x="8305800" y="4191000"/>
            <a:ext cx="32004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8EAED"/>
                </a:solidFill>
                <a:latin typeface="Arial"/>
                <a:ea typeface="Arial"/>
              </a:rPr>
              <a:t>1.21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A123900-D65F-414B-A653-D3509D5F855A}"/>
              </a:ext>
            </a:extLst>
          </p:cNvPr>
          <p:cNvSpPr txBox="1"/>
          <p:nvPr/>
        </p:nvSpPr>
        <p:spPr>
          <a:xfrm>
            <a:off x="8305800" y="474345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9AA1AB"/>
                </a:solidFill>
                <a:latin typeface="Microsoft YaHei"/>
                <a:ea typeface="Microsoft YaHei"/>
              </a:rPr>
              <a:t>交易笔数 / 胜率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C6840A4-B04A-40D6-AA48-2603BB1E8E86}"/>
              </a:ext>
            </a:extLst>
          </p:cNvPr>
          <p:cNvSpPr txBox="1"/>
          <p:nvPr/>
        </p:nvSpPr>
        <p:spPr>
          <a:xfrm>
            <a:off x="8305800" y="4972050"/>
            <a:ext cx="32004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8EAED"/>
                </a:solidFill>
                <a:latin typeface="Arial"/>
                <a:ea typeface="Arial"/>
              </a:rPr>
              <a:t>42 笔 / 45.2%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925F1E0-3FE1-404E-8C66-47246E614A2B}"/>
              </a:ext>
            </a:extLst>
          </p:cNvPr>
          <p:cNvSpPr txBox="1"/>
          <p:nvPr/>
        </p:nvSpPr>
        <p:spPr>
          <a:xfrm>
            <a:off x="685800" y="457200"/>
            <a:ext cx="108204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让 AI Agent 安全地交易——行业还没有答案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E63D30-E5D1-4CB2-89D1-A2CF1A23E824}"/>
              </a:ext>
            </a:extLst>
          </p:cNvPr>
          <p:cNvSpPr txBox="1"/>
          <p:nvPr/>
        </p:nvSpPr>
        <p:spPr>
          <a:xfrm>
            <a:off x="685800" y="104775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MCP 服务器两年从 ~50 个增长到 8,000–12,000 个；Agent 进入金融只是时间问题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A572006-371F-41D8-9C3E-C397C4967742}"/>
              </a:ext>
            </a:extLst>
          </p:cNvPr>
          <p:cNvSpPr/>
          <p:nvPr/>
        </p:nvSpPr>
        <p:spPr>
          <a:xfrm>
            <a:off x="685800" y="1619250"/>
            <a:ext cx="5219700" cy="381000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FD90847-373E-4798-B9FD-78D7B40FD102}"/>
              </a:ext>
            </a:extLst>
          </p:cNvPr>
          <p:cNvSpPr/>
          <p:nvPr/>
        </p:nvSpPr>
        <p:spPr>
          <a:xfrm>
            <a:off x="6286500" y="1619250"/>
            <a:ext cx="5219700" cy="381000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63E2B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F24E284-7AC6-455B-A994-2FA3C21E716B}"/>
              </a:ext>
            </a:extLst>
          </p:cNvPr>
          <p:cNvSpPr txBox="1"/>
          <p:nvPr/>
        </p:nvSpPr>
        <p:spPr>
          <a:xfrm>
            <a:off x="990600" y="1866900"/>
            <a:ext cx="4572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8FB8FF"/>
                </a:solidFill>
                <a:latin typeface="Microsoft YaHei"/>
                <a:ea typeface="Microsoft YaHei"/>
              </a:rPr>
              <a:t>行业现状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346E20-A090-40D2-81BF-E8BC2820B69F}"/>
              </a:ext>
            </a:extLst>
          </p:cNvPr>
          <p:cNvSpPr txBox="1"/>
          <p:nvPr/>
        </p:nvSpPr>
        <p:spPr>
          <a:xfrm>
            <a:off x="990600" y="2343150"/>
            <a:ext cx="4572000" cy="569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8EAED"/>
                </a:solidFill>
                <a:latin typeface="Arial"/>
                <a:ea typeface="Arial"/>
              </a:rPr>
              <a:t>47–53%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67670CD-7756-43AF-8933-A0A8FE934F1B}"/>
              </a:ext>
            </a:extLst>
          </p:cNvPr>
          <p:cNvSpPr txBox="1"/>
          <p:nvPr/>
        </p:nvSpPr>
        <p:spPr>
          <a:xfrm>
            <a:off x="990600" y="2914650"/>
            <a:ext cx="4572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9AA1AB"/>
                </a:solidFill>
                <a:latin typeface="Microsoft YaHei"/>
                <a:ea typeface="Microsoft YaHei"/>
              </a:rPr>
              <a:t>的组织遭遇过 AI Agent 越权或安全事故（DevSecOps 2026）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791701B-15D3-4DE9-B28B-D2554230357A}"/>
              </a:ext>
            </a:extLst>
          </p:cNvPr>
          <p:cNvSpPr txBox="1"/>
          <p:nvPr/>
        </p:nvSpPr>
        <p:spPr>
          <a:xfrm>
            <a:off x="990600" y="3429000"/>
            <a:ext cx="4572000" cy="569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8EAED"/>
                </a:solidFill>
                <a:latin typeface="Arial"/>
                <a:ea typeface="Arial"/>
              </a:rPr>
              <a:t>~23%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1DDC25F-469E-4EE1-A1BE-A04FE4867EAD}"/>
              </a:ext>
            </a:extLst>
          </p:cNvPr>
          <p:cNvSpPr txBox="1"/>
          <p:nvPr/>
        </p:nvSpPr>
        <p:spPr>
          <a:xfrm>
            <a:off x="990600" y="4000500"/>
            <a:ext cx="4572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9AA1AB"/>
                </a:solidFill>
                <a:latin typeface="Microsoft YaHei"/>
                <a:ea typeface="Microsoft YaHei"/>
              </a:rPr>
              <a:t>的组织建立了正式的 AI Agent 身份体系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E8239C7-1A94-411B-8F9A-2ADC415B71C1}"/>
              </a:ext>
            </a:extLst>
          </p:cNvPr>
          <p:cNvSpPr txBox="1"/>
          <p:nvPr/>
        </p:nvSpPr>
        <p:spPr>
          <a:xfrm>
            <a:off x="990600" y="4514850"/>
            <a:ext cx="4572000" cy="569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E8EAED"/>
                </a:solidFill>
                <a:latin typeface="Arial"/>
                <a:ea typeface="Arial"/>
              </a:rPr>
              <a:t>0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59AE6E9-4B85-4AB4-A30E-218077900611}"/>
              </a:ext>
            </a:extLst>
          </p:cNvPr>
          <p:cNvSpPr txBox="1"/>
          <p:nvPr/>
        </p:nvSpPr>
        <p:spPr>
          <a:xfrm>
            <a:off x="990600" y="5086350"/>
            <a:ext cx="4572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9AA1AB"/>
                </a:solidFill>
                <a:latin typeface="Microsoft YaHei"/>
                <a:ea typeface="Microsoft YaHei"/>
              </a:rPr>
              <a:t>现成的「交易级」Agent 安全方案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C0FDB38-037B-4ABB-9828-E06DC5E291FB}"/>
              </a:ext>
            </a:extLst>
          </p:cNvPr>
          <p:cNvSpPr txBox="1"/>
          <p:nvPr/>
        </p:nvSpPr>
        <p:spPr>
          <a:xfrm>
            <a:off x="6591300" y="1866900"/>
            <a:ext cx="4572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63E2B7"/>
                </a:solidFill>
                <a:latin typeface="Microsoft YaHei"/>
                <a:ea typeface="Microsoft YaHei"/>
              </a:rPr>
              <a:t>SharkQuant Agent Gateway（已上线）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A591504-9936-4227-88C1-D4978C72678C}"/>
              </a:ext>
            </a:extLst>
          </p:cNvPr>
          <p:cNvSpPr txBox="1"/>
          <p:nvPr/>
        </p:nvSpPr>
        <p:spPr>
          <a:xfrm>
            <a:off x="6591300" y="2457450"/>
            <a:ext cx="4610100" cy="291388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58 个 MCP 工具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——把行情、回测、模拟交易全部开放给 Cursor / Claude Code / Codex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默认仅模拟盘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——实盘需权限、授权、风险确认、非默认模式 4 个条件同时满足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五类权限范围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——读写/交易/通知/额度/实盘分级，默认限流 60 次/分钟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全量操作审计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——每一笔 Agent 动作可回溯，资金安全优先于便利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F195489-D503-45F5-8F6F-520B48F50F95}"/>
              </a:ext>
            </a:extLst>
          </p:cNvPr>
          <p:cNvSpPr txBox="1"/>
          <p:nvPr/>
        </p:nvSpPr>
        <p:spPr>
          <a:xfrm>
            <a:off x="685800" y="577215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Agent 生态 = 新的分发渠道：</a:t>
            </a:r>
            <a:r>
              <a:rPr sz="1500" b="1">
                <a:solidFill>
                  <a:srgbClr val="63E2B7"/>
                </a:solidFill>
                <a:latin typeface="Microsoft YaHei"/>
                <a:ea typeface="Microsoft YaHei"/>
              </a:rPr>
              <a:t>AI 用户的第一笔交易，可能从一次对话开始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E68D41B-F74A-4520-A1F9-E61845570E7A}"/>
              </a:ext>
            </a:extLst>
          </p:cNvPr>
          <p:cNvSpPr txBox="1"/>
          <p:nvPr/>
        </p:nvSpPr>
        <p:spPr>
          <a:xfrm>
            <a:off x="685800" y="457200"/>
            <a:ext cx="108204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竞争定位：整合度 × AI 原生度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31F0D94-6724-48A9-BCC4-3ADABD5CD365}"/>
              </a:ext>
            </a:extLst>
          </p:cNvPr>
          <p:cNvSpPr txBox="1"/>
          <p:nvPr/>
        </p:nvSpPr>
        <p:spPr>
          <a:xfrm>
            <a:off x="685800" y="104775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横轴：全链路整合度（分析 → 执行）｜纵轴：AI 原生度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BFFC4B3-89E2-4C0D-9A1D-0E478CCC5C5E}"/>
              </a:ext>
            </a:extLst>
          </p:cNvPr>
          <p:cNvSpPr/>
          <p:nvPr/>
        </p:nvSpPr>
        <p:spPr>
          <a:xfrm>
            <a:off x="1333500" y="3810000"/>
            <a:ext cx="9525000" cy="19050"/>
          </a:xfrm>
          <a:prstGeom prst="rect">
            <a:avLst/>
          </a:prstGeom>
          <a:solidFill>
            <a:srgbClr val="232A3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328A199-3FA0-43FE-ADFD-1E2217678ABD}"/>
              </a:ext>
            </a:extLst>
          </p:cNvPr>
          <p:cNvSpPr/>
          <p:nvPr/>
        </p:nvSpPr>
        <p:spPr>
          <a:xfrm>
            <a:off x="6096000" y="1619250"/>
            <a:ext cx="19050" cy="4191000"/>
          </a:xfrm>
          <a:prstGeom prst="rect">
            <a:avLst/>
          </a:prstGeom>
          <a:solidFill>
            <a:srgbClr val="232A3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0CF9E07-23C4-4094-8FF2-27EE01D7730E}"/>
              </a:ext>
            </a:extLst>
          </p:cNvPr>
          <p:cNvSpPr txBox="1"/>
          <p:nvPr/>
        </p:nvSpPr>
        <p:spPr>
          <a:xfrm>
            <a:off x="8096250" y="3924300"/>
            <a:ext cx="28575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</a:rPr>
              <a:t>全链路整合（分析 → 执行） →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371159C-C0D0-4D42-99B1-1801C3023651}"/>
              </a:ext>
            </a:extLst>
          </p:cNvPr>
          <p:cNvSpPr txBox="1"/>
          <p:nvPr/>
        </p:nvSpPr>
        <p:spPr>
          <a:xfrm>
            <a:off x="1123950" y="1600200"/>
            <a:ext cx="19050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</a:rPr>
              <a:t>AI 原生度 ↑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92FD14F-6118-4AD6-99A4-8705BFC96474}"/>
              </a:ext>
            </a:extLst>
          </p:cNvPr>
          <p:cNvSpPr txBox="1"/>
          <p:nvPr/>
        </p:nvSpPr>
        <p:spPr>
          <a:xfrm>
            <a:off x="1619250" y="1866900"/>
            <a:ext cx="22860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</a:rPr>
              <a:t>分析工具 × AI 增强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E1E7317-D801-41E4-8D33-DBFF70D73F1B}"/>
              </a:ext>
            </a:extLst>
          </p:cNvPr>
          <p:cNvSpPr txBox="1"/>
          <p:nvPr/>
        </p:nvSpPr>
        <p:spPr>
          <a:xfrm>
            <a:off x="6324600" y="1866900"/>
            <a:ext cx="22860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</a:rPr>
              <a:t>全链路 × AI 原生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7EC50CF-EC20-4347-9424-951E9DB47968}"/>
              </a:ext>
            </a:extLst>
          </p:cNvPr>
          <p:cNvSpPr txBox="1"/>
          <p:nvPr/>
        </p:nvSpPr>
        <p:spPr>
          <a:xfrm>
            <a:off x="1619250" y="5467350"/>
            <a:ext cx="22860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</a:rPr>
              <a:t>单点工具 × 传统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078BCF4-B076-42CA-AB2C-5B07AD3B4D27}"/>
              </a:ext>
            </a:extLst>
          </p:cNvPr>
          <p:cNvSpPr txBox="1"/>
          <p:nvPr/>
        </p:nvSpPr>
        <p:spPr>
          <a:xfrm>
            <a:off x="6324600" y="5467350"/>
            <a:ext cx="22860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4B5563"/>
                </a:solidFill>
                <a:latin typeface="Microsoft YaHei"/>
                <a:ea typeface="Microsoft YaHei"/>
              </a:rPr>
              <a:t>自动执行 × AI 弱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16FD771-0754-4301-A5DF-43038D11295B}"/>
              </a:ext>
            </a:extLst>
          </p:cNvPr>
          <p:cNvSpPr/>
          <p:nvPr/>
        </p:nvSpPr>
        <p:spPr>
          <a:xfrm>
            <a:off x="2381250" y="2343150"/>
            <a:ext cx="2190750" cy="7429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7375B0E-0998-40BF-A16A-FC578E879953}"/>
              </a:ext>
            </a:extLst>
          </p:cNvPr>
          <p:cNvSpPr/>
          <p:nvPr/>
        </p:nvSpPr>
        <p:spPr>
          <a:xfrm>
            <a:off x="2381250" y="4476750"/>
            <a:ext cx="2190750" cy="7429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BF2A567-19E2-478A-9C60-30D3F7DF9040}"/>
              </a:ext>
            </a:extLst>
          </p:cNvPr>
          <p:cNvSpPr/>
          <p:nvPr/>
        </p:nvSpPr>
        <p:spPr>
          <a:xfrm>
            <a:off x="7734300" y="2343150"/>
            <a:ext cx="2190750" cy="7429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06B6EF63-7562-4325-B22D-DDADE16B4D47}"/>
              </a:ext>
            </a:extLst>
          </p:cNvPr>
          <p:cNvSpPr/>
          <p:nvPr/>
        </p:nvSpPr>
        <p:spPr>
          <a:xfrm>
            <a:off x="7734300" y="4476750"/>
            <a:ext cx="2190750" cy="742950"/>
          </a:xfrm>
          <a:prstGeom prst="roundRect">
            <a:avLst/>
          </a:prstGeom>
          <a:solidFill>
            <a:srgbClr val="14181F"/>
          </a:solidFill>
          <a:ln w="19050">
            <a:solidFill>
              <a:srgbClr val="63E2B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CB846C1-98DB-4492-AF86-4129E861E4AA}"/>
              </a:ext>
            </a:extLst>
          </p:cNvPr>
          <p:cNvSpPr txBox="1"/>
          <p:nvPr/>
        </p:nvSpPr>
        <p:spPr>
          <a:xfrm>
            <a:off x="2552700" y="2438400"/>
            <a:ext cx="1905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EAED"/>
                </a:solidFill>
                <a:latin typeface="Arial"/>
                <a:ea typeface="Arial"/>
              </a:rPr>
              <a:t>TradingView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D1D0C4D-2048-4592-AA16-26E421C74854}"/>
              </a:ext>
            </a:extLst>
          </p:cNvPr>
          <p:cNvSpPr txBox="1"/>
          <p:nvPr/>
        </p:nvSpPr>
        <p:spPr>
          <a:xfrm>
            <a:off x="2552700" y="2705100"/>
            <a:ext cx="1905000" cy="4556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图表分析霸主 · 不执行 · AI 局部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C37C7DF-5E21-43FB-AB83-7C02E7E05794}"/>
              </a:ext>
            </a:extLst>
          </p:cNvPr>
          <p:cNvSpPr txBox="1"/>
          <p:nvPr/>
        </p:nvSpPr>
        <p:spPr>
          <a:xfrm>
            <a:off x="2552700" y="4572000"/>
            <a:ext cx="1905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EAED"/>
                </a:solidFill>
                <a:latin typeface="Arial"/>
                <a:ea typeface="Arial"/>
              </a:rPr>
              <a:t>QuantConnect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61C76B2-6E2D-42C1-8196-0A975EBC2A12}"/>
              </a:ext>
            </a:extLst>
          </p:cNvPr>
          <p:cNvSpPr txBox="1"/>
          <p:nvPr/>
        </p:nvSpPr>
        <p:spPr>
          <a:xfrm>
            <a:off x="2552700" y="4838700"/>
            <a:ext cx="1905000" cy="4556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机构级引擎 · 工程师门槛 · AI 局部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35566BB-0020-408E-9526-FAD098B3176A}"/>
              </a:ext>
            </a:extLst>
          </p:cNvPr>
          <p:cNvSpPr txBox="1"/>
          <p:nvPr/>
        </p:nvSpPr>
        <p:spPr>
          <a:xfrm>
            <a:off x="7905750" y="2457450"/>
            <a:ext cx="196215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8EAED"/>
                </a:solidFill>
                <a:latin typeface="Arial"/>
                <a:ea typeface="Arial"/>
              </a:rPr>
              <a:t>3Commas / Composer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9A90CEC-DC82-451C-B74F-581C9B4F29E6}"/>
              </a:ext>
            </a:extLst>
          </p:cNvPr>
          <p:cNvSpPr txBox="1"/>
          <p:nvPr/>
        </p:nvSpPr>
        <p:spPr>
          <a:xfrm>
            <a:off x="7905750" y="2705100"/>
            <a:ext cx="19621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单市场自动化 · AI 弱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4AED810-1CB6-4443-B7F4-B41BCABC4D02}"/>
              </a:ext>
            </a:extLst>
          </p:cNvPr>
          <p:cNvSpPr txBox="1"/>
          <p:nvPr/>
        </p:nvSpPr>
        <p:spPr>
          <a:xfrm>
            <a:off x="7905750" y="4572000"/>
            <a:ext cx="1905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63E2B7"/>
                </a:solidFill>
                <a:latin typeface="Arial"/>
                <a:ea typeface="Arial"/>
              </a:rPr>
              <a:t>SharkQuant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A164A33-DA42-4274-B006-5E4C7E0B8EE7}"/>
              </a:ext>
            </a:extLst>
          </p:cNvPr>
          <p:cNvSpPr txBox="1"/>
          <p:nvPr/>
        </p:nvSpPr>
        <p:spPr>
          <a:xfrm>
            <a:off x="7905750" y="4838700"/>
            <a:ext cx="1905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全链路 · AI 原生 · Agent 开放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E1E44BF-E7D2-4557-B68D-B18B35BE458A}"/>
              </a:ext>
            </a:extLst>
          </p:cNvPr>
          <p:cNvSpPr txBox="1"/>
          <p:nvPr/>
        </p:nvSpPr>
        <p:spPr>
          <a:xfrm>
            <a:off x="685800" y="6286500"/>
            <a:ext cx="108204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同价位对标：TradingView $12.95–59.95/月 · 3Commas $15–60 · Composer $10–40 · SharkQuant $19.9 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0D281CE-DC96-4165-B249-814F3013459D}"/>
              </a:ext>
            </a:extLst>
          </p:cNvPr>
          <p:cNvSpPr txBox="1"/>
          <p:nvPr/>
        </p:nvSpPr>
        <p:spPr>
          <a:xfrm>
            <a:off x="685800" y="457200"/>
            <a:ext cx="108204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商业模式：四路收入已内置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6B8EE1E-BB9B-4AE1-BE8E-7F90D57DD474}"/>
              </a:ext>
            </a:extLst>
          </p:cNvPr>
          <p:cNvSpPr txBox="1"/>
          <p:nvPr/>
        </p:nvSpPr>
        <p:spPr>
          <a:xfrm>
            <a:off x="685800" y="2000250"/>
            <a:ext cx="4953000" cy="13411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8000" b="1">
                <a:solidFill>
                  <a:srgbClr val="63E2B7"/>
                </a:solidFill>
                <a:latin typeface="Arial"/>
                <a:ea typeface="Arial"/>
              </a:rPr>
              <a:t>$19.9</a:t>
            </a:r>
            <a:r>
              <a:rPr sz="2400" b="1">
                <a:solidFill>
                  <a:srgbClr val="9AA1AB"/>
                </a:solidFill>
                <a:latin typeface="Microsoft YaHei"/>
                <a:ea typeface="Microsoft YaHei"/>
              </a:rPr>
              <a:t> / 月起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A4F4BEC-151E-446B-B216-F9A111A74EBE}"/>
              </a:ext>
            </a:extLst>
          </p:cNvPr>
          <p:cNvSpPr txBox="1"/>
          <p:nvPr/>
        </p:nvSpPr>
        <p:spPr>
          <a:xfrm>
            <a:off x="685800" y="3543300"/>
            <a:ext cx="4953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订阅 + 额度 + 市场分成 + 邀请返佣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65B4902-2708-4BF0-891A-09023B046CF2}"/>
              </a:ext>
            </a:extLst>
          </p:cNvPr>
          <p:cNvSpPr txBox="1"/>
          <p:nvPr/>
        </p:nvSpPr>
        <p:spPr>
          <a:xfrm>
            <a:off x="685800" y="3886200"/>
            <a:ext cx="4953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6B7280"/>
                </a:solidFill>
                <a:latin typeface="Microsoft YaHei"/>
                <a:ea typeface="Microsoft YaHei"/>
              </a:rPr>
              <a:t>面向全球散户与半专业交易者；免费档 5 个运行策略，付费档 10 个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E7EF363-B991-47C3-B543-1BB094E2B756}"/>
              </a:ext>
            </a:extLst>
          </p:cNvPr>
          <p:cNvSpPr txBox="1"/>
          <p:nvPr/>
        </p:nvSpPr>
        <p:spPr>
          <a:xfrm>
            <a:off x="6096000" y="1905000"/>
            <a:ext cx="54102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1800"/>
              </a:spcAft>
            </a:pPr>
            <a:r>
              <a:rPr sz="1550" b="1">
                <a:solidFill>
                  <a:srgbClr val="E8EAED"/>
                </a:solidFill>
                <a:latin typeface="Microsoft YaHei"/>
                <a:ea typeface="Microsoft YaHei"/>
              </a:rPr>
              <a:t>会员订阅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——$19.9/月 · $199/年（主推档）· $499 终身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</a:pPr>
            <a:r>
              <a:rPr sz="1550" b="1">
                <a:solidFill>
                  <a:srgbClr val="E8EAED"/>
                </a:solidFill>
                <a:latin typeface="Microsoft YaHei"/>
                <a:ea typeface="Microsoft YaHei"/>
              </a:rPr>
              <a:t>用量额度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——AI 与回测按次扣减（回测 30、AI 分析 10、对话 5…）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</a:pPr>
            <a:r>
              <a:rPr sz="1550" b="1">
                <a:solidFill>
                  <a:srgbClr val="E8EAED"/>
                </a:solidFill>
                <a:latin typeface="Microsoft YaHei"/>
                <a:ea typeface="Microsoft YaHei"/>
              </a:rPr>
              <a:t>指标市场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——平台分成（费率可配置），创作者生态就位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50" b="1">
                <a:solidFill>
                  <a:srgbClr val="E8EAED"/>
                </a:solidFill>
                <a:latin typeface="Microsoft YaHei"/>
                <a:ea typeface="Microsoft YaHei"/>
              </a:rPr>
              <a:t>邀请返佣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——注册赠 100 额度 · 三级返佣 10/5/3%（已内置）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A2B4F76-0382-4869-8FDA-67ABFBFD73B6}"/>
              </a:ext>
            </a:extLst>
          </p:cNvPr>
          <p:cNvSpPr txBox="1"/>
          <p:nvPr/>
        </p:nvSpPr>
        <p:spPr>
          <a:xfrm>
            <a:off x="685800" y="563880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8FB8FF"/>
                </a:solidFill>
                <a:latin typeface="Microsoft YaHei"/>
                <a:ea typeface="Microsoft YaHei"/>
              </a:rPr>
              <a:t>支付通道（Stripe + 稳定币）已内置，开通即可全量计费；指标市场与返佣随之上线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E423D24-E131-41C3-86CF-88B06BBE3F54}"/>
              </a:ext>
            </a:extLst>
          </p:cNvPr>
          <p:cNvSpPr txBox="1"/>
          <p:nvPr/>
        </p:nvSpPr>
        <p:spPr>
          <a:xfrm>
            <a:off x="685800" y="457200"/>
            <a:ext cx="108204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工程壁垒：交易级的安全与规模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EB6A665-DFA6-4FBA-BF56-8119BAAC4D88}"/>
              </a:ext>
            </a:extLst>
          </p:cNvPr>
          <p:cNvSpPr txBox="1"/>
          <p:nvPr/>
        </p:nvSpPr>
        <p:spPr>
          <a:xfrm>
            <a:off x="685800" y="104775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全链路产品的复杂度就是护城河——每一个数字都可在生产环境验证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D5E15F8-89FF-4167-AEB9-A1F8BC3B60F9}"/>
              </a:ext>
            </a:extLst>
          </p:cNvPr>
          <p:cNvSpPr/>
          <p:nvPr/>
        </p:nvSpPr>
        <p:spPr>
          <a:xfrm>
            <a:off x="685800" y="1619250"/>
            <a:ext cx="3352800" cy="342900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CD87E35-ED65-431D-A097-4689292A8A30}"/>
              </a:ext>
            </a:extLst>
          </p:cNvPr>
          <p:cNvSpPr/>
          <p:nvPr/>
        </p:nvSpPr>
        <p:spPr>
          <a:xfrm>
            <a:off x="4419600" y="1619250"/>
            <a:ext cx="3352800" cy="342900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9D09037-8852-4812-B82E-09A0C8017FBD}"/>
              </a:ext>
            </a:extLst>
          </p:cNvPr>
          <p:cNvSpPr/>
          <p:nvPr/>
        </p:nvSpPr>
        <p:spPr>
          <a:xfrm>
            <a:off x="8153400" y="1619250"/>
            <a:ext cx="3352800" cy="342900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4AB0B2-A750-43E7-A290-21195DEE6D7A}"/>
              </a:ext>
            </a:extLst>
          </p:cNvPr>
          <p:cNvSpPr txBox="1"/>
          <p:nvPr/>
        </p:nvSpPr>
        <p:spPr>
          <a:xfrm>
            <a:off x="952500" y="1924050"/>
            <a:ext cx="28194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8EAED"/>
                </a:solidFill>
                <a:latin typeface="Microsoft YaHei"/>
                <a:ea typeface="Microsoft YaHei"/>
              </a:rPr>
              <a:t>分布式交易运行时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F92E64B-59DA-4E98-B407-BF1C8196459B}"/>
              </a:ext>
            </a:extLst>
          </p:cNvPr>
          <p:cNvSpPr txBox="1"/>
          <p:nvPr/>
        </p:nvSpPr>
        <p:spPr>
          <a:xfrm>
            <a:off x="952500" y="2438400"/>
            <a:ext cx="281940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18 个容器服务：PostgreSQL 唯一真相源 · Kafka 版本化事件 · 策略运行时与 API 进程物理隔离；从单机演练升级到事件驱动架构。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37876AB-42F3-48E7-A0D4-AF493BF84299}"/>
              </a:ext>
            </a:extLst>
          </p:cNvPr>
          <p:cNvSpPr txBox="1"/>
          <p:nvPr/>
        </p:nvSpPr>
        <p:spPr>
          <a:xfrm>
            <a:off x="4686300" y="1924050"/>
            <a:ext cx="28194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8EAED"/>
                </a:solidFill>
                <a:latin typeface="Microsoft YaHei"/>
                <a:ea typeface="Microsoft YaHei"/>
              </a:rPr>
              <a:t>资金安全设计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E004D1D-805F-4C90-80E2-9D57C4AFF699}"/>
              </a:ext>
            </a:extLst>
          </p:cNvPr>
          <p:cNvSpPr txBox="1"/>
          <p:nvPr/>
        </p:nvSpPr>
        <p:spPr>
          <a:xfrm>
            <a:off x="4686300" y="2438400"/>
            <a:ext cx="281940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租约 + 心跳 + fencing + 幂等键，防止重复下单；Agent 实盘 4 条件门控；全量操作审计——资金安全优先于便利。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EB07463-62F8-4E11-90F4-7D7E55E97D83}"/>
              </a:ext>
            </a:extLst>
          </p:cNvPr>
          <p:cNvSpPr txBox="1"/>
          <p:nvPr/>
        </p:nvSpPr>
        <p:spPr>
          <a:xfrm>
            <a:off x="8420100" y="1924050"/>
            <a:ext cx="28194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8EAED"/>
                </a:solidFill>
                <a:latin typeface="Microsoft YaHei"/>
                <a:ea typeface="Microsoft YaHei"/>
              </a:rPr>
              <a:t>规模与可信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9112A12-C7EB-4E7F-A15C-34D55C4BCB2B}"/>
              </a:ext>
            </a:extLst>
          </p:cNvPr>
          <p:cNvSpPr txBox="1"/>
          <p:nvPr/>
        </p:nvSpPr>
        <p:spPr>
          <a:xfrm>
            <a:off x="8420100" y="2438400"/>
            <a:ext cx="281940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安全审计 0 依赖漏洞；多租户 4 级权限；V6 架构目标 2 万用户 / 10 万并发策略；支持私有化自托管部署。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72DAD1F-9534-4276-9CE2-8A0455C82867}"/>
              </a:ext>
            </a:extLst>
          </p:cNvPr>
          <p:cNvSpPr txBox="1"/>
          <p:nvPr/>
        </p:nvSpPr>
        <p:spPr>
          <a:xfrm>
            <a:off x="685800" y="552450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自托管选项：</a:t>
            </a:r>
            <a:r>
              <a:rPr sz="1500" b="1">
                <a:solidFill>
                  <a:srgbClr val="63E2B7"/>
                </a:solidFill>
                <a:latin typeface="Microsoft YaHei"/>
                <a:ea typeface="Microsoft YaHei"/>
              </a:rPr>
              <a:t>面向数据主权敏感的工作室与机构客户，一键安装 + 容器镜像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08B89A3-2A80-431D-A89E-27A2E64C3F9A}"/>
              </a:ext>
            </a:extLst>
          </p:cNvPr>
          <p:cNvSpPr txBox="1"/>
          <p:nvPr/>
        </p:nvSpPr>
        <p:spPr>
          <a:xfrm>
            <a:off x="685800" y="457200"/>
            <a:ext cx="108204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3 个月：从架构升级到生产上线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7A9B638-F471-44E2-9497-265EA63158F7}"/>
              </a:ext>
            </a:extLst>
          </p:cNvPr>
          <p:cNvSpPr txBox="1"/>
          <p:nvPr/>
        </p:nvSpPr>
        <p:spPr>
          <a:xfrm>
            <a:off x="685800" y="104775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2026 年 7–10 月；全部进展均可在生产环境与代码仓库逐条验证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6B5E78D-92D1-4E7F-90A7-BFA0C23262A2}"/>
              </a:ext>
            </a:extLst>
          </p:cNvPr>
          <p:cNvSpPr/>
          <p:nvPr/>
        </p:nvSpPr>
        <p:spPr>
          <a:xfrm>
            <a:off x="1143000" y="3619500"/>
            <a:ext cx="9906000" cy="19050"/>
          </a:xfrm>
          <a:prstGeom prst="rect">
            <a:avLst/>
          </a:prstGeom>
          <a:solidFill>
            <a:srgbClr val="232A33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B442282-7E81-4DE9-A0B4-DE040ED91FC8}"/>
              </a:ext>
            </a:extLst>
          </p:cNvPr>
          <p:cNvSpPr/>
          <p:nvPr/>
        </p:nvSpPr>
        <p:spPr>
          <a:xfrm>
            <a:off x="2066925" y="356235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E63550A-7F89-48D3-A671-769602AE8C2A}"/>
              </a:ext>
            </a:extLst>
          </p:cNvPr>
          <p:cNvSpPr/>
          <p:nvPr/>
        </p:nvSpPr>
        <p:spPr>
          <a:xfrm>
            <a:off x="4048125" y="356235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431E0B1-1A8C-4B9E-96F0-6CE26E0274C0}"/>
              </a:ext>
            </a:extLst>
          </p:cNvPr>
          <p:cNvSpPr/>
          <p:nvPr/>
        </p:nvSpPr>
        <p:spPr>
          <a:xfrm>
            <a:off x="6029325" y="356235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2667906-0992-4974-83CE-CFD1944D69C1}"/>
              </a:ext>
            </a:extLst>
          </p:cNvPr>
          <p:cNvSpPr/>
          <p:nvPr/>
        </p:nvSpPr>
        <p:spPr>
          <a:xfrm>
            <a:off x="8010525" y="356235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91A2883-A4CC-4CC2-881B-DF1DBA62D2A8}"/>
              </a:ext>
            </a:extLst>
          </p:cNvPr>
          <p:cNvSpPr/>
          <p:nvPr/>
        </p:nvSpPr>
        <p:spPr>
          <a:xfrm>
            <a:off x="9991725" y="3562350"/>
            <a:ext cx="133350" cy="133350"/>
          </a:xfrm>
          <a:prstGeom prst="ellipse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DD8193E-8E51-4736-AB80-540F95CDB23B}"/>
              </a:ext>
            </a:extLst>
          </p:cNvPr>
          <p:cNvSpPr txBox="1"/>
          <p:nvPr/>
        </p:nvSpPr>
        <p:spPr>
          <a:xfrm>
            <a:off x="1228725" y="3257550"/>
            <a:ext cx="1809750" cy="247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63E2B7"/>
                </a:solidFill>
                <a:latin typeface="Arial"/>
                <a:ea typeface="Arial"/>
              </a:rPr>
              <a:t>2026-07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F16600F-1BA1-48D9-A12F-BB502683BF82}"/>
              </a:ext>
            </a:extLst>
          </p:cNvPr>
          <p:cNvSpPr txBox="1"/>
          <p:nvPr/>
        </p:nvSpPr>
        <p:spPr>
          <a:xfrm>
            <a:off x="3209925" y="3257550"/>
            <a:ext cx="1809750" cy="247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63E2B7"/>
                </a:solidFill>
                <a:latin typeface="Arial"/>
                <a:ea typeface="Arial"/>
              </a:rPr>
              <a:t>2026-09-20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42BCABE-1291-443C-8FB4-E10EFF8DD52F}"/>
              </a:ext>
            </a:extLst>
          </p:cNvPr>
          <p:cNvSpPr txBox="1"/>
          <p:nvPr/>
        </p:nvSpPr>
        <p:spPr>
          <a:xfrm>
            <a:off x="5191125" y="3257550"/>
            <a:ext cx="1809750" cy="247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63E2B7"/>
                </a:solidFill>
                <a:latin typeface="Arial"/>
                <a:ea typeface="Arial"/>
              </a:rPr>
              <a:t>2026-10-08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5DBEAF0-9DB3-48A5-89A7-8FED80206367}"/>
              </a:ext>
            </a:extLst>
          </p:cNvPr>
          <p:cNvSpPr txBox="1"/>
          <p:nvPr/>
        </p:nvSpPr>
        <p:spPr>
          <a:xfrm>
            <a:off x="7172325" y="3257550"/>
            <a:ext cx="1809750" cy="247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63E2B7"/>
                </a:solidFill>
                <a:latin typeface="Arial"/>
                <a:ea typeface="Arial"/>
              </a:rPr>
              <a:t>2026-10-10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FC41F89-8FCF-4CFE-9BF8-5D7DC1571E0D}"/>
              </a:ext>
            </a:extLst>
          </p:cNvPr>
          <p:cNvSpPr txBox="1"/>
          <p:nvPr/>
        </p:nvSpPr>
        <p:spPr>
          <a:xfrm>
            <a:off x="9153525" y="3257550"/>
            <a:ext cx="1809750" cy="247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63E2B7"/>
                </a:solidFill>
                <a:latin typeface="Arial"/>
                <a:ea typeface="Arial"/>
              </a:rPr>
              <a:t>2026-10-11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381DA84-FDD9-4DBF-8383-85B618359763}"/>
              </a:ext>
            </a:extLst>
          </p:cNvPr>
          <p:cNvSpPr txBox="1"/>
          <p:nvPr/>
        </p:nvSpPr>
        <p:spPr>
          <a:xfrm>
            <a:off x="1228725" y="3848100"/>
            <a:ext cx="1809750" cy="5334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E8EAED"/>
                </a:solidFill>
                <a:latin typeface="Microsoft YaHei"/>
                <a:ea typeface="Microsoft YaHei"/>
              </a:rPr>
              <a:t>v5.5 分布式架构升级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009D793-45EA-4565-BDDE-7A1577FF6BD6}"/>
              </a:ext>
            </a:extLst>
          </p:cNvPr>
          <p:cNvSpPr txBox="1"/>
          <p:nvPr/>
        </p:nvSpPr>
        <p:spPr>
          <a:xfrm>
            <a:off x="1228725" y="4457700"/>
            <a:ext cx="1809750" cy="740664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5000"/>
              </a:lnSpc>
            </a:pPr>
            <a:r>
              <a:rPr sz="1200">
                <a:solidFill>
                  <a:srgbClr val="9AA1AB"/>
                </a:solidFill>
                <a:latin typeface="Microsoft YaHei"/>
                <a:ea typeface="Microsoft YaHei"/>
              </a:rPr>
              <a:t>Kafka 事件管线 · 策略运行时独立进程 · 原生交易所客户端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01D5DAA-759B-4682-823E-31ADFCF0278C}"/>
              </a:ext>
            </a:extLst>
          </p:cNvPr>
          <p:cNvSpPr txBox="1"/>
          <p:nvPr/>
        </p:nvSpPr>
        <p:spPr>
          <a:xfrm>
            <a:off x="3209925" y="3848100"/>
            <a:ext cx="1809750" cy="5334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E8EAED"/>
                </a:solidFill>
                <a:latin typeface="Microsoft YaHei"/>
                <a:ea typeface="Microsoft YaHei"/>
              </a:rPr>
              <a:t>AI 决策门 + 计费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E9D4A8A-001E-47F8-90D4-AD30374F7792}"/>
              </a:ext>
            </a:extLst>
          </p:cNvPr>
          <p:cNvSpPr txBox="1"/>
          <p:nvPr/>
        </p:nvSpPr>
        <p:spPr>
          <a:xfrm>
            <a:off x="3209925" y="4457700"/>
            <a:ext cx="1809750" cy="7239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5000"/>
              </a:lnSpc>
            </a:pPr>
            <a:r>
              <a:rPr sz="1200">
                <a:solidFill>
                  <a:srgbClr val="9AA1AB"/>
                </a:solidFill>
                <a:latin typeface="Microsoft YaHei"/>
                <a:ea typeface="Microsoft YaHei"/>
              </a:rPr>
              <a:t>策略进化（TPE / 网格 / 前向验证）与信号虚拟账户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8AA037A-8AE7-4DC3-87A2-2E1EB01214FE}"/>
              </a:ext>
            </a:extLst>
          </p:cNvPr>
          <p:cNvSpPr txBox="1"/>
          <p:nvPr/>
        </p:nvSpPr>
        <p:spPr>
          <a:xfrm>
            <a:off x="5191125" y="3848100"/>
            <a:ext cx="1809750" cy="5334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E8EAED"/>
                </a:solidFill>
                <a:latin typeface="Microsoft YaHei"/>
                <a:ea typeface="Microsoft YaHei"/>
              </a:rPr>
              <a:t>自建前端落地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809309A-B767-48AC-8AF8-646107A16385}"/>
              </a:ext>
            </a:extLst>
          </p:cNvPr>
          <p:cNvSpPr txBox="1"/>
          <p:nvPr/>
        </p:nvSpPr>
        <p:spPr>
          <a:xfrm>
            <a:off x="5191125" y="4457700"/>
            <a:ext cx="1809750" cy="7239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5000"/>
              </a:lnSpc>
            </a:pPr>
            <a:r>
              <a:rPr sz="1200">
                <a:solidFill>
                  <a:srgbClr val="9AA1AB"/>
                </a:solidFill>
                <a:latin typeface="Microsoft YaHei"/>
                <a:ea typeface="Microsoft YaHei"/>
              </a:rPr>
              <a:t>P0–P2 单日上线并完成容器化生产构建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A9C5FDC-E072-4672-8D8A-87C011793732}"/>
              </a:ext>
            </a:extLst>
          </p:cNvPr>
          <p:cNvSpPr txBox="1"/>
          <p:nvPr/>
        </p:nvSpPr>
        <p:spPr>
          <a:xfrm>
            <a:off x="7172325" y="3848100"/>
            <a:ext cx="1809750" cy="5334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E8EAED"/>
                </a:solidFill>
                <a:latin typeface="Microsoft YaHei"/>
                <a:ea typeface="Microsoft YaHei"/>
              </a:rPr>
              <a:t>更名 · 生产上线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09B3277-4793-4DFC-9B27-777DA4B7D692}"/>
              </a:ext>
            </a:extLst>
          </p:cNvPr>
          <p:cNvSpPr txBox="1"/>
          <p:nvPr/>
        </p:nvSpPr>
        <p:spPr>
          <a:xfrm>
            <a:off x="7172325" y="4457700"/>
            <a:ext cx="1809750" cy="7239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5000"/>
              </a:lnSpc>
            </a:pPr>
            <a:r>
              <a:rPr sz="1200">
                <a:solidFill>
                  <a:srgbClr val="9AA1AB"/>
                </a:solidFill>
                <a:latin typeface="Microsoft YaHei"/>
                <a:ea typeface="Microsoft YaHei"/>
              </a:rPr>
              <a:t>i18n 全量 · 预测市场 · 钱包 · shark.aiorz.cc 上线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4E4BFA2-F2DD-42A5-AAB6-C62AB4DBEDA6}"/>
              </a:ext>
            </a:extLst>
          </p:cNvPr>
          <p:cNvSpPr txBox="1"/>
          <p:nvPr/>
        </p:nvSpPr>
        <p:spPr>
          <a:xfrm>
            <a:off x="9153525" y="3848100"/>
            <a:ext cx="1809750" cy="5334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E8EAED"/>
                </a:solidFill>
                <a:latin typeface="Microsoft YaHei"/>
                <a:ea typeface="Microsoft YaHei"/>
              </a:rPr>
              <a:t>双语 QA + 安全审计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88A1D71-002D-4516-870A-587EC6BD95DC}"/>
              </a:ext>
            </a:extLst>
          </p:cNvPr>
          <p:cNvSpPr txBox="1"/>
          <p:nvPr/>
        </p:nvSpPr>
        <p:spPr>
          <a:xfrm>
            <a:off x="9153525" y="4457700"/>
            <a:ext cx="1809750" cy="7239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5000"/>
              </a:lnSpc>
            </a:pPr>
            <a:r>
              <a:rPr sz="1200">
                <a:solidFill>
                  <a:srgbClr val="9AA1AB"/>
                </a:solidFill>
                <a:latin typeface="Microsoft YaHei"/>
                <a:ea typeface="Microsoft YaHei"/>
              </a:rPr>
              <a:t>48 路由双语回归 · 依赖 0 已知漏洞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155DAD5-2C5C-4E55-8CAE-B21E30B254F0}"/>
              </a:ext>
            </a:extLst>
          </p:cNvPr>
          <p:cNvSpPr txBox="1"/>
          <p:nvPr/>
        </p:nvSpPr>
        <p:spPr>
          <a:xfrm>
            <a:off x="685800" y="567690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下一步：</a:t>
            </a:r>
            <a:r>
              <a:rPr sz="1500" b="1">
                <a:solidFill>
                  <a:srgbClr val="63E2B7"/>
                </a:solidFill>
                <a:latin typeface="Microsoft YaHei"/>
                <a:ea typeface="Microsoft YaHei"/>
              </a:rPr>
              <a:t>支付通道开通 · 指标市场结算 · V6 横向扩展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FBC399C-88F4-4F87-B58F-52FD00C30257}"/>
              </a:ext>
            </a:extLst>
          </p:cNvPr>
          <p:cNvSpPr txBox="1"/>
          <p:nvPr/>
        </p:nvSpPr>
        <p:spPr>
          <a:xfrm>
            <a:off x="685800" y="457200"/>
            <a:ext cx="108204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团队与融资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2325CC4-21EE-4A1E-A4F3-C97C9A00A79B}"/>
              </a:ext>
            </a:extLst>
          </p:cNvPr>
          <p:cNvSpPr/>
          <p:nvPr/>
        </p:nvSpPr>
        <p:spPr>
          <a:xfrm>
            <a:off x="685800" y="1428750"/>
            <a:ext cx="5219700" cy="40957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6B2BD3A-CA3A-4532-AF66-7105678C1165}"/>
              </a:ext>
            </a:extLst>
          </p:cNvPr>
          <p:cNvSpPr/>
          <p:nvPr/>
        </p:nvSpPr>
        <p:spPr>
          <a:xfrm>
            <a:off x="6286500" y="1428750"/>
            <a:ext cx="5219700" cy="4095750"/>
          </a:xfrm>
          <a:prstGeom prst="roundRect">
            <a:avLst/>
          </a:prstGeom>
          <a:solidFill>
            <a:srgbClr val="14181F"/>
          </a:solidFill>
          <a:ln w="12700">
            <a:solidFill>
              <a:srgbClr val="232A3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308EF19-79C1-46B3-99C6-ACF8573DE1DA}"/>
              </a:ext>
            </a:extLst>
          </p:cNvPr>
          <p:cNvSpPr txBox="1"/>
          <p:nvPr/>
        </p:nvSpPr>
        <p:spPr>
          <a:xfrm>
            <a:off x="990600" y="1695450"/>
            <a:ext cx="4572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8FB8FF"/>
                </a:solidFill>
                <a:latin typeface="Microsoft YaHei"/>
                <a:ea typeface="Microsoft YaHei"/>
              </a:rPr>
              <a:t>团队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542C297-4502-468F-8489-AABF288291FB}"/>
              </a:ext>
            </a:extLst>
          </p:cNvPr>
          <p:cNvSpPr txBox="1"/>
          <p:nvPr/>
        </p:nvSpPr>
        <p:spPr>
          <a:xfrm>
            <a:off x="990600" y="2228850"/>
            <a:ext cx="4610100" cy="2476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2400"/>
              </a:spcAft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创始人 / CEO：</a:t>
            </a:r>
            <a:r>
              <a:rPr sz="1300" i="1">
                <a:solidFill>
                  <a:srgbClr val="8FB8FF"/>
                </a:solidFill>
                <a:latin typeface="Microsoft YaHei"/>
                <a:ea typeface="Microsoft YaHei"/>
              </a:rPr>
              <a:t>【待填：姓名 · 一句话背景】</a:t>
            </a:r>
          </a:p>
          <a:p>
            <a:pPr algn="l">
              <a:lnSpc>
                <a:spcPct val="130000"/>
              </a:lnSpc>
              <a:spcAft>
                <a:spcPts val="2400"/>
              </a:spcAft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CTO / 技术负责人：</a:t>
            </a:r>
            <a:r>
              <a:rPr sz="1300" i="1">
                <a:solidFill>
                  <a:srgbClr val="8FB8FF"/>
                </a:solidFill>
                <a:latin typeface="Microsoft YaHei"/>
                <a:ea typeface="Microsoft YaHei"/>
              </a:rPr>
              <a:t>【待填】</a:t>
            </a:r>
          </a:p>
          <a:p>
            <a:pPr algn="l">
              <a:lnSpc>
                <a:spcPct val="130000"/>
              </a:lnSpc>
              <a:spcAft>
                <a:spcPts val="2400"/>
              </a:spcAft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核心成员：</a:t>
            </a:r>
            <a:r>
              <a:rPr sz="1300" i="1">
                <a:solidFill>
                  <a:srgbClr val="8FB8FF"/>
                </a:solidFill>
                <a:latin typeface="Microsoft YaHei"/>
                <a:ea typeface="Microsoft YaHei"/>
              </a:rPr>
              <a:t>【待填：产品 / 量化研究 / 增长】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顾问（如有）：</a:t>
            </a:r>
            <a:r>
              <a:rPr sz="1300" i="1">
                <a:solidFill>
                  <a:srgbClr val="8FB8FF"/>
                </a:solidFill>
                <a:latin typeface="Microsoft YaHei"/>
                <a:ea typeface="Microsoft YaHei"/>
              </a:rPr>
              <a:t>【待填】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D38E39E-7E16-42B3-92FA-E7DD80100419}"/>
              </a:ext>
            </a:extLst>
          </p:cNvPr>
          <p:cNvSpPr txBox="1"/>
          <p:nvPr/>
        </p:nvSpPr>
        <p:spPr>
          <a:xfrm>
            <a:off x="990600" y="4933950"/>
            <a:ext cx="46101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6B7280"/>
                </a:solidFill>
                <a:latin typeface="Microsoft YaHei"/>
                <a:ea typeface="Microsoft YaHei"/>
              </a:rPr>
              <a:t>关键词：全栈 AI + 金融工程复合背景；3 个月完成引擎升级 + 前端重写 + 国际化 + 安全加固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2175FDD-E55D-481E-A078-AE184E52CED2}"/>
              </a:ext>
            </a:extLst>
          </p:cNvPr>
          <p:cNvSpPr txBox="1"/>
          <p:nvPr/>
        </p:nvSpPr>
        <p:spPr>
          <a:xfrm>
            <a:off x="6591300" y="1695450"/>
            <a:ext cx="4572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63E2B7"/>
                </a:solidFill>
                <a:latin typeface="Microsoft YaHei"/>
                <a:ea typeface="Microsoft YaHei"/>
              </a:rPr>
              <a:t>融资需求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69B9DA3-0059-4A57-9F29-46A035486A3A}"/>
              </a:ext>
            </a:extLst>
          </p:cNvPr>
          <p:cNvSpPr txBox="1"/>
          <p:nvPr/>
        </p:nvSpPr>
        <p:spPr>
          <a:xfrm>
            <a:off x="6591300" y="2228850"/>
            <a:ext cx="46101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轮次 / 金额 / 估值：</a:t>
            </a:r>
            <a:r>
              <a:rPr sz="1300" i="1">
                <a:solidFill>
                  <a:srgbClr val="8FB8FF"/>
                </a:solidFill>
                <a:latin typeface="Microsoft YaHei"/>
                <a:ea typeface="Microsoft YaHei"/>
              </a:rPr>
              <a:t>【待填】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9507C52-CBB8-4009-A52A-540B3302679D}"/>
              </a:ext>
            </a:extLst>
          </p:cNvPr>
          <p:cNvSpPr txBox="1"/>
          <p:nvPr/>
        </p:nvSpPr>
        <p:spPr>
          <a:xfrm>
            <a:off x="6591300" y="2724150"/>
            <a:ext cx="46101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资金用途（建议比例）：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3CD7F50-E9C8-4274-91C8-9B1BB9DB0CB1}"/>
              </a:ext>
            </a:extLst>
          </p:cNvPr>
          <p:cNvSpPr txBox="1"/>
          <p:nvPr/>
        </p:nvSpPr>
        <p:spPr>
          <a:xfrm>
            <a:off x="6591300" y="3067050"/>
            <a:ext cx="2857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研发（AI 能力 + 架构扩展） 45%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A335F30-77F3-4E2A-B5AF-C7771A6429D4}"/>
              </a:ext>
            </a:extLst>
          </p:cNvPr>
          <p:cNvSpPr/>
          <p:nvPr/>
        </p:nvSpPr>
        <p:spPr>
          <a:xfrm>
            <a:off x="6591300" y="3276600"/>
            <a:ext cx="2076450" cy="133350"/>
          </a:xfrm>
          <a:prstGeom prst="rect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E0CD83E-5254-4A50-8756-9B6F50F09037}"/>
              </a:ext>
            </a:extLst>
          </p:cNvPr>
          <p:cNvSpPr txBox="1"/>
          <p:nvPr/>
        </p:nvSpPr>
        <p:spPr>
          <a:xfrm>
            <a:off x="6591300" y="3505200"/>
            <a:ext cx="2857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增长（内容 / 社区 / 获客） 30%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1516383-8DC5-4DB3-988B-2A5A2C70BC80}"/>
              </a:ext>
            </a:extLst>
          </p:cNvPr>
          <p:cNvSpPr/>
          <p:nvPr/>
        </p:nvSpPr>
        <p:spPr>
          <a:xfrm>
            <a:off x="6591300" y="3714750"/>
            <a:ext cx="1381125" cy="133350"/>
          </a:xfrm>
          <a:prstGeom prst="rect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3E66CBD-18D3-4F8C-81CC-79BB8A4EB42D}"/>
              </a:ext>
            </a:extLst>
          </p:cNvPr>
          <p:cNvSpPr txBox="1"/>
          <p:nvPr/>
        </p:nvSpPr>
        <p:spPr>
          <a:xfrm>
            <a:off x="6591300" y="3943350"/>
            <a:ext cx="2857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安全与合规 15%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F906009-2860-4FDF-82B4-49419D16F8D2}"/>
              </a:ext>
            </a:extLst>
          </p:cNvPr>
          <p:cNvSpPr/>
          <p:nvPr/>
        </p:nvSpPr>
        <p:spPr>
          <a:xfrm>
            <a:off x="6591300" y="4152900"/>
            <a:ext cx="695325" cy="133350"/>
          </a:xfrm>
          <a:prstGeom prst="rect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B9808F4-B898-4F88-9328-7CD7A1F64839}"/>
              </a:ext>
            </a:extLst>
          </p:cNvPr>
          <p:cNvSpPr txBox="1"/>
          <p:nvPr/>
        </p:nvSpPr>
        <p:spPr>
          <a:xfrm>
            <a:off x="6591300" y="4381500"/>
            <a:ext cx="2857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9AA1AB"/>
                </a:solidFill>
                <a:latin typeface="Microsoft YaHei"/>
                <a:ea typeface="Microsoft YaHei"/>
              </a:rPr>
              <a:t>储备 10%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C173C453-89A6-4677-9C2D-68D4FA40CE23}"/>
              </a:ext>
            </a:extLst>
          </p:cNvPr>
          <p:cNvSpPr/>
          <p:nvPr/>
        </p:nvSpPr>
        <p:spPr>
          <a:xfrm>
            <a:off x="6591300" y="4591050"/>
            <a:ext cx="457200" cy="133350"/>
          </a:xfrm>
          <a:prstGeom prst="rect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4D029F4-6167-4779-AF7D-9F8901E9D729}"/>
              </a:ext>
            </a:extLst>
          </p:cNvPr>
          <p:cNvSpPr txBox="1"/>
          <p:nvPr/>
        </p:nvSpPr>
        <p:spPr>
          <a:xfrm>
            <a:off x="6591300" y="4933950"/>
            <a:ext cx="46101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  <a:ea typeface="Microsoft YaHei"/>
              </a:rPr>
              <a:t>12 个月里程碑：</a:t>
            </a:r>
            <a:r>
              <a:rPr sz="1300" i="1">
                <a:solidFill>
                  <a:srgbClr val="8FB8FF"/>
                </a:solidFill>
                <a:latin typeface="Microsoft YaHei"/>
                <a:ea typeface="Microsoft YaHei"/>
              </a:rPr>
              <a:t>【待填：付费用户 / MRR 目标】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E63E4C2-72D0-497A-9752-903181BC808E}"/>
              </a:ext>
            </a:extLst>
          </p:cNvPr>
          <p:cNvSpPr txBox="1"/>
          <p:nvPr/>
        </p:nvSpPr>
        <p:spPr>
          <a:xfrm>
            <a:off x="685800" y="5772150"/>
            <a:ext cx="108204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280"/>
                </a:solidFill>
                <a:latin typeface="Microsoft YaHei"/>
                <a:ea typeface="Microsoft YaHei"/>
              </a:rPr>
              <a:t>单位经济（转化 / 留存 / ARPU / LTV / CAC）与完整财务模型在尽调资料包中提供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491BB9D-4999-49A0-A231-C63668DC4B51}"/>
              </a:ext>
            </a:extLst>
          </p:cNvPr>
          <p:cNvSpPr txBox="1"/>
          <p:nvPr/>
        </p:nvSpPr>
        <p:spPr>
          <a:xfrm>
            <a:off x="685800" y="457200"/>
            <a:ext cx="10820400" cy="60350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EAED"/>
                </a:solidFill>
                <a:latin typeface="Microsoft YaHei"/>
                <a:ea typeface="Microsoft YaHei"/>
              </a:rPr>
              <a:t>可治理的 AI 控制面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8C7AC7-D810-4E8E-B025-511FBAE61F17}"/>
              </a:ext>
            </a:extLst>
          </p:cNvPr>
          <p:cNvSpPr txBox="1"/>
          <p:nvPr/>
        </p:nvSpPr>
        <p:spPr>
          <a:xfrm>
            <a:off x="685800" y="104775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面向管理员：AI 能力可见、可控、可审计（生产环境真实界面）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BD36C9E-80B1-4A0A-8085-D02D73AFB4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6096000" cy="3810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EFAC0AAE-7B18-44C5-8CD2-C2A342CD60FC}"/>
              </a:ext>
            </a:extLst>
          </p:cNvPr>
          <p:cNvSpPr txBox="1"/>
          <p:nvPr/>
        </p:nvSpPr>
        <p:spPr>
          <a:xfrm>
            <a:off x="609600" y="5410200"/>
            <a:ext cx="62865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</a:rPr>
              <a:t>管理员视图：66 个工具全表（含风险级别 / 只读标记 / 启停状态）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29E9BF4-B96F-46C5-AA8F-7F98438268A6}"/>
              </a:ext>
            </a:extLst>
          </p:cNvPr>
          <p:cNvSpPr txBox="1"/>
          <p:nvPr/>
        </p:nvSpPr>
        <p:spPr>
          <a:xfrm>
            <a:off x="7086600" y="1619250"/>
            <a:ext cx="4724400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E8EAED"/>
                </a:solidFill>
                <a:latin typeface="Microsoft YaHei"/>
                <a:ea typeface="Microsoft YaHei"/>
              </a:rPr>
              <a:t>31 项技能 · 66 个工具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 —— 全部可视化；其中 58 个经 MCP 对外开放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E8EAED"/>
                </a:solidFill>
                <a:latin typeface="Microsoft YaHei"/>
                <a:ea typeface="Microsoft YaHei"/>
              </a:rPr>
              <a:t>逐项启停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 —— 停用即从 AI 上下文移除，全员即时生效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E8EAED"/>
                </a:solidFill>
                <a:latin typeface="Microsoft YaHei"/>
                <a:ea typeface="Microsoft YaHei"/>
              </a:rPr>
              <a:t>风险分级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 —— read / write_draft / trading + 只读标记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450" b="1">
                <a:solidFill>
                  <a:srgbClr val="E8EAED"/>
                </a:solidFill>
                <a:latin typeface="Microsoft YaHei"/>
                <a:ea typeface="Microsoft YaHei"/>
              </a:rPr>
              <a:t>提示词可渲染、可审计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 —— 技能支持安装 / 删除，prompt 一键复制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E8EAED"/>
                </a:solidFill>
                <a:latin typeface="Microsoft YaHei"/>
                <a:ea typeface="Microsoft YaHei"/>
              </a:rPr>
              <a:t>preflight 一键体检</a:t>
            </a:r>
            <a:r>
              <a:rPr sz="1300">
                <a:solidFill>
                  <a:srgbClr val="9AA1AB"/>
                </a:solidFill>
                <a:latin typeface="Microsoft YaHei"/>
                <a:ea typeface="Microsoft YaHei"/>
              </a:rPr>
              <a:t> —— LLM · 数据源 · 搜索 · 券商 · 积分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AF82D39-4D20-4F7B-BD93-E82F8925BE0F}"/>
              </a:ext>
            </a:extLst>
          </p:cNvPr>
          <p:cNvSpPr txBox="1"/>
          <p:nvPr/>
        </p:nvSpPr>
        <p:spPr>
          <a:xfrm>
            <a:off x="685800" y="5772150"/>
            <a:ext cx="10820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对团队与企业客户：</a:t>
            </a:r>
            <a:r>
              <a:rPr sz="1500" b="1">
                <a:solidFill>
                  <a:srgbClr val="63E2B7"/>
                </a:solidFill>
                <a:latin typeface="Microsoft YaHei"/>
                <a:ea typeface="Microsoft YaHei"/>
              </a:rPr>
              <a:t>AI 能力是可见、可控、可审计的资产——不是黑盒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7486E70-E268-4778-BDFD-E880B5516E12}"/>
              </a:ext>
            </a:extLst>
          </p:cNvPr>
          <p:cNvSpPr/>
          <p:nvPr/>
        </p:nvSpPr>
        <p:spPr>
          <a:xfrm>
            <a:off x="5619750" y="1981200"/>
            <a:ext cx="952500" cy="28575"/>
          </a:xfrm>
          <a:prstGeom prst="rect">
            <a:avLst/>
          </a:prstGeom>
          <a:solidFill>
            <a:srgbClr val="63E2B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7B92D96-EA2D-4D0D-838E-464F3E43AA86}"/>
              </a:ext>
            </a:extLst>
          </p:cNvPr>
          <p:cNvSpPr txBox="1"/>
          <p:nvPr/>
        </p:nvSpPr>
        <p:spPr>
          <a:xfrm>
            <a:off x="1333500" y="2324100"/>
            <a:ext cx="9525000" cy="737616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让一个人 = 一支量化团队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8036CF-ABFF-4492-BB10-46320021AE23}"/>
              </a:ext>
            </a:extLst>
          </p:cNvPr>
          <p:cNvSpPr txBox="1"/>
          <p:nvPr/>
        </p:nvSpPr>
        <p:spPr>
          <a:xfrm>
            <a:off x="1333500" y="3200400"/>
            <a:ext cx="9525000" cy="4191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63E2B7"/>
                </a:solidFill>
                <a:latin typeface="Arial"/>
                <a:ea typeface="Arial"/>
              </a:rPr>
              <a:t>SharkQuant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CC06B6B-BA24-4667-9117-A6D8568CFD13}"/>
              </a:ext>
            </a:extLst>
          </p:cNvPr>
          <p:cNvSpPr txBox="1"/>
          <p:nvPr/>
        </p:nvSpPr>
        <p:spPr>
          <a:xfrm>
            <a:off x="1333500" y="3810000"/>
            <a:ext cx="9525000" cy="2857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500">
                <a:solidFill>
                  <a:srgbClr val="9AA1AB"/>
                </a:solidFill>
                <a:latin typeface="Microsoft YaHei"/>
                <a:ea typeface="Microsoft YaHei"/>
              </a:rPr>
              <a:t>联系方式：【待填：邮箱 / 微信 / 电话】 · shark.aiorz.cc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5CE216A-6133-4CC7-BD12-3551C87872F9}"/>
              </a:ext>
            </a:extLst>
          </p:cNvPr>
          <p:cNvSpPr txBox="1"/>
          <p:nvPr/>
        </p:nvSpPr>
        <p:spPr>
          <a:xfrm>
            <a:off x="1333500" y="5295900"/>
            <a:ext cx="9525000" cy="571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</a:rPr>
              <a:t>本材料仅供投资人评估使用，不构成任何投资建议或要约；回测数据为历史模拟，不代表未来表现；加密资产与杠杆交易具有高风险。产品功能与数据均可在生产环境逐条验证。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